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8"/>
  </p:notesMasterIdLst>
  <p:sldIdLst>
    <p:sldId id="324" r:id="rId3"/>
    <p:sldId id="335" r:id="rId4"/>
    <p:sldId id="332" r:id="rId5"/>
    <p:sldId id="336" r:id="rId6"/>
    <p:sldId id="337" r:id="rId7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2024/9/3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82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92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92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98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微积分：偏导数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多元微积分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748427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多元微积分：偏导数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高阶偏导数与模型优化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01874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偏导数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2A336BF0-B643-7C6E-EC79-B7C15E0309F1}"/>
              </a:ext>
            </a:extLst>
          </p:cNvPr>
          <p:cNvSpPr>
            <a:spLocks/>
          </p:cNvSpPr>
          <p:nvPr/>
        </p:nvSpPr>
        <p:spPr>
          <a:xfrm>
            <a:off x="525548" y="254524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偏导数规则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DFC7CEA7-8A45-172D-65C6-EF76D4439652}"/>
              </a:ext>
            </a:extLst>
          </p:cNvPr>
          <p:cNvSpPr>
            <a:spLocks/>
          </p:cNvSpPr>
          <p:nvPr/>
        </p:nvSpPr>
        <p:spPr>
          <a:xfrm>
            <a:off x="525548" y="359823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偏导数和梯度下降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69B61FAD-ECEA-2ACD-29B3-9C3825C49978}"/>
              </a:ext>
            </a:extLst>
          </p:cNvPr>
          <p:cNvSpPr>
            <a:spLocks/>
          </p:cNvSpPr>
          <p:nvPr/>
        </p:nvSpPr>
        <p:spPr>
          <a:xfrm>
            <a:off x="525548" y="307173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梯度向量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8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525548" y="1400687"/>
                <a:ext cx="8565279" cy="583237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乘积法则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𝑢</m:t>
                        </m:r>
                      </m:num>
                      <m:den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x</m:t>
                        </m:r>
                      </m:den>
                    </m:f>
                    <m:r>
                      <a:rPr lang="zh-CN" altLang="en-US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r>
                      <a:rPr lang="en-US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𝑥</m:t>
                        </m:r>
                      </m:den>
                    </m:f>
                    <m:r>
                      <a:rPr lang="zh-CN" altLang="en-US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+</m:t>
                    </m:r>
                    <m:r>
                      <a:rPr lang="zh-CN" altLang="en-US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srgbClr val="474747"/>
                    </a:solidFill>
                    <a:latin typeface="Cambria Math" panose="02040503050406030204" pitchFamily="18" charset="0"/>
                    <a:sym typeface="Calibri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  </m:t>
                    </m:r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𝑢</m:t>
                        </m:r>
                      </m:num>
                      <m:den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y</m:t>
                        </m:r>
                      </m:den>
                    </m:f>
                    <m:r>
                      <a:rPr lang="zh-CN" altLang="en-US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r>
                      <a:rPr lang="en-US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y</m:t>
                        </m:r>
                      </m:den>
                    </m:f>
                    <m:r>
                      <a:rPr lang="zh-CN" altLang="en-US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+</m:t>
                    </m:r>
                    <m:r>
                      <a:rPr lang="zh-CN" altLang="en-US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f>
                      <m:fPr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zh-CN" altLang="en-US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y</m:t>
                        </m:r>
                      </m:den>
                    </m:f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400687"/>
                <a:ext cx="8565279" cy="583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3517868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偏导数规则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4028387"/>
                <a:ext cx="8565279" cy="592791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幂法则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zh-CN" altLang="en-US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zh-CN" altLang="en-US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4028387"/>
                <a:ext cx="8565279" cy="592791"/>
              </a:xfrm>
              <a:prstGeom prst="rect">
                <a:avLst/>
              </a:prstGeom>
              <a:blipFill>
                <a:blip r:embed="rId4"/>
                <a:stretch>
                  <a:fillRect b="-1031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2641472"/>
                <a:ext cx="8565279" cy="746551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商规则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∂</m:t>
                            </m:r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∂</m:t>
                            </m:r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zh-CN" altLang="en-US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2641472"/>
                <a:ext cx="8565279" cy="7465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"/>
              <p:cNvSpPr>
                <a:spLocks/>
              </p:cNvSpPr>
              <p:nvPr/>
            </p:nvSpPr>
            <p:spPr>
              <a:xfrm>
                <a:off x="525548" y="1492250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导数的和差法则</a:t>
                </a:r>
                <a14:m>
                  <m:oMath xmlns:m="http://schemas.openxmlformats.org/officeDocument/2006/math">
                    <m:r>
                      <a:rPr lang="zh-CN" altLang="en-US" sz="200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CN" altLang="en-US" sz="2000" i="0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zh-CN" altLang="en-US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zh-CN" altLang="en-US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=ⅆ</m:t>
                    </m:r>
                    <m:f>
                      <m:fPr>
                        <m:type m:val="lin"/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zh-CN" altLang="en-US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±ⅆ</m:t>
                    </m:r>
                    <m:f>
                      <m:fPr>
                        <m:type m:val="lin"/>
                        <m:ctrlP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CN" altLang="en-US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15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1492250"/>
                <a:ext cx="8565279" cy="400110"/>
              </a:xfrm>
              <a:prstGeom prst="rect">
                <a:avLst/>
              </a:prstGeom>
              <a:blipFill>
                <a:blip r:embed="rId3"/>
                <a:stretch>
                  <a:fillRect t="-116923" b="-18307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3710227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导数规则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4124727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导数的商法则 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⋅ⅆ</m:t>
                        </m:r>
                        <m:f>
                          <m:fPr>
                            <m:type m:val="lin"/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</m:den>
                        </m:f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en-US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f>
                          <m:fPr>
                            <m:type m:val="lin"/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zh-CN" altLang="en-US" sz="200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</m:den>
                        </m:f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4124727"/>
                <a:ext cx="8565279" cy="400110"/>
              </a:xfrm>
              <a:prstGeom prst="rect">
                <a:avLst/>
              </a:prstGeom>
              <a:blipFill>
                <a:blip r:embed="rId4"/>
                <a:stretch>
                  <a:fillRect t="-116923" b="-18307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2356534"/>
                <a:ext cx="8565279" cy="439736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导数的常数倍法则 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 xmlns="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1DF79B89-1795-77D6-B098-02469BB2D1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2356534"/>
                <a:ext cx="8565279" cy="439736"/>
              </a:xfrm>
              <a:prstGeom prst="rect">
                <a:avLst/>
              </a:prstGeom>
              <a:blipFill>
                <a:blip r:embed="rId5"/>
                <a:stretch>
                  <a:fillRect t="-101389" b="-15972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">
                <a:extLst>
                  <a:ext uri="{FF2B5EF4-FFF2-40B4-BE49-F238E27FC236}">
                    <a16:creationId xmlns:a16="http://schemas.microsoft.com/office/drawing/2014/main" id="{B94C5C3C-4545-1D6B-F83F-2F934406704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3260444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导数的乘积法则 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ⅆ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zh-CN" altLang="en-US" sz="2000" i="0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zh-CN" altLang="en-US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⋅ⅆ</m:t>
                    </m:r>
                    <m:f>
                      <m:fPr>
                        <m:type m:val="lin"/>
                        <m:ctrlP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CN" altLang="en-US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</m:den>
                    </m:f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𝑑𝑢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 xmlns="">
          <p:sp>
            <p:nvSpPr>
              <p:cNvPr id="8" name="矩形">
                <a:extLst>
                  <a:ext uri="{FF2B5EF4-FFF2-40B4-BE49-F238E27FC236}">
                    <a16:creationId xmlns:a16="http://schemas.microsoft.com/office/drawing/2014/main" id="{B94C5C3C-4545-1D6B-F83F-2F93440670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3260444"/>
                <a:ext cx="8565279" cy="400110"/>
              </a:xfrm>
              <a:prstGeom prst="rect">
                <a:avLst/>
              </a:prstGeom>
              <a:blipFill>
                <a:blip r:embed="rId6"/>
                <a:stretch>
                  <a:fillRect t="-116923" b="-18307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86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线性回归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710231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优化算法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。。。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逻辑回归：分类问题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2A336BF0-B643-7C6E-EC79-B7C15E0309F1}"/>
              </a:ext>
            </a:extLst>
          </p:cNvPr>
          <p:cNvSpPr>
            <a:spLocks/>
          </p:cNvSpPr>
          <p:nvPr/>
        </p:nvSpPr>
        <p:spPr>
          <a:xfrm>
            <a:off x="525548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神经网络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96857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56892</TotalTime>
  <Words>156</Words>
  <Application>Microsoft Office PowerPoint</Application>
  <PresentationFormat>On-screen Show (16:9)</PresentationFormat>
  <Paragraphs>26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微软雅黑</vt:lpstr>
      <vt:lpstr>Arial</vt:lpstr>
      <vt:lpstr>Calibri</vt:lpstr>
      <vt:lpstr>Cambria Math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106</cp:revision>
  <dcterms:created xsi:type="dcterms:W3CDTF">2016-04-25T01:54:29Z</dcterms:created>
  <dcterms:modified xsi:type="dcterms:W3CDTF">2024-09-05T09:33:31Z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