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7"/>
  </p:notesMasterIdLst>
  <p:sldIdLst>
    <p:sldId id="299" r:id="rId3"/>
    <p:sldId id="325" r:id="rId4"/>
    <p:sldId id="320" r:id="rId5"/>
    <p:sldId id="326" r:id="rId6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94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3" autoAdjust="0"/>
    <p:restoredTop sz="99500" autoAdjust="0"/>
  </p:normalViewPr>
  <p:slideViewPr>
    <p:cSldViewPr>
      <p:cViewPr varScale="1">
        <p:scale>
          <a:sx n="130" d="100"/>
          <a:sy n="130" d="100"/>
        </p:scale>
        <p:origin x="270" y="114"/>
      </p:cViewPr>
      <p:guideLst>
        <p:guide orient="horz" pos="713"/>
        <p:guide pos="2880"/>
        <p:guide orient="horz" pos="1620"/>
        <p:guide pos="612"/>
        <p:guide pos="839"/>
        <p:guide orient="horz" pos="2754"/>
        <p:guide orient="horz" pos="94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2025/1/10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3790D-4FC2-E478-7765-BD7F98FA4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B1C06960-FED6-8167-A5E0-2080DB9117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6808E608-BC5F-147F-F746-2FD70B297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66FEF615-0C2A-CFD9-9374-5997D73474C5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2399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D898D-5BFE-7FAD-81C3-CEE7AF52D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E1AB19FE-E998-CF6B-FA81-5EFF683276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6BEA81F7-F3A9-9B1A-9EEE-5A115E6385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2D1B148E-AB48-F937-DA6A-1CB50E654BD7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379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F5F04-CA44-7686-23F5-A6A07DF23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73D571EA-99C5-97B3-C198-B84BAA893F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855F5EBE-66E7-0993-8A84-F6158AEF61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7AFB3E01-4E4B-1B6B-7ADA-5B8DD0E799E1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4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2396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2025/1/10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2025/1/10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2025/1/10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2025/1/10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2025/1/10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2025/1/10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2025/1/10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2025/1/10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2025/1/10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2025/1/10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2025/1/10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2025/1/10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2025/1/10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练习：矩阵分解一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236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1FE23-71E6-545D-F65E-CFA8FF4A4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D6CD2B2E-5613-56AF-E277-91E5BDD3903C}"/>
              </a:ext>
            </a:extLst>
          </p:cNvPr>
          <p:cNvSpPr>
            <a:spLocks/>
          </p:cNvSpPr>
          <p:nvPr/>
        </p:nvSpPr>
        <p:spPr>
          <a:xfrm>
            <a:off x="3840874" y="577890"/>
            <a:ext cx="146226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LU</a:t>
            </a:r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分解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66154-EA25-010D-04C6-C82D8ABB981C}"/>
              </a:ext>
            </a:extLst>
          </p:cNvPr>
          <p:cNvSpPr txBox="1"/>
          <p:nvPr/>
        </p:nvSpPr>
        <p:spPr>
          <a:xfrm>
            <a:off x="899592" y="1419622"/>
            <a:ext cx="72728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dirty="0"/>
              <a:t>有如下方程组，用</a:t>
            </a:r>
            <a:r>
              <a:rPr lang="en-US" altLang="zh-CN" dirty="0"/>
              <a:t>LU</a:t>
            </a:r>
            <a:r>
              <a:rPr lang="zh-CN" altLang="en-US" dirty="0"/>
              <a:t>分解求解该方程：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CDB6593-85A6-B9DB-BFDB-71CFA6E1DC7B}"/>
                  </a:ext>
                </a:extLst>
              </p:cNvPr>
              <p:cNvSpPr txBox="1"/>
              <p:nvPr/>
            </p:nvSpPr>
            <p:spPr>
              <a:xfrm>
                <a:off x="899592" y="2142379"/>
                <a:ext cx="2448272" cy="9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i="1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dirty="0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altLang="zh-CN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i="0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i="0" dirty="0" smtClean="0">
                                    <a:latin typeface="Cambria Math" panose="02040503050406030204" pitchFamily="18" charset="0"/>
                                  </a:rPr>
                                  <m:t>+4</m:t>
                                </m:r>
                                <m:sSub>
                                  <m:sSubPr>
                                    <m:ctrlPr>
                                      <a:rPr lang="en-US" altLang="zh-CN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i="0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i="0" dirty="0" smtClean="0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sSub>
                                  <m:sSubPr>
                                    <m:ctrlPr>
                                      <a:rPr lang="en-US" altLang="zh-CN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i="0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i="0" dirty="0" smtClean="0">
                                    <a:latin typeface="Cambria Math" panose="02040503050406030204" pitchFamily="18" charset="0"/>
                                  </a:rPr>
                                  <m:t>=20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0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sSub>
                                  <m:sSubPr>
                                    <m:ctrlPr>
                                      <a:rPr lang="en-US" altLang="zh-CN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i="0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i="0" dirty="0" smtClean="0">
                                    <a:latin typeface="Cambria Math" panose="02040503050406030204" pitchFamily="18" charset="0"/>
                                  </a:rPr>
                                  <m:t>+9</m:t>
                                </m:r>
                                <m:sSub>
                                  <m:sSubPr>
                                    <m:ctrlPr>
                                      <a:rPr lang="en-US" altLang="zh-CN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i="0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i="0" dirty="0" smtClean="0">
                                    <a:latin typeface="Cambria Math" panose="02040503050406030204" pitchFamily="18" charset="0"/>
                                  </a:rPr>
                                  <m:t>+3</m:t>
                                </m:r>
                                <m:sSub>
                                  <m:sSubPr>
                                    <m:ctrlPr>
                                      <a:rPr lang="en-US" altLang="zh-CN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i="0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i="0" dirty="0" smtClean="0">
                                    <a:latin typeface="Cambria Math" panose="02040503050406030204" pitchFamily="18" charset="0"/>
                                  </a:rPr>
                                  <m:t>=38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0" dirty="0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sSub>
                                  <m:sSubPr>
                                    <m:ctrlPr>
                                      <a:rPr lang="en-US" altLang="zh-CN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i="0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i="0" dirty="0" smtClean="0">
                                    <a:latin typeface="Cambria Math" panose="02040503050406030204" pitchFamily="18" charset="0"/>
                                  </a:rPr>
                                  <m:t>+3</m:t>
                                </m:r>
                                <m:sSub>
                                  <m:sSubPr>
                                    <m:ctrlPr>
                                      <a:rPr lang="en-US" altLang="zh-CN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i="0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i="0" dirty="0" smtClean="0">
                                    <a:latin typeface="Cambria Math" panose="02040503050406030204" pitchFamily="18" charset="0"/>
                                  </a:rPr>
                                  <m:t>+4</m:t>
                                </m:r>
                                <m:sSub>
                                  <m:sSubPr>
                                    <m:ctrlPr>
                                      <a:rPr lang="en-US" altLang="zh-CN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i="0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i="0" dirty="0" smtClean="0">
                                    <a:latin typeface="Cambria Math" panose="02040503050406030204" pitchFamily="18" charset="0"/>
                                  </a:rPr>
                                  <m:t>=18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CDB6593-85A6-B9DB-BFDB-71CFA6E1DC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2142379"/>
                <a:ext cx="2448272" cy="976614"/>
              </a:xfrm>
              <a:prstGeom prst="rect">
                <a:avLst/>
              </a:prstGeom>
              <a:blipFill>
                <a:blip r:embed="rId3"/>
                <a:stretch>
                  <a:fillRect r="-39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773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D94E9-EB66-82D6-A8D8-D30CDC25C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596B6C55-8451-2D63-7990-80D9552E208D}"/>
              </a:ext>
            </a:extLst>
          </p:cNvPr>
          <p:cNvSpPr>
            <a:spLocks/>
          </p:cNvSpPr>
          <p:nvPr/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normAutofit/>
          </a:bodyPr>
          <a:lstStyle/>
          <a:p>
            <a:pPr algn="ctr" eaLnBrk="1" hangingPunct="1">
              <a:spcAft>
                <a:spcPts val="600"/>
              </a:spcAft>
            </a:pPr>
            <a:r>
              <a:rPr lang="zh-CN" altLang="en-US" sz="3000" b="1" u="none" strike="noStrike" kern="0" cap="none" spc="0" baseline="0">
                <a:solidFill>
                  <a:srgbClr val="C94251"/>
                </a:solidFill>
                <a:latin typeface="微软雅黑" charset="0"/>
                <a:ea typeface="微软雅黑" charset="0"/>
                <a:cs typeface="微软雅黑" charset="0"/>
              </a:rPr>
              <a:t>QR分解的应用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29D3E0-A7A7-3708-66CF-9EC4FA9997DD}"/>
              </a:ext>
            </a:extLst>
          </p:cNvPr>
          <p:cNvSpPr txBox="1"/>
          <p:nvPr/>
        </p:nvSpPr>
        <p:spPr>
          <a:xfrm>
            <a:off x="509085" y="1240185"/>
            <a:ext cx="4038600" cy="313179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eaLnBrk="1" hangingPunct="1">
              <a:spcBef>
                <a:spcPct val="20000"/>
              </a:spcBef>
            </a:pPr>
            <a:r>
              <a:rPr lang="zh-CN" altLang="en-US" sz="1400" dirty="0">
                <a:solidFill>
                  <a:srgbClr val="474747"/>
                </a:solidFill>
                <a:latin typeface="微软雅黑" charset="0"/>
                <a:ea typeface="微软雅黑" charset="0"/>
              </a:rPr>
              <a:t>某工厂测试了一批用于加工零件的机床，收集了两方面的数据，a. 加工的误差; b. 加工一个标准工件的时长。 测试人员为这些机床打了一些评分，评分是从1~10，对应的数据如右边：</a:t>
            </a:r>
            <a:endParaRPr lang="en-US" altLang="zh-CN" sz="1400" dirty="0">
              <a:solidFill>
                <a:srgbClr val="474747"/>
              </a:solidFill>
              <a:latin typeface="微软雅黑" charset="0"/>
              <a:ea typeface="微软雅黑" charset="0"/>
            </a:endParaRPr>
          </a:p>
          <a:p>
            <a:pPr eaLnBrk="1" hangingPunct="1">
              <a:spcBef>
                <a:spcPct val="20000"/>
              </a:spcBef>
            </a:pPr>
            <a:endParaRPr lang="en-US" altLang="zh-CN" sz="1400" dirty="0">
              <a:solidFill>
                <a:srgbClr val="474747"/>
              </a:solidFill>
              <a:latin typeface="微软雅黑" charset="0"/>
              <a:ea typeface="微软雅黑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zh-CN" altLang="en-US" sz="1400" dirty="0">
                <a:solidFill>
                  <a:srgbClr val="474747"/>
                </a:solidFill>
                <a:latin typeface="微软雅黑" charset="0"/>
                <a:ea typeface="微软雅黑" charset="0"/>
              </a:rPr>
              <a:t>请建立一个模型找到这些机床的误差，耗时与评分之间的关系，以便让系统能自动根据这两条数据对一个机床进行打分</a:t>
            </a:r>
          </a:p>
          <a:p>
            <a:pPr eaLnBrk="1" hangingPunct="1">
              <a:spcBef>
                <a:spcPct val="20000"/>
              </a:spcBef>
            </a:pPr>
            <a:endParaRPr lang="en-US" altLang="zh-CN" sz="1400" dirty="0">
              <a:solidFill>
                <a:srgbClr val="474747"/>
              </a:solidFill>
              <a:latin typeface="微软雅黑" charset="0"/>
              <a:ea typeface="微软雅黑" charset="0"/>
            </a:endParaRPr>
          </a:p>
          <a:p>
            <a:pPr eaLnBrk="1" hangingPunct="1">
              <a:spcBef>
                <a:spcPct val="20000"/>
              </a:spcBef>
            </a:pPr>
            <a:endParaRPr lang="en-US" altLang="zh-CN" sz="1400" dirty="0">
              <a:solidFill>
                <a:srgbClr val="474747"/>
              </a:solidFill>
              <a:latin typeface="微软雅黑" charset="0"/>
              <a:ea typeface="微软雅黑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zh-CN" altLang="en-US" sz="1400" dirty="0">
                <a:solidFill>
                  <a:srgbClr val="474747"/>
                </a:solidFill>
                <a:latin typeface="微软雅黑" charset="0"/>
                <a:ea typeface="微软雅黑" charset="0"/>
              </a:rPr>
              <a:t>提示：这是一个最小二乘问题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FD7B55A-65A9-D5CC-327E-6533A7DF5B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7740296"/>
              </p:ext>
            </p:extLst>
          </p:nvPr>
        </p:nvGraphicFramePr>
        <p:xfrm>
          <a:off x="4860032" y="1288777"/>
          <a:ext cx="2890665" cy="2565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3555">
                  <a:extLst>
                    <a:ext uri="{9D8B030D-6E8A-4147-A177-3AD203B41FA5}">
                      <a16:colId xmlns:a16="http://schemas.microsoft.com/office/drawing/2014/main" val="3530506457"/>
                    </a:ext>
                  </a:extLst>
                </a:gridCol>
                <a:gridCol w="963555">
                  <a:extLst>
                    <a:ext uri="{9D8B030D-6E8A-4147-A177-3AD203B41FA5}">
                      <a16:colId xmlns:a16="http://schemas.microsoft.com/office/drawing/2014/main" val="755033643"/>
                    </a:ext>
                  </a:extLst>
                </a:gridCol>
                <a:gridCol w="963555">
                  <a:extLst>
                    <a:ext uri="{9D8B030D-6E8A-4147-A177-3AD203B41FA5}">
                      <a16:colId xmlns:a16="http://schemas.microsoft.com/office/drawing/2014/main" val="2045005389"/>
                    </a:ext>
                  </a:extLst>
                </a:gridCol>
              </a:tblGrid>
              <a:tr h="28510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u="none" strike="noStrike" dirty="0">
                          <a:effectLst/>
                        </a:rPr>
                        <a:t>误差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1325" marR="21325" marT="213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u="none" strike="noStrike" dirty="0">
                          <a:effectLst/>
                        </a:rPr>
                        <a:t>时长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1325" marR="21325" marT="213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u="none" strike="noStrike">
                          <a:effectLst/>
                        </a:rPr>
                        <a:t>评分</a:t>
                      </a:r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1325" marR="21325" marT="21325" marB="0" anchor="ctr"/>
                </a:tc>
                <a:extLst>
                  <a:ext uri="{0D108BD9-81ED-4DB2-BD59-A6C34878D82A}">
                    <a16:rowId xmlns:a16="http://schemas.microsoft.com/office/drawing/2014/main" val="2929362651"/>
                  </a:ext>
                </a:extLst>
              </a:tr>
              <a:tr h="28510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 dirty="0">
                          <a:effectLst/>
                        </a:rPr>
                        <a:t>0.6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1325" marR="21325" marT="213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</a:rPr>
                        <a:t>10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1325" marR="21325" marT="213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</a:rPr>
                        <a:t>6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1325" marR="21325" marT="21325" marB="0" anchor="ctr"/>
                </a:tc>
                <a:extLst>
                  <a:ext uri="{0D108BD9-81ED-4DB2-BD59-A6C34878D82A}">
                    <a16:rowId xmlns:a16="http://schemas.microsoft.com/office/drawing/2014/main" val="2152656011"/>
                  </a:ext>
                </a:extLst>
              </a:tr>
              <a:tr h="28510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 dirty="0">
                          <a:effectLst/>
                        </a:rPr>
                        <a:t>0.29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1325" marR="21325" marT="213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</a:rPr>
                        <a:t>15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1325" marR="21325" marT="213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</a:rPr>
                        <a:t>8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1325" marR="21325" marT="21325" marB="0" anchor="ctr"/>
                </a:tc>
                <a:extLst>
                  <a:ext uri="{0D108BD9-81ED-4DB2-BD59-A6C34878D82A}">
                    <a16:rowId xmlns:a16="http://schemas.microsoft.com/office/drawing/2014/main" val="3989453399"/>
                  </a:ext>
                </a:extLst>
              </a:tr>
              <a:tr h="28510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</a:rPr>
                        <a:t>0.7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1325" marR="21325" marT="213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</a:rPr>
                        <a:t>7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1325" marR="21325" marT="213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</a:rPr>
                        <a:t>3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1325" marR="21325" marT="21325" marB="0" anchor="ctr"/>
                </a:tc>
                <a:extLst>
                  <a:ext uri="{0D108BD9-81ED-4DB2-BD59-A6C34878D82A}">
                    <a16:rowId xmlns:a16="http://schemas.microsoft.com/office/drawing/2014/main" val="2006701647"/>
                  </a:ext>
                </a:extLst>
              </a:tr>
              <a:tr h="28510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</a:rPr>
                        <a:t>0.55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1325" marR="21325" marT="213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</a:rPr>
                        <a:t>6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1325" marR="21325" marT="213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</a:rPr>
                        <a:t>5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1325" marR="21325" marT="21325" marB="0" anchor="ctr"/>
                </a:tc>
                <a:extLst>
                  <a:ext uri="{0D108BD9-81ED-4DB2-BD59-A6C34878D82A}">
                    <a16:rowId xmlns:a16="http://schemas.microsoft.com/office/drawing/2014/main" val="2993650901"/>
                  </a:ext>
                </a:extLst>
              </a:tr>
              <a:tr h="28510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</a:rPr>
                        <a:t>0.59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1325" marR="21325" marT="213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</a:rPr>
                        <a:t>7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1325" marR="21325" marT="213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</a:rPr>
                        <a:t>5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1325" marR="21325" marT="21325" marB="0" anchor="ctr"/>
                </a:tc>
                <a:extLst>
                  <a:ext uri="{0D108BD9-81ED-4DB2-BD59-A6C34878D82A}">
                    <a16:rowId xmlns:a16="http://schemas.microsoft.com/office/drawing/2014/main" val="1459971657"/>
                  </a:ext>
                </a:extLst>
              </a:tr>
              <a:tr h="28510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</a:rPr>
                        <a:t>0.67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1325" marR="21325" marT="213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</a:rPr>
                        <a:t>6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1325" marR="21325" marT="213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</a:rPr>
                        <a:t>5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1325" marR="21325" marT="21325" marB="0" anchor="ctr"/>
                </a:tc>
                <a:extLst>
                  <a:ext uri="{0D108BD9-81ED-4DB2-BD59-A6C34878D82A}">
                    <a16:rowId xmlns:a16="http://schemas.microsoft.com/office/drawing/2014/main" val="1530503158"/>
                  </a:ext>
                </a:extLst>
              </a:tr>
              <a:tr h="28510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</a:rPr>
                        <a:t>0.4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1325" marR="21325" marT="213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</a:rPr>
                        <a:t>10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1325" marR="21325" marT="213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</a:rPr>
                        <a:t>7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1325" marR="21325" marT="21325" marB="0" anchor="ctr"/>
                </a:tc>
                <a:extLst>
                  <a:ext uri="{0D108BD9-81ED-4DB2-BD59-A6C34878D82A}">
                    <a16:rowId xmlns:a16="http://schemas.microsoft.com/office/drawing/2014/main" val="2208113898"/>
                  </a:ext>
                </a:extLst>
              </a:tr>
              <a:tr h="28510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</a:rPr>
                        <a:t>0.89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1325" marR="21325" marT="213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</a:rPr>
                        <a:t>6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1325" marR="21325" marT="213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 dirty="0">
                          <a:effectLst/>
                        </a:rPr>
                        <a:t>5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1325" marR="21325" marT="21325" marB="0" anchor="ctr"/>
                </a:tc>
                <a:extLst>
                  <a:ext uri="{0D108BD9-81ED-4DB2-BD59-A6C34878D82A}">
                    <a16:rowId xmlns:a16="http://schemas.microsoft.com/office/drawing/2014/main" val="23538834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8306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08188-54BC-731C-EF48-EB794CF76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6EAD0D13-2776-DF48-BDE1-A34510FE5ED0}"/>
              </a:ext>
            </a:extLst>
          </p:cNvPr>
          <p:cNvSpPr>
            <a:spLocks/>
          </p:cNvSpPr>
          <p:nvPr/>
        </p:nvSpPr>
        <p:spPr>
          <a:xfrm>
            <a:off x="3225322" y="577890"/>
            <a:ext cx="2693366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Cholesky</a:t>
            </a:r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分解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AF74B5-5737-D439-8939-CC765B6554E0}"/>
              </a:ext>
            </a:extLst>
          </p:cNvPr>
          <p:cNvSpPr txBox="1"/>
          <p:nvPr/>
        </p:nvSpPr>
        <p:spPr>
          <a:xfrm>
            <a:off x="899592" y="1419622"/>
            <a:ext cx="72728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dirty="0"/>
              <a:t>对于上一个练习，用</a:t>
            </a:r>
            <a:r>
              <a:rPr lang="en-US" altLang="zh-CN" dirty="0"/>
              <a:t>Cholesky</a:t>
            </a:r>
            <a:r>
              <a:rPr lang="zh-CN" altLang="en-US" dirty="0"/>
              <a:t>分解来求解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03749696"/>
      </p:ext>
    </p:extLst>
  </p:cSld>
  <p:clrMapOvr>
    <a:masterClrMapping/>
  </p:clrMapOvr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20591</TotalTime>
  <Words>168</Words>
  <Application>Microsoft Office PowerPoint</Application>
  <PresentationFormat>On-screen Show (16:9)</PresentationFormat>
  <Paragraphs>43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等线</vt:lpstr>
      <vt:lpstr>微软雅黑</vt:lpstr>
      <vt:lpstr>Arial</vt:lpstr>
      <vt:lpstr>Calibri</vt:lpstr>
      <vt:lpstr>Cambria Math</vt:lpstr>
      <vt:lpstr>讲师ppt模板20141215</vt:lpstr>
      <vt:lpstr>讲师ppt模板20141215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50</cp:revision>
  <dcterms:created xsi:type="dcterms:W3CDTF">2016-04-25T01:54:29Z</dcterms:created>
  <dcterms:modified xsi:type="dcterms:W3CDTF">2025-01-11T12:43:02Z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