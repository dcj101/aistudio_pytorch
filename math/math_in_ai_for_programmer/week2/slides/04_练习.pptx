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9"/>
  </p:notesMasterIdLst>
  <p:sldIdLst>
    <p:sldId id="299" r:id="rId3"/>
    <p:sldId id="325" r:id="rId4"/>
    <p:sldId id="320" r:id="rId5"/>
    <p:sldId id="322" r:id="rId6"/>
    <p:sldId id="323" r:id="rId7"/>
    <p:sldId id="326" r:id="rId8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2025/1/9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790D-4FC2-E478-7765-BD7F98FA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B1C06960-FED6-8167-A5E0-2080DB911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808E608-BC5F-147F-F746-2FD70B297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66FEF615-0C2A-CFD9-9374-5997D73474C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39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D898D-5BFE-7FAD-81C3-CEE7AF52D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E1AB19FE-E998-CF6B-FA81-5EFF68327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BEA81F7-F3A9-9B1A-9EEE-5A115E638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2D1B148E-AB48-F937-DA6A-1CB50E654BD7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79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4ED2E-47FE-900C-A36D-B7E4DF847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C45C2D29-8CE3-7706-99C2-FB24BA289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36E3CC62-BB82-9653-F3DE-CDEF53E01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C5C1F74C-1171-46C6-556C-F9A071229998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793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DF3EB-4506-9AA3-2A07-9163D83E7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28C61AA0-C19B-B8D2-4EA6-C3F3FE1D7B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251BB8EE-A7C1-A545-EB80-AB28E8219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2E118E82-0AC5-0E65-BB67-8E478CA7336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106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FDBCA-BD46-1C02-FC83-FF8AD27D1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EA06658C-6912-8159-1339-7EE8855B0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FE98A33-047A-ED3A-34AC-85F0C72DD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40FC951C-3DBA-92F6-7F19-027924324E82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65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2025/1/9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2025/1/9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2025/1/9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2025/1/9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2025/1/9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2025/1/9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练习：矩阵进阶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FE23-71E6-545D-F65E-CFA8FF4A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D6CD2B2E-5613-56AF-E277-91E5BDD3903C}"/>
              </a:ext>
            </a:extLst>
          </p:cNvPr>
          <p:cNvSpPr>
            <a:spLocks/>
          </p:cNvSpPr>
          <p:nvPr/>
        </p:nvSpPr>
        <p:spPr>
          <a:xfrm>
            <a:off x="3517869" y="577890"/>
            <a:ext cx="210826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矩阵的转置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66154-EA25-010D-04C6-C82D8ABB981C}"/>
              </a:ext>
            </a:extLst>
          </p:cNvPr>
          <p:cNvSpPr txBox="1"/>
          <p:nvPr/>
        </p:nvSpPr>
        <p:spPr>
          <a:xfrm>
            <a:off x="899592" y="1419622"/>
            <a:ext cx="72728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dirty="0"/>
              <a:t>手工计算矩阵</a:t>
            </a:r>
            <a:endParaRPr lang="en-US" altLang="zh-CN" dirty="0"/>
          </a:p>
          <a:p>
            <a:r>
              <a:rPr lang="en-US" altLang="zh-CN" dirty="0"/>
              <a:t>[[1,2,3,4], </a:t>
            </a:r>
          </a:p>
          <a:p>
            <a:r>
              <a:rPr lang="en-US" altLang="zh-CN" dirty="0"/>
              <a:t> [5,6,7,8]]</a:t>
            </a:r>
          </a:p>
          <a:p>
            <a:r>
              <a:rPr lang="zh-CN" altLang="en-US" dirty="0"/>
              <a:t>的转置，并用</a:t>
            </a:r>
            <a:r>
              <a:rPr lang="en-US" altLang="zh-CN" dirty="0" err="1"/>
              <a:t>numpy</a:t>
            </a:r>
            <a:r>
              <a:rPr lang="zh-CN" altLang="en-US" dirty="0"/>
              <a:t>验证结果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777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94E9-EB66-82D6-A8D8-D30CDC25C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596B6C55-8451-2D63-7990-80D9552E208D}"/>
              </a:ext>
            </a:extLst>
          </p:cNvPr>
          <p:cNvSpPr>
            <a:spLocks/>
          </p:cNvSpPr>
          <p:nvPr/>
        </p:nvSpPr>
        <p:spPr>
          <a:xfrm>
            <a:off x="3325508" y="577890"/>
            <a:ext cx="249299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逆矩阵的应用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729D3E0-A7A7-3708-66CF-9EC4FA9997DD}"/>
                  </a:ext>
                </a:extLst>
              </p:cNvPr>
              <p:cNvSpPr txBox="1"/>
              <p:nvPr/>
            </p:nvSpPr>
            <p:spPr>
              <a:xfrm>
                <a:off x="899592" y="1419622"/>
                <a:ext cx="7272858" cy="1894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>
                    <a:latin typeface="Microsoft YaHei UI" panose="020B0503020204020204" pitchFamily="34" charset="-122"/>
                    <a:ea typeface="Microsoft YaHei UI" panose="020B0503020204020204" pitchFamily="34" charset="-122"/>
                  </a:defRPr>
                </a:lvl1pPr>
              </a:lstStyle>
              <a:p>
                <a:r>
                  <a:rPr lang="zh-CN" altLang="en-US" dirty="0"/>
                  <a:t>用</a:t>
                </a:r>
                <a:r>
                  <a:rPr lang="en-US" altLang="zh-CN" dirty="0" err="1"/>
                  <a:t>numpy</a:t>
                </a:r>
                <a:r>
                  <a:rPr lang="zh-CN" altLang="en-US" dirty="0"/>
                  <a:t>的求逆矩阵方法解下列方程组：</a:t>
                </a:r>
                <a:endParaRPr lang="en-US" altLang="zh-CN" dirty="0"/>
              </a:p>
              <a:p>
                <a:endParaRPr lang="en-US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=8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=−11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=−3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+5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=9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729D3E0-A7A7-3708-66CF-9EC4FA999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419622"/>
                <a:ext cx="7272858" cy="1894878"/>
              </a:xfrm>
              <a:prstGeom prst="rect">
                <a:avLst/>
              </a:prstGeom>
              <a:blipFill>
                <a:blip r:embed="rId3"/>
                <a:stretch>
                  <a:fillRect l="-754" t="-1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8306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3CFB0-4960-D3B4-3F17-7DC36AC51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CD58D56F-7D81-B833-A056-92CC119780B1}"/>
              </a:ext>
            </a:extLst>
          </p:cNvPr>
          <p:cNvSpPr>
            <a:spLocks/>
          </p:cNvSpPr>
          <p:nvPr/>
        </p:nvSpPr>
        <p:spPr>
          <a:xfrm>
            <a:off x="3710228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矩阵的秩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EA5855-9D15-D9F6-00C0-451617409337}"/>
              </a:ext>
            </a:extLst>
          </p:cNvPr>
          <p:cNvSpPr txBox="1"/>
          <p:nvPr/>
        </p:nvSpPr>
        <p:spPr>
          <a:xfrm>
            <a:off x="899592" y="1419622"/>
            <a:ext cx="72728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对于矩阵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 = [[1, 2], [3, 0]]</a:t>
            </a:r>
          </a:p>
          <a:p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buFontTx/>
              <a:buAutoNum type="arabicPeriod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这个矩阵是满秩矩阵吗，为什么？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numpy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计算这个矩阵的秩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matplotlib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在坐标上画出这个矩阵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个行向量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4483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CD508-0A71-CF4A-98C6-84D6B5784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EAE839CB-F2E2-BD09-3797-0B8F6E748A12}"/>
              </a:ext>
            </a:extLst>
          </p:cNvPr>
          <p:cNvSpPr>
            <a:spLocks/>
          </p:cNvSpPr>
          <p:nvPr/>
        </p:nvSpPr>
        <p:spPr>
          <a:xfrm>
            <a:off x="3517869" y="577890"/>
            <a:ext cx="210826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矩阵行列式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19D59B-0FED-DD09-EA7D-53689491B346}"/>
                  </a:ext>
                </a:extLst>
              </p:cNvPr>
              <p:cNvSpPr txBox="1"/>
              <p:nvPr/>
            </p:nvSpPr>
            <p:spPr>
              <a:xfrm>
                <a:off x="899592" y="1419622"/>
                <a:ext cx="7272858" cy="16559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对于如下矩阵，手工求解它的行列式，并用</a:t>
                </a:r>
                <a:r>
                  <a:rPr lang="en-US" altLang="zh-CN" dirty="0" err="1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numpy</a:t>
                </a:r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验证结果是否正确</a:t>
                </a:r>
                <a:endParaRPr lang="en-US" altLang="zh-CN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endParaRPr lang="en-US" altLang="zh-CN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endParaRPr lang="en-US" altLang="zh-CN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19D59B-0FED-DD09-EA7D-53689491B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419622"/>
                <a:ext cx="7272858" cy="1655903"/>
              </a:xfrm>
              <a:prstGeom prst="rect">
                <a:avLst/>
              </a:prstGeom>
              <a:blipFill>
                <a:blip r:embed="rId3"/>
                <a:stretch>
                  <a:fillRect l="-754" t="-22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3220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04854-D212-29DB-7A19-445F72809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A02679AE-D651-4D5F-2046-437BBDBA5A00}"/>
              </a:ext>
            </a:extLst>
          </p:cNvPr>
          <p:cNvSpPr>
            <a:spLocks/>
          </p:cNvSpPr>
          <p:nvPr/>
        </p:nvSpPr>
        <p:spPr>
          <a:xfrm>
            <a:off x="4094955" y="577890"/>
            <a:ext cx="954107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张量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BBA800-D36E-6DAF-A9C5-141C8F45548A}"/>
                  </a:ext>
                </a:extLst>
              </p:cNvPr>
              <p:cNvSpPr txBox="1"/>
              <p:nvPr/>
            </p:nvSpPr>
            <p:spPr>
              <a:xfrm>
                <a:off x="899592" y="1419622"/>
                <a:ext cx="7272858" cy="16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>
                    <a:latin typeface="Microsoft YaHei UI" panose="020B0503020204020204" pitchFamily="34" charset="-122"/>
                    <a:ea typeface="Microsoft YaHei UI" panose="020B0503020204020204" pitchFamily="34" charset="-122"/>
                  </a:defRPr>
                </a:lvl1pPr>
              </a:lstStyle>
              <a:p>
                <a:r>
                  <a:rPr lang="zh-CN" altLang="en-US" dirty="0"/>
                  <a:t>两个矩阵（张量）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分别如下定义，手工求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⊗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的张量积，并用</a:t>
                </a:r>
                <a:r>
                  <a:rPr lang="en-US" altLang="zh-CN" dirty="0" err="1"/>
                  <a:t>numpy</a:t>
                </a:r>
                <a:r>
                  <a:rPr lang="zh-CN" altLang="en-US" dirty="0"/>
                  <a:t>验算是否正确：</a:t>
                </a:r>
                <a:endParaRPr lang="en-US" altLang="zh-CN" dirty="0"/>
              </a:p>
              <a:p>
                <a:endParaRPr lang="en-US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i="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i="0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i="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BBA800-D36E-6DAF-A9C5-141C8F455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419622"/>
                <a:ext cx="7272858" cy="1654107"/>
              </a:xfrm>
              <a:prstGeom prst="rect">
                <a:avLst/>
              </a:prstGeom>
              <a:blipFill>
                <a:blip r:embed="rId3"/>
                <a:stretch>
                  <a:fillRect l="-754" t="-25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5260380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19214</TotalTime>
  <Words>142</Words>
  <Application>Microsoft Office PowerPoint</Application>
  <PresentationFormat>On-screen Show (16:9)</PresentationFormat>
  <Paragraphs>29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Microsoft YaHei UI</vt:lpstr>
      <vt:lpstr>微软雅黑</vt:lpstr>
      <vt:lpstr>Arial</vt:lpstr>
      <vt:lpstr>Calibri</vt:lpstr>
      <vt:lpstr>Cambria Math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49</cp:revision>
  <dcterms:created xsi:type="dcterms:W3CDTF">2016-04-25T01:54:29Z</dcterms:created>
  <dcterms:modified xsi:type="dcterms:W3CDTF">2025-01-10T06:02:41Z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