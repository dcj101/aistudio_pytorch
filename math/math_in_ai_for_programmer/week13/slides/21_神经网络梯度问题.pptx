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15"/>
  </p:notesMasterIdLst>
  <p:sldIdLst>
    <p:sldId id="324" r:id="rId3"/>
    <p:sldId id="346" r:id="rId4"/>
    <p:sldId id="339" r:id="rId5"/>
    <p:sldId id="347" r:id="rId6"/>
    <p:sldId id="348" r:id="rId7"/>
    <p:sldId id="343" r:id="rId8"/>
    <p:sldId id="341" r:id="rId9"/>
    <p:sldId id="349" r:id="rId10"/>
    <p:sldId id="344" r:id="rId11"/>
    <p:sldId id="345" r:id="rId12"/>
    <p:sldId id="350" r:id="rId13"/>
    <p:sldId id="351" r:id="rId14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074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289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3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270" y="114"/>
      </p:cViewPr>
      <p:guideLst>
        <p:guide orient="horz" pos="713"/>
        <p:guide pos="2880"/>
        <p:guide orient="horz" pos="2074"/>
        <p:guide pos="612"/>
        <p:guide pos="839"/>
        <p:guide orient="horz" pos="2754"/>
        <p:guide orient="horz" pos="289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2024/10/3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30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4752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6200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5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67894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6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1052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7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59085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8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5661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9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1769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10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7944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11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06778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12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072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2024/10/3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2024/10/3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2024/10/3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2024/10/3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2024/10/3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2024/10/3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063918"/>
            <a:ext cx="9144000" cy="1015663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用微积分和线性代数研究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神经网络梯度问题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037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09923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梯度消失和梯度爆炸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2940787" y="577890"/>
            <a:ext cx="3262432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神经网络梯度问题</a:t>
            </a: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09923" y="2369742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过拟合和欠拟合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909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09923" y="1492250"/>
            <a:ext cx="3918061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什么是梯度消失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3710230" y="577890"/>
            <a:ext cx="172354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梯度消失</a:t>
            </a: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09923" y="2369742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解决办法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0F9E9302-A6F4-FDE0-DF0D-CF7DC0C8BEDB}"/>
              </a:ext>
            </a:extLst>
          </p:cNvPr>
          <p:cNvSpPr>
            <a:spLocks/>
          </p:cNvSpPr>
          <p:nvPr/>
        </p:nvSpPr>
        <p:spPr>
          <a:xfrm>
            <a:off x="509923" y="3247234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例子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5" name="矩形">
            <a:extLst>
              <a:ext uri="{FF2B5EF4-FFF2-40B4-BE49-F238E27FC236}">
                <a16:creationId xmlns:a16="http://schemas.microsoft.com/office/drawing/2014/main" id="{85B8894A-EF99-2960-C2AF-BFE0C888D853}"/>
              </a:ext>
            </a:extLst>
          </p:cNvPr>
          <p:cNvSpPr>
            <a:spLocks/>
          </p:cNvSpPr>
          <p:nvPr/>
        </p:nvSpPr>
        <p:spPr>
          <a:xfrm>
            <a:off x="4709539" y="1492250"/>
            <a:ext cx="3918061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如何发现梯度消失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" name="矩形">
            <a:extLst>
              <a:ext uri="{FF2B5EF4-FFF2-40B4-BE49-F238E27FC236}">
                <a16:creationId xmlns:a16="http://schemas.microsoft.com/office/drawing/2014/main" id="{81DA5922-ED1F-A0DE-0BC8-A870373FC522}"/>
              </a:ext>
            </a:extLst>
          </p:cNvPr>
          <p:cNvSpPr>
            <a:spLocks/>
          </p:cNvSpPr>
          <p:nvPr/>
        </p:nvSpPr>
        <p:spPr>
          <a:xfrm>
            <a:off x="4709539" y="2369742"/>
            <a:ext cx="3918061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 err="1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Relu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和它的变形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7140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4" grpId="0"/>
      <p:bldP spid="2" grpId="0"/>
      <p:bldP spid="5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09923" y="1492250"/>
            <a:ext cx="3918061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训练性能提升缓慢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3133155" y="577890"/>
            <a:ext cx="2877711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梯度消失的表现</a:t>
            </a: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09923" y="2369742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权重趋近于零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0F9E9302-A6F4-FDE0-DF0D-CF7DC0C8BEDB}"/>
              </a:ext>
            </a:extLst>
          </p:cNvPr>
          <p:cNvSpPr>
            <a:spLocks/>
          </p:cNvSpPr>
          <p:nvPr/>
        </p:nvSpPr>
        <p:spPr>
          <a:xfrm>
            <a:off x="509923" y="3247234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激活函数饱和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5" name="矩形">
            <a:extLst>
              <a:ext uri="{FF2B5EF4-FFF2-40B4-BE49-F238E27FC236}">
                <a16:creationId xmlns:a16="http://schemas.microsoft.com/office/drawing/2014/main" id="{85B8894A-EF99-2960-C2AF-BFE0C888D853}"/>
              </a:ext>
            </a:extLst>
          </p:cNvPr>
          <p:cNvSpPr>
            <a:spLocks/>
          </p:cNvSpPr>
          <p:nvPr/>
        </p:nvSpPr>
        <p:spPr>
          <a:xfrm>
            <a:off x="4709539" y="1492250"/>
            <a:ext cx="3918061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前面层参数更新缓慢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" name="矩形">
            <a:extLst>
              <a:ext uri="{FF2B5EF4-FFF2-40B4-BE49-F238E27FC236}">
                <a16:creationId xmlns:a16="http://schemas.microsoft.com/office/drawing/2014/main" id="{81DA5922-ED1F-A0DE-0BC8-A870373FC522}"/>
              </a:ext>
            </a:extLst>
          </p:cNvPr>
          <p:cNvSpPr>
            <a:spLocks/>
          </p:cNvSpPr>
          <p:nvPr/>
        </p:nvSpPr>
        <p:spPr>
          <a:xfrm>
            <a:off x="4709539" y="2369742"/>
            <a:ext cx="3918061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 err="1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性能不佳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6655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4" grpId="0"/>
      <p:bldP spid="2" grpId="0"/>
      <p:bldP spid="5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09923" y="1492250"/>
            <a:ext cx="3918061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修改激活函数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2748439" y="577890"/>
            <a:ext cx="3647152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梯度消失的解决办法</a:t>
            </a: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09923" y="2369742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残差网络</a:t>
            </a:r>
            <a:r>
              <a:rPr lang="en-US" altLang="zh-CN" sz="2000" dirty="0" err="1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ResNets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0F9E9302-A6F4-FDE0-DF0D-CF7DC0C8BEDB}"/>
              </a:ext>
            </a:extLst>
          </p:cNvPr>
          <p:cNvSpPr>
            <a:spLocks/>
          </p:cNvSpPr>
          <p:nvPr/>
        </p:nvSpPr>
        <p:spPr>
          <a:xfrm>
            <a:off x="509923" y="3247234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梯度截断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5" name="矩形">
            <a:extLst>
              <a:ext uri="{FF2B5EF4-FFF2-40B4-BE49-F238E27FC236}">
                <a16:creationId xmlns:a16="http://schemas.microsoft.com/office/drawing/2014/main" id="{85B8894A-EF99-2960-C2AF-BFE0C888D853}"/>
              </a:ext>
            </a:extLst>
          </p:cNvPr>
          <p:cNvSpPr>
            <a:spLocks/>
          </p:cNvSpPr>
          <p:nvPr/>
        </p:nvSpPr>
        <p:spPr>
          <a:xfrm>
            <a:off x="4709539" y="1492250"/>
            <a:ext cx="3918061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批量标准化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" name="矩形">
            <a:extLst>
              <a:ext uri="{FF2B5EF4-FFF2-40B4-BE49-F238E27FC236}">
                <a16:creationId xmlns:a16="http://schemas.microsoft.com/office/drawing/2014/main" id="{81DA5922-ED1F-A0DE-0BC8-A870373FC522}"/>
              </a:ext>
            </a:extLst>
          </p:cNvPr>
          <p:cNvSpPr>
            <a:spLocks/>
          </p:cNvSpPr>
          <p:nvPr/>
        </p:nvSpPr>
        <p:spPr>
          <a:xfrm>
            <a:off x="4709539" y="2369742"/>
            <a:ext cx="3918061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LSTM 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长短期记忆网络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873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4" grpId="0"/>
      <p:bldP spid="2" grpId="0"/>
      <p:bldP spid="5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09923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Leaky </a:t>
            </a:r>
            <a:r>
              <a:rPr lang="en-US" altLang="zh-CN" sz="2000" dirty="0" err="1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ReLU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3016925" y="577890"/>
            <a:ext cx="3110146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3000" b="1" kern="0" dirty="0" err="1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ReLU</a:t>
            </a:r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和它的变形</a:t>
            </a: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09923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SELU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09923" y="2369742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Parametric </a:t>
            </a:r>
            <a:r>
              <a:rPr lang="en-US" altLang="zh-CN" sz="2000" dirty="0" err="1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ReLU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0F9E9302-A6F4-FDE0-DF0D-CF7DC0C8BEDB}"/>
              </a:ext>
            </a:extLst>
          </p:cNvPr>
          <p:cNvSpPr>
            <a:spLocks/>
          </p:cNvSpPr>
          <p:nvPr/>
        </p:nvSpPr>
        <p:spPr>
          <a:xfrm>
            <a:off x="509923" y="3247234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ELU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8573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09923" y="1492250"/>
            <a:ext cx="3918061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什么是梯度爆炸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3710230" y="577890"/>
            <a:ext cx="172354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梯度爆炸</a:t>
            </a: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09923" y="2369742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如何发现这个问题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0F9E9302-A6F4-FDE0-DF0D-CF7DC0C8BEDB}"/>
              </a:ext>
            </a:extLst>
          </p:cNvPr>
          <p:cNvSpPr>
            <a:spLocks/>
          </p:cNvSpPr>
          <p:nvPr/>
        </p:nvSpPr>
        <p:spPr>
          <a:xfrm>
            <a:off x="509923" y="3247234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例子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5" name="矩形">
            <a:extLst>
              <a:ext uri="{FF2B5EF4-FFF2-40B4-BE49-F238E27FC236}">
                <a16:creationId xmlns:a16="http://schemas.microsoft.com/office/drawing/2014/main" id="{85B8894A-EF99-2960-C2AF-BFE0C888D853}"/>
              </a:ext>
            </a:extLst>
          </p:cNvPr>
          <p:cNvSpPr>
            <a:spLocks/>
          </p:cNvSpPr>
          <p:nvPr/>
        </p:nvSpPr>
        <p:spPr>
          <a:xfrm>
            <a:off x="4709539" y="1492250"/>
            <a:ext cx="3918061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梯度爆炸的原因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" name="矩形">
            <a:extLst>
              <a:ext uri="{FF2B5EF4-FFF2-40B4-BE49-F238E27FC236}">
                <a16:creationId xmlns:a16="http://schemas.microsoft.com/office/drawing/2014/main" id="{81DA5922-ED1F-A0DE-0BC8-A870373FC522}"/>
              </a:ext>
            </a:extLst>
          </p:cNvPr>
          <p:cNvSpPr>
            <a:spLocks/>
          </p:cNvSpPr>
          <p:nvPr/>
        </p:nvSpPr>
        <p:spPr>
          <a:xfrm>
            <a:off x="4709539" y="2369742"/>
            <a:ext cx="3918061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解决办法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297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4" grpId="0"/>
      <p:bldP spid="2" grpId="0"/>
      <p:bldP spid="5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09923" y="1492250"/>
            <a:ext cx="3918061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不稳定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3133155" y="577890"/>
            <a:ext cx="2877711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梯度爆炸的症状</a:t>
            </a: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09923" y="2369742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遇到</a:t>
            </a:r>
            <a:r>
              <a:rPr lang="en-US" altLang="zh-CN" sz="2000" dirty="0" err="1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NaN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0F9E9302-A6F4-FDE0-DF0D-CF7DC0C8BEDB}"/>
              </a:ext>
            </a:extLst>
          </p:cNvPr>
          <p:cNvSpPr>
            <a:spLocks/>
          </p:cNvSpPr>
          <p:nvPr/>
        </p:nvSpPr>
        <p:spPr>
          <a:xfrm>
            <a:off x="509923" y="3247234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权重快速更新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997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4" grpId="0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09923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权重初始化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2748427" y="577890"/>
            <a:ext cx="3647152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梯度爆炸的解决办法</a:t>
            </a: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09923" y="2369742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梯度缩放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" name="矩形">
            <a:extLst>
              <a:ext uri="{FF2B5EF4-FFF2-40B4-BE49-F238E27FC236}">
                <a16:creationId xmlns:a16="http://schemas.microsoft.com/office/drawing/2014/main" id="{9EDA5063-7137-84AC-8ACC-23D4796EDC2F}"/>
              </a:ext>
            </a:extLst>
          </p:cNvPr>
          <p:cNvSpPr>
            <a:spLocks/>
          </p:cNvSpPr>
          <p:nvPr/>
        </p:nvSpPr>
        <p:spPr>
          <a:xfrm>
            <a:off x="509923" y="3247234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梯度剪裁</a:t>
            </a:r>
            <a:endParaRPr lang="zh-CN" altLang="en-US" sz="200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2388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09923" y="1492250"/>
            <a:ext cx="3918061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什么是过拟合与欠拟合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3133153" y="577890"/>
            <a:ext cx="2877711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过拟合与欠拟合</a:t>
            </a: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09923" y="2369742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正则化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0F9E9302-A6F4-FDE0-DF0D-CF7DC0C8BEDB}"/>
              </a:ext>
            </a:extLst>
          </p:cNvPr>
          <p:cNvSpPr>
            <a:spLocks/>
          </p:cNvSpPr>
          <p:nvPr/>
        </p:nvSpPr>
        <p:spPr>
          <a:xfrm>
            <a:off x="509923" y="3247234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dropout</a:t>
            </a:r>
            <a:endParaRPr lang="zh-CN" altLang="en-US" sz="200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" name="矩形">
            <a:extLst>
              <a:ext uri="{FF2B5EF4-FFF2-40B4-BE49-F238E27FC236}">
                <a16:creationId xmlns:a16="http://schemas.microsoft.com/office/drawing/2014/main" id="{85B8894A-EF99-2960-C2AF-BFE0C888D853}"/>
              </a:ext>
            </a:extLst>
          </p:cNvPr>
          <p:cNvSpPr>
            <a:spLocks/>
          </p:cNvSpPr>
          <p:nvPr/>
        </p:nvSpPr>
        <p:spPr>
          <a:xfrm>
            <a:off x="4709539" y="1492250"/>
            <a:ext cx="3918061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如何检测过拟合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" name="矩形">
            <a:extLst>
              <a:ext uri="{FF2B5EF4-FFF2-40B4-BE49-F238E27FC236}">
                <a16:creationId xmlns:a16="http://schemas.microsoft.com/office/drawing/2014/main" id="{81DA5922-ED1F-A0DE-0BC8-A870373FC522}"/>
              </a:ext>
            </a:extLst>
          </p:cNvPr>
          <p:cNvSpPr>
            <a:spLocks/>
          </p:cNvSpPr>
          <p:nvPr/>
        </p:nvSpPr>
        <p:spPr>
          <a:xfrm>
            <a:off x="4709539" y="2369742"/>
            <a:ext cx="3918061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L1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L2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正则化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7509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4" grpId="0"/>
      <p:bldP spid="2" grpId="0"/>
      <p:bldP spid="5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09923" y="1492250"/>
            <a:ext cx="3918061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训练数据不佳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2940791" y="577890"/>
            <a:ext cx="3262432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造成过拟合的因素</a:t>
            </a: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09923" y="2369742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模型过于复杂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0F9E9302-A6F4-FDE0-DF0D-CF7DC0C8BEDB}"/>
              </a:ext>
            </a:extLst>
          </p:cNvPr>
          <p:cNvSpPr>
            <a:spLocks/>
          </p:cNvSpPr>
          <p:nvPr/>
        </p:nvSpPr>
        <p:spPr>
          <a:xfrm>
            <a:off x="509923" y="3247234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高维度数据</a:t>
            </a:r>
            <a:endParaRPr lang="zh-CN" altLang="en-US" sz="200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784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4" grpId="0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09923" y="1492250"/>
            <a:ext cx="3918061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权重衰减 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- 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正则化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3133151" y="577890"/>
            <a:ext cx="2877711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如何应对过拟合</a:t>
            </a: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09923" y="2369742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数据增强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0F9E9302-A6F4-FDE0-DF0D-CF7DC0C8BEDB}"/>
              </a:ext>
            </a:extLst>
          </p:cNvPr>
          <p:cNvSpPr>
            <a:spLocks/>
          </p:cNvSpPr>
          <p:nvPr/>
        </p:nvSpPr>
        <p:spPr>
          <a:xfrm>
            <a:off x="509923" y="3247234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修改模型复杂度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5" name="矩形">
            <a:extLst>
              <a:ext uri="{FF2B5EF4-FFF2-40B4-BE49-F238E27FC236}">
                <a16:creationId xmlns:a16="http://schemas.microsoft.com/office/drawing/2014/main" id="{85B8894A-EF99-2960-C2AF-BFE0C888D853}"/>
              </a:ext>
            </a:extLst>
          </p:cNvPr>
          <p:cNvSpPr>
            <a:spLocks/>
          </p:cNvSpPr>
          <p:nvPr/>
        </p:nvSpPr>
        <p:spPr>
          <a:xfrm>
            <a:off x="4709539" y="1492250"/>
            <a:ext cx="3918061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早期停止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" name="矩形">
            <a:extLst>
              <a:ext uri="{FF2B5EF4-FFF2-40B4-BE49-F238E27FC236}">
                <a16:creationId xmlns:a16="http://schemas.microsoft.com/office/drawing/2014/main" id="{81DA5922-ED1F-A0DE-0BC8-A870373FC522}"/>
              </a:ext>
            </a:extLst>
          </p:cNvPr>
          <p:cNvSpPr>
            <a:spLocks/>
          </p:cNvSpPr>
          <p:nvPr/>
        </p:nvSpPr>
        <p:spPr>
          <a:xfrm>
            <a:off x="4709539" y="2369742"/>
            <a:ext cx="3918061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特征分析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3366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4" grpId="0"/>
      <p:bldP spid="2" grpId="0"/>
      <p:bldP spid="5" grpId="0"/>
      <p:bldP spid="7" grpId="0"/>
    </p:bldLst>
  </p:timing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60759</TotalTime>
  <Words>198</Words>
  <Application>Microsoft Office PowerPoint</Application>
  <PresentationFormat>On-screen Show (16:9)</PresentationFormat>
  <Paragraphs>69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微软雅黑</vt:lpstr>
      <vt:lpstr>Arial</vt:lpstr>
      <vt:lpstr>Calibri</vt:lpstr>
      <vt:lpstr>Wingdings</vt:lpstr>
      <vt:lpstr>讲师ppt模板20141215</vt:lpstr>
      <vt:lpstr>讲师ppt模板20141215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106</cp:revision>
  <dcterms:created xsi:type="dcterms:W3CDTF">2016-04-25T01:54:29Z</dcterms:created>
  <dcterms:modified xsi:type="dcterms:W3CDTF">2024-10-07T11:41:33Z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