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7"/>
  </p:notesMasterIdLst>
  <p:sldIdLst>
    <p:sldId id="299" r:id="rId3"/>
    <p:sldId id="325" r:id="rId4"/>
    <p:sldId id="327" r:id="rId5"/>
    <p:sldId id="328" r:id="rId6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70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2025/1/13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790D-4FC2-E478-7765-BD7F98FA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B1C06960-FED6-8167-A5E0-2080DB911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808E608-BC5F-147F-F746-2FD70B297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66FEF615-0C2A-CFD9-9374-5997D73474C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239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51227-CD2E-E4E3-DAB8-74D203BBC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64A3F45C-0A35-AEAE-580D-F82C777D6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FA77E606-5AF6-BCEE-743A-C8AC98570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DBE0CB8D-00F4-6A90-5103-9656CCADCC1D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925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EBEBD-3B9C-345F-5FEA-11ACADD3C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4FC76BE0-4F5E-CF23-D663-146AD67A3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DBF5A0CC-82B5-AB95-BB85-8643E5B05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5D5E768A-B8D4-83C6-8F72-3E90E8A7994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016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2025/1/13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2025/1/13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2025/1/13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2025/1/13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2025/1/13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2025/1/13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练习：特征分解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FE23-71E6-545D-F65E-CFA8FF4A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D6CD2B2E-5613-56AF-E277-91E5BDD3903C}"/>
              </a:ext>
            </a:extLst>
          </p:cNvPr>
          <p:cNvSpPr>
            <a:spLocks/>
          </p:cNvSpPr>
          <p:nvPr/>
        </p:nvSpPr>
        <p:spPr>
          <a:xfrm>
            <a:off x="3325511" y="577890"/>
            <a:ext cx="249299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手工特征分解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66154-EA25-010D-04C6-C82D8ABB981C}"/>
              </a:ext>
            </a:extLst>
          </p:cNvPr>
          <p:cNvSpPr txBox="1"/>
          <p:nvPr/>
        </p:nvSpPr>
        <p:spPr>
          <a:xfrm>
            <a:off x="899592" y="1419622"/>
            <a:ext cx="72728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dirty="0"/>
              <a:t>有如下矩阵，手工进行特征分解，并用</a:t>
            </a:r>
            <a:r>
              <a:rPr lang="en-US" altLang="zh-CN" dirty="0" err="1"/>
              <a:t>numpy</a:t>
            </a:r>
            <a:r>
              <a:rPr lang="zh-CN" altLang="en-US" dirty="0"/>
              <a:t>验证结果：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CDB6593-85A6-B9DB-BFDB-71CFA6E1DC7B}"/>
                  </a:ext>
                </a:extLst>
              </p:cNvPr>
              <p:cNvSpPr txBox="1"/>
              <p:nvPr/>
            </p:nvSpPr>
            <p:spPr>
              <a:xfrm>
                <a:off x="827584" y="2072039"/>
                <a:ext cx="1512168" cy="559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CDB6593-85A6-B9DB-BFDB-71CFA6E1D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2072039"/>
                <a:ext cx="1512168" cy="5598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7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A516C-6841-5A3B-2C2F-F7C6518D2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DF0672AE-17AB-FAD3-D4A2-34723D61EB70}"/>
              </a:ext>
            </a:extLst>
          </p:cNvPr>
          <p:cNvSpPr>
            <a:spLocks/>
          </p:cNvSpPr>
          <p:nvPr/>
        </p:nvSpPr>
        <p:spPr>
          <a:xfrm>
            <a:off x="3133151" y="577890"/>
            <a:ext cx="2877711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 eaLnBrk="1" hangingPunct="1">
              <a:spcAft>
                <a:spcPts val="600"/>
              </a:spcAft>
            </a:pPr>
            <a:r>
              <a:rPr lang="zh-CN" altLang="en-US" sz="3000" b="1" u="none" strike="noStrike" kern="0" cap="none" spc="0" baseline="0" dirty="0">
                <a:solidFill>
                  <a:srgbClr val="C94251"/>
                </a:solidFill>
                <a:latin typeface="微软雅黑" charset="0"/>
                <a:ea typeface="微软雅黑" charset="0"/>
                <a:cs typeface="微软雅黑" charset="0"/>
              </a:rPr>
              <a:t>特征分解的应用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21A47E-0248-8F5E-2056-80C986A99ADB}"/>
              </a:ext>
            </a:extLst>
          </p:cNvPr>
          <p:cNvSpPr txBox="1"/>
          <p:nvPr/>
        </p:nvSpPr>
        <p:spPr>
          <a:xfrm>
            <a:off x="899592" y="1419622"/>
            <a:ext cx="727285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sz="1400" dirty="0"/>
              <a:t>草原上同时生活着鹿和狮子。统计发现，狮子的数量每过</a:t>
            </a:r>
            <a:r>
              <a:rPr lang="en-US" altLang="zh-CN" sz="1400" dirty="0"/>
              <a:t>10</a:t>
            </a:r>
            <a:r>
              <a:rPr lang="zh-CN" altLang="en-US" sz="1400" dirty="0"/>
              <a:t>年会翻倍；鹿的数量每过</a:t>
            </a:r>
            <a:r>
              <a:rPr lang="en-US" altLang="zh-CN" sz="1400" dirty="0"/>
              <a:t>10</a:t>
            </a:r>
            <a:r>
              <a:rPr lang="zh-CN" altLang="en-US" sz="1400" dirty="0"/>
              <a:t>年会成长</a:t>
            </a:r>
            <a:r>
              <a:rPr lang="en-US" altLang="zh-CN" sz="1400" dirty="0"/>
              <a:t>4</a:t>
            </a:r>
            <a:r>
              <a:rPr lang="zh-CN" altLang="en-US" sz="1400" dirty="0"/>
              <a:t>倍减去狮子的数量；</a:t>
            </a:r>
            <a:endParaRPr lang="en-US" altLang="zh-CN" sz="1400" dirty="0"/>
          </a:p>
          <a:p>
            <a:endParaRPr lang="zh-CN" altLang="en-US" sz="1400" dirty="0"/>
          </a:p>
          <a:p>
            <a:r>
              <a:rPr lang="zh-CN" altLang="en-US" sz="1400" dirty="0"/>
              <a:t>初始鹿和狮子的数量是多少的时候，这两种动物才能共同按协调的比例的增长？</a:t>
            </a:r>
          </a:p>
          <a:p>
            <a:endParaRPr lang="en-US" altLang="zh-CN" sz="1400" dirty="0"/>
          </a:p>
          <a:p>
            <a:r>
              <a:rPr lang="zh-CN" altLang="en-US" sz="1400" dirty="0"/>
              <a:t>提示：假设鹿的数量为</a:t>
            </a:r>
            <a:r>
              <a:rPr lang="en-US" altLang="zh-CN" sz="1400" dirty="0"/>
              <a:t>d</a:t>
            </a:r>
            <a:r>
              <a:rPr lang="zh-CN" altLang="en-US" sz="1400" dirty="0"/>
              <a:t>，</a:t>
            </a:r>
            <a:r>
              <a:rPr lang="en-US" altLang="zh-CN" sz="1400" dirty="0"/>
              <a:t>10</a:t>
            </a:r>
            <a:r>
              <a:rPr lang="zh-CN" altLang="en-US" sz="1400" dirty="0"/>
              <a:t>年后数量为</a:t>
            </a:r>
            <a:r>
              <a:rPr lang="en-US" altLang="zh-CN" sz="1400" dirty="0"/>
              <a:t>d</a:t>
            </a:r>
            <a:r>
              <a:rPr lang="zh-CN" altLang="en-US" sz="1400" dirty="0"/>
              <a:t>‘；假设狮子的数量为</a:t>
            </a:r>
            <a:r>
              <a:rPr lang="en-US" altLang="zh-CN" sz="1400" dirty="0"/>
              <a:t>l</a:t>
            </a:r>
            <a:r>
              <a:rPr lang="zh-CN" altLang="en-US" sz="1400" dirty="0"/>
              <a:t>，</a:t>
            </a:r>
            <a:r>
              <a:rPr lang="en-US" altLang="zh-CN" sz="1400" dirty="0"/>
              <a:t>10</a:t>
            </a:r>
            <a:r>
              <a:rPr lang="zh-CN" altLang="en-US" sz="1400" dirty="0"/>
              <a:t>年后数量为</a:t>
            </a:r>
            <a:r>
              <a:rPr lang="en-US" altLang="zh-CN" sz="1400" dirty="0"/>
              <a:t>l</a:t>
            </a:r>
            <a:r>
              <a:rPr lang="zh-CN" altLang="en-US" sz="1400" dirty="0"/>
              <a:t>‘，那么用矩阵表示：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EFC6F8-754E-6B2F-2C74-5E72350751A3}"/>
                  </a:ext>
                </a:extLst>
              </p:cNvPr>
              <p:cNvSpPr txBox="1"/>
              <p:nvPr/>
            </p:nvSpPr>
            <p:spPr>
              <a:xfrm>
                <a:off x="827584" y="2859782"/>
                <a:ext cx="2376264" cy="1124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zh-CN" sz="1800" dirty="0">
                  <a:solidFill>
                    <a:srgbClr val="474747"/>
                  </a:solidFill>
                  <a:latin typeface="微软雅黑" charset="0"/>
                  <a:ea typeface="微软雅黑" charset="0"/>
                </a:endParaRPr>
              </a:p>
              <a:p>
                <a:pPr eaLnBrk="1" hangingPunct="1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800" i="1" dirty="0" smtClean="0">
                              <a:solidFill>
                                <a:srgbClr val="47474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800" i="1" dirty="0" smtClean="0">
                                  <a:solidFill>
                                    <a:srgbClr val="47474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1800" i="1" dirty="0" smtClean="0">
                                        <a:solidFill>
                                          <a:srgbClr val="47474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i="1" dirty="0" smtClean="0">
                                        <a:solidFill>
                                          <a:srgbClr val="47474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US" altLang="zh-CN" sz="1800" i="0" dirty="0" smtClean="0">
                                        <a:solidFill>
                                          <a:srgbClr val="47474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1800" i="1" dirty="0" smtClean="0">
                                        <a:solidFill>
                                          <a:srgbClr val="47474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i="1" dirty="0" smtClean="0">
                                        <a:solidFill>
                                          <a:srgbClr val="47474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p>
                                    <m:r>
                                      <a:rPr lang="en-US" altLang="zh-CN" sz="1800" i="0" dirty="0" smtClean="0">
                                        <a:solidFill>
                                          <a:srgbClr val="47474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altLang="zh-CN" sz="1800" i="0" dirty="0" smtClean="0">
                          <a:solidFill>
                            <a:srgbClr val="47474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800" i="1" dirty="0" smtClean="0">
                              <a:solidFill>
                                <a:srgbClr val="47474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800" i="1" dirty="0" smtClean="0">
                                  <a:solidFill>
                                    <a:srgbClr val="47474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800" i="0" dirty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sz="1800" i="0" dirty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i="0" dirty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800" i="0" dirty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sz="1800" i="1" dirty="0" smtClean="0">
                              <a:solidFill>
                                <a:srgbClr val="47474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800" i="1" dirty="0" smtClean="0">
                                  <a:solidFill>
                                    <a:srgbClr val="47474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800" i="1" dirty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i="1" dirty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800" dirty="0">
                  <a:solidFill>
                    <a:srgbClr val="474747"/>
                  </a:solidFill>
                  <a:latin typeface="微软雅黑" charset="0"/>
                  <a:ea typeface="微软雅黑" charset="0"/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EFC6F8-754E-6B2F-2C74-5E7235075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2859782"/>
                <a:ext cx="2376264" cy="11242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515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E1708-15FA-390A-0595-A3BF02AB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497AAA30-3FE9-6C72-22E0-83E0F201ACB3}"/>
              </a:ext>
            </a:extLst>
          </p:cNvPr>
          <p:cNvSpPr>
            <a:spLocks/>
          </p:cNvSpPr>
          <p:nvPr/>
        </p:nvSpPr>
        <p:spPr>
          <a:xfrm>
            <a:off x="3133151" y="577890"/>
            <a:ext cx="2877711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 eaLnBrk="1" hangingPunct="1">
              <a:spcAft>
                <a:spcPts val="600"/>
              </a:spcAft>
            </a:pPr>
            <a:r>
              <a:rPr lang="zh-CN" altLang="en-US" sz="3000" b="1" u="none" strike="noStrike" kern="0" cap="none" spc="0" baseline="0" dirty="0">
                <a:solidFill>
                  <a:srgbClr val="C94251"/>
                </a:solidFill>
                <a:latin typeface="微软雅黑" charset="0"/>
                <a:ea typeface="微软雅黑" charset="0"/>
                <a:cs typeface="微软雅黑" charset="0"/>
              </a:rPr>
              <a:t>特征分解的性质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F6CA3E-3939-204E-5F31-C977E480F67B}"/>
              </a:ext>
            </a:extLst>
          </p:cNvPr>
          <p:cNvSpPr txBox="1"/>
          <p:nvPr/>
        </p:nvSpPr>
        <p:spPr>
          <a:xfrm>
            <a:off x="899592" y="1419622"/>
            <a:ext cx="72728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sz="1400" dirty="0"/>
              <a:t>对于下列的矩阵，用</a:t>
            </a:r>
            <a:r>
              <a:rPr lang="en-US" altLang="zh-CN" sz="1400" dirty="0"/>
              <a:t>matplotlib</a:t>
            </a:r>
            <a:r>
              <a:rPr lang="zh-CN" altLang="en-US" sz="1400" dirty="0"/>
              <a:t>画出矢量场图，并画出特征向量的方向：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79B80C-B303-2E7B-1F87-8220BFB27368}"/>
                  </a:ext>
                </a:extLst>
              </p:cNvPr>
              <p:cNvSpPr txBox="1"/>
              <p:nvPr/>
            </p:nvSpPr>
            <p:spPr>
              <a:xfrm>
                <a:off x="765936" y="1573510"/>
                <a:ext cx="2376264" cy="11716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zh-CN" sz="1800" dirty="0">
                  <a:solidFill>
                    <a:srgbClr val="474747"/>
                  </a:solidFill>
                  <a:latin typeface="微软雅黑" charset="0"/>
                  <a:ea typeface="微软雅黑" charset="0"/>
                </a:endParaRPr>
              </a:p>
              <a:p>
                <a:pPr eaLnBrk="1" hangingPunct="1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800" i="1" dirty="0" smtClean="0">
                              <a:solidFill>
                                <a:srgbClr val="47474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800" i="1" dirty="0" smtClean="0">
                                  <a:solidFill>
                                    <a:srgbClr val="47474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1800" i="1" dirty="0" smtClean="0">
                                        <a:solidFill>
                                          <a:srgbClr val="47474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1" dirty="0">
                                        <a:solidFill>
                                          <a:srgbClr val="47474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en-US" altLang="zh-CN" sz="1800" i="0" dirty="0" smtClean="0">
                                        <a:solidFill>
                                          <a:srgbClr val="47474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1800" i="1" dirty="0" smtClean="0">
                                        <a:solidFill>
                                          <a:srgbClr val="47474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 dirty="0" smtClean="0">
                                        <a:solidFill>
                                          <a:srgbClr val="47474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sz="1800" i="0" dirty="0" smtClean="0">
                                        <a:solidFill>
                                          <a:srgbClr val="47474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altLang="zh-CN" sz="1800" i="0" dirty="0" smtClean="0">
                          <a:solidFill>
                            <a:srgbClr val="47474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800" i="1" dirty="0" smtClean="0">
                              <a:solidFill>
                                <a:srgbClr val="47474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800" i="1" dirty="0" smtClean="0">
                                  <a:solidFill>
                                    <a:srgbClr val="47474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800" b="0" i="0" dirty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800" i="0" dirty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b="0" i="0" dirty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800" b="0" i="0" dirty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sz="1800" i="1" dirty="0" smtClean="0">
                              <a:solidFill>
                                <a:srgbClr val="47474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800" i="1" dirty="0" smtClean="0">
                                  <a:solidFill>
                                    <a:srgbClr val="47474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800" b="0" i="1" dirty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b="0" i="1" dirty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800" dirty="0">
                  <a:solidFill>
                    <a:srgbClr val="474747"/>
                  </a:solidFill>
                  <a:latin typeface="微软雅黑" charset="0"/>
                  <a:ea typeface="微软雅黑" charset="0"/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79B80C-B303-2E7B-1F87-8220BFB27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36" y="1573510"/>
                <a:ext cx="2376264" cy="11716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9615311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22240</TotalTime>
  <Words>157</Words>
  <Application>Microsoft Office PowerPoint</Application>
  <PresentationFormat>On-screen Show (16:9)</PresentationFormat>
  <Paragraphs>19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微软雅黑</vt:lpstr>
      <vt:lpstr>Arial</vt:lpstr>
      <vt:lpstr>Calibri</vt:lpstr>
      <vt:lpstr>Cambria Math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52</cp:revision>
  <dcterms:created xsi:type="dcterms:W3CDTF">2016-04-25T01:54:29Z</dcterms:created>
  <dcterms:modified xsi:type="dcterms:W3CDTF">2025-01-14T16:41:32Z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