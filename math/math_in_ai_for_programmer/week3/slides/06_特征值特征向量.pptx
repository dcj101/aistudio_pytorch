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9" r:id="rId1"/>
    <p:sldMasterId id="2147483671" r:id="rId2"/>
  </p:sldMasterIdLst>
  <p:notesMasterIdLst>
    <p:notesMasterId r:id="rId6"/>
  </p:notesMasterIdLst>
  <p:sldIdLst>
    <p:sldId id="324" r:id="rId3"/>
    <p:sldId id="256" r:id="rId4"/>
    <p:sldId id="325" r:id="rId5"/>
  </p:sldIdLst>
  <p:sldSz cx="9144000" cy="5143500" type="screen16x9"/>
  <p:notesSz cx="6858000" cy="9144000"/>
  <p:kinsoku lang="zh-CN" invalStChars="!%),.:;?]}¨·ˇˉ་―‖’”…‰∶、。〃々〉》」』】〕〗！＂＇％），．：；？］｀｜｝～￠" invalEndChars="([{·‘“〈《「『【〔〖（．［｛￡￥"/>
  <p:defaultTextStyle>
    <a:defPPr>
      <a:defRPr lang="zh-CN"/>
    </a:defPPr>
    <a:lvl1pPr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1pPr>
    <a:lvl2pPr marL="4572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2pPr>
    <a:lvl3pPr marL="9144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3pPr>
    <a:lvl4pPr marL="13716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4pPr>
    <a:lvl5pPr marL="18288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5pPr>
    <a:lvl6pPr marL="22860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6pPr>
    <a:lvl7pPr marL="27432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7pPr>
    <a:lvl8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8pPr>
    <a:lvl9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713" userDrawn="1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2074" userDrawn="1">
          <p15:clr>
            <a:srgbClr val="A4A3A4"/>
          </p15:clr>
        </p15:guide>
        <p15:guide id="4" pos="612" userDrawn="1">
          <p15:clr>
            <a:srgbClr val="A4A3A4"/>
          </p15:clr>
        </p15:guide>
        <p15:guide id="5" pos="839" userDrawn="1">
          <p15:clr>
            <a:srgbClr val="A4A3A4"/>
          </p15:clr>
        </p15:guide>
        <p15:guide id="6" orient="horz" pos="2754" userDrawn="1">
          <p15:clr>
            <a:srgbClr val="A4A3A4"/>
          </p15:clr>
        </p15:guide>
        <p15:guide id="7" orient="horz" pos="2890" userDrawn="1">
          <p15:clr>
            <a:srgbClr val="A4A3A4"/>
          </p15:clr>
        </p15:guide>
        <p15:guide id="8" pos="514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useTimings="0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74747"/>
    <a:srgbClr val="C9394A"/>
    <a:srgbClr val="FFFFFF"/>
    <a:srgbClr val="C94251"/>
    <a:srgbClr val="EB030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83" autoAdjust="0"/>
    <p:restoredTop sz="99500" autoAdjust="0"/>
  </p:normalViewPr>
  <p:slideViewPr>
    <p:cSldViewPr>
      <p:cViewPr varScale="1">
        <p:scale>
          <a:sx n="130" d="100"/>
          <a:sy n="130" d="100"/>
        </p:scale>
        <p:origin x="258" y="120"/>
      </p:cViewPr>
      <p:guideLst>
        <p:guide orient="horz" pos="713"/>
        <p:guide pos="2880"/>
        <p:guide orient="horz" pos="2074"/>
        <p:guide pos="612"/>
        <p:guide pos="839"/>
        <p:guide orient="horz" pos="2754"/>
        <p:guide orient="horz" pos="2890"/>
        <p:guide pos="514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7" d="100"/>
          <a:sy n="57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0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‹#›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4" name="文本框"/>
          <p:cNvSpPr>
            <a:spLocks noGrp="1"/>
          </p:cNvSpPr>
          <p:nvPr>
            <p:ph type="hdr"/>
          </p:nvPr>
        </p:nvSpPr>
        <p:spPr>
          <a:xfrm>
            <a:off x="0" y="0"/>
            <a:ext cx="2971799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5" name="文本框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algn="r"/>
            <a:fld id="{CAD2D6BD-DE1B-4B5F-8B41-2702339687B9}" type="datetime1">
              <a:rPr lang="zh-CN" altLang="en-US"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2024/7/19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6" name="对象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</p:sp>
      <p:sp>
        <p:nvSpPr>
          <p:cNvPr id="7" name="矩形"/>
          <p:cNvSpPr>
            <a:spLocks noChangeAspect="1"/>
          </p:cNvSpPr>
          <p:nvPr/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单击此处编辑母版文本样式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第二级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第三级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第四级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第五级</a:t>
            </a:r>
          </a:p>
        </p:txBody>
      </p:sp>
      <p:sp>
        <p:nvSpPr>
          <p:cNvPr id="8" name="文本框"/>
          <p:cNvSpPr>
            <a:spLocks noGrp="1"/>
          </p:cNvSpPr>
          <p:nvPr>
            <p:ph type="ftr" idx="4"/>
          </p:nvPr>
        </p:nvSpPr>
        <p:spPr>
          <a:xfrm>
            <a:off x="0" y="8685213"/>
            <a:ext cx="2971799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1847744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1pPr>
    <a:lvl2pPr marL="4572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2pPr>
    <a:lvl3pPr marL="9144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3pPr>
    <a:lvl4pPr marL="13716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4pPr>
    <a:lvl5pPr marL="18288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5pPr>
    <a:lvl6pPr marL="22860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6pPr>
    <a:lvl7pPr marL="27432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7pPr>
    <a:lvl8pPr marL="32004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8pPr>
    <a:lvl9pPr marL="32004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2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23586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3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45733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685800" y="1597818"/>
            <a:ext cx="7772400" cy="110251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371600" y="2914649"/>
            <a:ext cx="6400800" cy="1314449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2024/7/19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85796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2024/7/19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9374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2024/7/19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0923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2024/7/19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3384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文本框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2024/7/19</a:t>
            </a:fld>
            <a:endParaRPr lang="zh-CN" altLang="en-US"/>
          </a:p>
        </p:txBody>
      </p:sp>
      <p:sp>
        <p:nvSpPr>
          <p:cNvPr id="8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701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2024/7/19</a:t>
            </a:fld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255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2024/7/19</a:t>
            </a:fld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6360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2024/7/19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9182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2024/7/19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4015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2024/7/19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576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2024/7/19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67749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685800" y="1597818"/>
            <a:ext cx="7772400" cy="110251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371600" y="2914649"/>
            <a:ext cx="6400800" cy="1314449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2024/7/19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68711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2024/7/19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40844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2024/7/19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29389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2024/7/19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38054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文本框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2024/7/19</a:t>
            </a:fld>
            <a:endParaRPr lang="zh-CN" altLang="en-US"/>
          </a:p>
        </p:txBody>
      </p:sp>
      <p:sp>
        <p:nvSpPr>
          <p:cNvPr id="8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71773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2024/7/19</a:t>
            </a:fld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009586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2024/7/19</a:t>
            </a:fld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978657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2024/7/19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05852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2024/7/19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95814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2024/7/19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5063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2024/7/19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87689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06374"/>
            <a:ext cx="8229600" cy="85725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zh-CN" altLang="en-US">
                <a:sym typeface="Calibri" pitchFamily="34" charset="0"/>
              </a:rPr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zh-CN" altLang="en-US">
                <a:sym typeface="Calibri" pitchFamily="34" charset="0"/>
              </a:rPr>
              <a:t>单击此处编辑母版文本样式</a:t>
            </a:r>
            <a:endParaRPr lang="en-US" altLang="zh-CN">
              <a:sym typeface="Calibri" pitchFamily="34" charset="0"/>
            </a:endParaRPr>
          </a:p>
          <a:p>
            <a:pPr lvl="1"/>
            <a:r>
              <a:rPr lang="zh-CN" altLang="en-US">
                <a:sym typeface="Calibri" pitchFamily="34" charset="0"/>
              </a:rPr>
              <a:t>第二级</a:t>
            </a:r>
            <a:endParaRPr lang="en-US" altLang="zh-CN">
              <a:sym typeface="Calibri" pitchFamily="34" charset="0"/>
            </a:endParaRPr>
          </a:p>
          <a:p>
            <a:pPr lvl="2"/>
            <a:r>
              <a:rPr lang="zh-CN" altLang="en-US">
                <a:sym typeface="Calibri" pitchFamily="34" charset="0"/>
              </a:rPr>
              <a:t>第三级</a:t>
            </a:r>
            <a:endParaRPr lang="en-US" altLang="zh-CN">
              <a:sym typeface="Calibri" pitchFamily="34" charset="0"/>
            </a:endParaRPr>
          </a:p>
          <a:p>
            <a:pPr lvl="3"/>
            <a:r>
              <a:rPr lang="zh-CN" altLang="en-US">
                <a:sym typeface="Calibri" pitchFamily="34" charset="0"/>
              </a:rPr>
              <a:t>第四级</a:t>
            </a:r>
            <a:endParaRPr lang="en-US" altLang="zh-CN">
              <a:sym typeface="Calibri" pitchFamily="34" charset="0"/>
            </a:endParaRPr>
          </a:p>
          <a:p>
            <a:pPr lvl="4"/>
            <a:r>
              <a:rPr lang="zh-CN" altLang="en-US">
                <a:sym typeface="Calibri" pitchFamily="34" charset="0"/>
              </a:rPr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942944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lvl1pPr algn="ctr" defTabSz="914400" eaLnBrk="1" fontAlgn="base" hangingPunct="1">
        <a:spcBef>
          <a:spcPts val="0"/>
        </a:spcBef>
        <a:spcAft>
          <a:spcPts val="0"/>
        </a:spcAft>
        <a:buNone/>
        <a:defRPr sz="3000" b="1">
          <a:solidFill>
            <a:srgbClr val="C94251"/>
          </a:solidFill>
          <a:latin typeface="微软雅黑" charset="0"/>
          <a:ea typeface="微软雅黑" charset="0"/>
          <a:cs typeface="微软雅黑" charset="0"/>
        </a:defRPr>
      </a:lvl1pPr>
    </p:titleStyle>
    <p:bodyStyle>
      <a:lvl1pPr marL="342900" indent="-3429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2000" b="1">
          <a:solidFill>
            <a:srgbClr val="474747"/>
          </a:solidFill>
          <a:latin typeface="微软雅黑" charset="0"/>
          <a:ea typeface="微软雅黑" charset="0"/>
          <a:cs typeface="微软雅黑" charset="0"/>
        </a:defRPr>
      </a:lvl1pPr>
      <a:lvl2pPr marL="742950" indent="-28575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2pPr>
      <a:lvl3pPr marL="1143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1500" b="1">
          <a:solidFill>
            <a:srgbClr val="212121"/>
          </a:solidFill>
          <a:latin typeface="微软雅黑" charset="0"/>
          <a:ea typeface="微软雅黑" charset="0"/>
        </a:defRPr>
      </a:lvl3pPr>
      <a:lvl4pPr marL="16002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4pPr>
      <a:lvl5pPr marL="20574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5pPr>
      <a:lvl6pPr marL="25146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6pPr>
      <a:lvl7pPr marL="29718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7pPr>
      <a:lvl8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8pPr>
      <a:lvl9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9pPr>
    </p:bodyStyle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"/>
          <p:cNvSpPr>
            <a:spLocks noGrp="1"/>
          </p:cNvSpPr>
          <p:nvPr>
            <p:ph type="title"/>
          </p:nvPr>
        </p:nvSpPr>
        <p:spPr>
          <a:xfrm>
            <a:off x="457200" y="206374"/>
            <a:ext cx="8229600" cy="85725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1" name="文本框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zh-CN" altLang="en-US" sz="2200">
                <a:solidFill>
                  <a:srgbClr val="212121"/>
                </a:solidFill>
              </a:rPr>
              <a:t>单击此处编辑母版文本样式</a:t>
            </a:r>
            <a:endParaRPr lang="en-US" altLang="zh-CN" sz="2200">
              <a:solidFill>
                <a:srgbClr val="212121"/>
              </a:solidFill>
            </a:endParaRPr>
          </a:p>
          <a:p>
            <a:pPr lvl="1"/>
            <a:r>
              <a:rPr lang="zh-CN" altLang="en-US" sz="2000">
                <a:solidFill>
                  <a:srgbClr val="474747"/>
                </a:solidFill>
              </a:rPr>
              <a:t>第二级</a:t>
            </a:r>
            <a:endParaRPr lang="en-US" altLang="zh-CN" sz="2000">
              <a:solidFill>
                <a:srgbClr val="474747"/>
              </a:solidFill>
            </a:endParaRPr>
          </a:p>
          <a:p>
            <a:pPr lvl="2"/>
            <a:r>
              <a:rPr lang="zh-CN" altLang="en-US"/>
              <a:t>第三级</a:t>
            </a:r>
            <a:endParaRPr lang="en-US" altLang="zh-CN"/>
          </a:p>
          <a:p>
            <a:pPr lvl="3"/>
            <a:r>
              <a:rPr lang="zh-CN" altLang="en-US"/>
              <a:t>第四级</a:t>
            </a:r>
            <a:endParaRPr lang="en-US" altLang="zh-CN"/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128037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sldNum="0" hdr="0" ftr="0" dt="0"/>
  <p:txStyles>
    <p:titleStyle>
      <a:lvl1pPr algn="ctr" defTabSz="914400" eaLnBrk="1" fontAlgn="base" hangingPunct="1">
        <a:spcBef>
          <a:spcPts val="0"/>
        </a:spcBef>
        <a:spcAft>
          <a:spcPts val="0"/>
        </a:spcAft>
        <a:buNone/>
        <a:defRPr sz="3000" b="1">
          <a:solidFill>
            <a:srgbClr val="C94251"/>
          </a:solidFill>
          <a:latin typeface="微软雅黑" charset="0"/>
          <a:ea typeface="微软雅黑" charset="0"/>
          <a:cs typeface="微软雅黑" charset="0"/>
        </a:defRPr>
      </a:lvl1pPr>
    </p:titleStyle>
    <p:bodyStyle>
      <a:lvl1pPr marL="342900" indent="-3429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2000" b="1">
          <a:solidFill>
            <a:srgbClr val="474747"/>
          </a:solidFill>
          <a:latin typeface="微软雅黑" charset="0"/>
          <a:ea typeface="微软雅黑" charset="0"/>
          <a:cs typeface="微软雅黑" charset="0"/>
        </a:defRPr>
      </a:lvl1pPr>
      <a:lvl2pPr marL="742950" indent="-28575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2pPr>
      <a:lvl3pPr marL="1143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1500" b="1">
          <a:solidFill>
            <a:srgbClr val="212121"/>
          </a:solidFill>
          <a:latin typeface="微软雅黑" charset="0"/>
          <a:ea typeface="微软雅黑" charset="0"/>
        </a:defRPr>
      </a:lvl3pPr>
      <a:lvl4pPr marL="16002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4pPr>
      <a:lvl5pPr marL="20574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5pPr>
      <a:lvl6pPr marL="25146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6pPr>
      <a:lvl7pPr marL="29718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7pPr>
      <a:lvl8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8pPr>
      <a:lvl9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9pPr>
    </p:bodyStyle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"/>
          <p:cNvSpPr>
            <a:spLocks/>
          </p:cNvSpPr>
          <p:nvPr/>
        </p:nvSpPr>
        <p:spPr>
          <a:xfrm>
            <a:off x="0" y="2283718"/>
            <a:ext cx="9144000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线性代数：特征分解</a:t>
            </a:r>
            <a:endParaRPr lang="en-US" altLang="zh-CN" sz="3000" b="1" kern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90374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"/>
          <p:cNvSpPr>
            <a:spLocks/>
          </p:cNvSpPr>
          <p:nvPr/>
        </p:nvSpPr>
        <p:spPr>
          <a:xfrm>
            <a:off x="525548" y="1492250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什么是特征分解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7" name="矩形"/>
          <p:cNvSpPr>
            <a:spLocks/>
          </p:cNvSpPr>
          <p:nvPr/>
        </p:nvSpPr>
        <p:spPr>
          <a:xfrm>
            <a:off x="2683501" y="577890"/>
            <a:ext cx="3776995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线性代数：特征分解</a:t>
            </a:r>
            <a:endParaRPr lang="en-US" altLang="zh-CN" sz="3000" b="1" kern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3" name="矩形">
            <a:extLst>
              <a:ext uri="{FF2B5EF4-FFF2-40B4-BE49-F238E27FC236}">
                <a16:creationId xmlns:a16="http://schemas.microsoft.com/office/drawing/2014/main" id="{C726D6B3-4F5B-7B91-FBA6-294BB6E02C9D}"/>
              </a:ext>
            </a:extLst>
          </p:cNvPr>
          <p:cNvSpPr>
            <a:spLocks/>
          </p:cNvSpPr>
          <p:nvPr/>
        </p:nvSpPr>
        <p:spPr>
          <a:xfrm>
            <a:off x="525548" y="4124727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特征分解的作用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2" name="矩形">
            <a:extLst>
              <a:ext uri="{FF2B5EF4-FFF2-40B4-BE49-F238E27FC236}">
                <a16:creationId xmlns:a16="http://schemas.microsoft.com/office/drawing/2014/main" id="{3F7FDE9D-3419-1FCB-974B-054A006BCE8E}"/>
              </a:ext>
            </a:extLst>
          </p:cNvPr>
          <p:cNvSpPr>
            <a:spLocks/>
          </p:cNvSpPr>
          <p:nvPr/>
        </p:nvSpPr>
        <p:spPr>
          <a:xfrm>
            <a:off x="525548" y="3247234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直观理解特征分解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4" name="矩形">
            <a:extLst>
              <a:ext uri="{FF2B5EF4-FFF2-40B4-BE49-F238E27FC236}">
                <a16:creationId xmlns:a16="http://schemas.microsoft.com/office/drawing/2014/main" id="{1DF79B89-1795-77D6-B098-02469BB2D104}"/>
              </a:ext>
            </a:extLst>
          </p:cNvPr>
          <p:cNvSpPr>
            <a:spLocks/>
          </p:cNvSpPr>
          <p:nvPr/>
        </p:nvSpPr>
        <p:spPr>
          <a:xfrm>
            <a:off x="525548" y="2369742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代码调用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94237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"/>
          <p:cNvSpPr>
            <a:spLocks/>
          </p:cNvSpPr>
          <p:nvPr/>
        </p:nvSpPr>
        <p:spPr>
          <a:xfrm>
            <a:off x="525548" y="1492250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当且仅当一个矩阵的所有特征值都是零的时候，矩阵是奇异的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7" name="矩形"/>
          <p:cNvSpPr>
            <a:spLocks/>
          </p:cNvSpPr>
          <p:nvPr/>
        </p:nvSpPr>
        <p:spPr>
          <a:xfrm>
            <a:off x="2940783" y="577890"/>
            <a:ext cx="3262433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特征分解一些性质</a:t>
            </a:r>
            <a:endParaRPr lang="en-US" altLang="zh-CN" sz="3000" b="1" kern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3" name="矩形">
            <a:extLst>
              <a:ext uri="{FF2B5EF4-FFF2-40B4-BE49-F238E27FC236}">
                <a16:creationId xmlns:a16="http://schemas.microsoft.com/office/drawing/2014/main" id="{C726D6B3-4F5B-7B91-FBA6-294BB6E02C9D}"/>
              </a:ext>
            </a:extLst>
          </p:cNvPr>
          <p:cNvSpPr>
            <a:spLocks/>
          </p:cNvSpPr>
          <p:nvPr/>
        </p:nvSpPr>
        <p:spPr>
          <a:xfrm>
            <a:off x="525548" y="4124727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en-US" altLang="zh-CN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A</a:t>
            </a:r>
            <a:r>
              <a:rPr lang="en-US" altLang="zh-CN" sz="2000" baseline="30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-1</a:t>
            </a:r>
            <a:r>
              <a:rPr lang="en-US" altLang="zh-CN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 </a:t>
            </a: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的特征向量与 </a:t>
            </a:r>
            <a:r>
              <a:rPr lang="en-US" altLang="zh-CN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A </a:t>
            </a: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的特征向量相同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2" name="矩形">
            <a:extLst>
              <a:ext uri="{FF2B5EF4-FFF2-40B4-BE49-F238E27FC236}">
                <a16:creationId xmlns:a16="http://schemas.microsoft.com/office/drawing/2014/main" id="{3F7FDE9D-3419-1FCB-974B-054A006BCE8E}"/>
              </a:ext>
            </a:extLst>
          </p:cNvPr>
          <p:cNvSpPr>
            <a:spLocks/>
          </p:cNvSpPr>
          <p:nvPr/>
        </p:nvSpPr>
        <p:spPr>
          <a:xfrm>
            <a:off x="525548" y="2654600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矩阵 </a:t>
            </a:r>
            <a:r>
              <a:rPr lang="en-US" altLang="zh-CN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A </a:t>
            </a: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的迹等于其特征值之和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4" name="矩形">
            <a:extLst>
              <a:ext uri="{FF2B5EF4-FFF2-40B4-BE49-F238E27FC236}">
                <a16:creationId xmlns:a16="http://schemas.microsoft.com/office/drawing/2014/main" id="{1DF79B89-1795-77D6-B098-02469BB2D104}"/>
              </a:ext>
            </a:extLst>
          </p:cNvPr>
          <p:cNvSpPr>
            <a:spLocks/>
          </p:cNvSpPr>
          <p:nvPr/>
        </p:nvSpPr>
        <p:spPr>
          <a:xfrm>
            <a:off x="525548" y="2073425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矩阵 </a:t>
            </a:r>
            <a:r>
              <a:rPr lang="en-US" altLang="zh-CN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A </a:t>
            </a: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的行列式等于其特征值的乘积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5" name="矩形">
            <a:extLst>
              <a:ext uri="{FF2B5EF4-FFF2-40B4-BE49-F238E27FC236}">
                <a16:creationId xmlns:a16="http://schemas.microsoft.com/office/drawing/2014/main" id="{016A691B-35AF-093F-803E-C897B9E465B7}"/>
              </a:ext>
            </a:extLst>
          </p:cNvPr>
          <p:cNvSpPr>
            <a:spLocks/>
          </p:cNvSpPr>
          <p:nvPr/>
        </p:nvSpPr>
        <p:spPr>
          <a:xfrm>
            <a:off x="525548" y="3235775"/>
            <a:ext cx="8565279" cy="707886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如果 </a:t>
            </a:r>
            <a:r>
              <a:rPr lang="en-US" altLang="zh-CN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A </a:t>
            </a: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的特征值是</a:t>
            </a:r>
            <a:r>
              <a:rPr lang="el-GR" altLang="zh-CN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λ</a:t>
            </a:r>
            <a:r>
              <a:rPr lang="en-US" altLang="zh-CN" sz="2000" baseline="-25000" dirty="0" err="1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i</a:t>
            </a: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，且 </a:t>
            </a:r>
            <a:r>
              <a:rPr lang="en-US" altLang="zh-CN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A </a:t>
            </a: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是非奇异的，那么 </a:t>
            </a:r>
            <a:r>
              <a:rPr lang="en-US" altLang="zh-CN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A</a:t>
            </a:r>
            <a:r>
              <a:rPr lang="en-US" altLang="zh-CN" sz="2000" baseline="30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-1</a:t>
            </a:r>
            <a:r>
              <a:rPr lang="en-US" altLang="zh-CN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 </a:t>
            </a: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的特征值就是</a:t>
            </a:r>
            <a:r>
              <a:rPr lang="en-US" altLang="zh-CN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1/A</a:t>
            </a:r>
            <a:r>
              <a:rPr lang="en-US" altLang="zh-CN" sz="2000" baseline="-25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i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4279569"/>
      </p:ext>
    </p:extLst>
  </p:cSld>
  <p:clrMapOvr>
    <a:masterClrMapping/>
  </p:clrMapOvr>
</p:sld>
</file>

<file path=ppt/theme/theme1.xml><?xml version="1.0" encoding="utf-8"?>
<a:theme xmlns:a="http://schemas.openxmlformats.org/drawingml/2006/main" name="讲师ppt模板20141215">
  <a:themeElements>
    <a:clrScheme name="讲师ppt模板20141215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讲师ppt模板20141215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讲师ppt模板20141215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讲师ppt模板20141215">
  <a:themeElements>
    <a:clrScheme name="讲师ppt模板20141215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讲师ppt模板20141215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讲师ppt模板20141215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notesMaster1">
  <a:themeElements>
    <a:clrScheme name="notesMaster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notesMaster1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notesMaster1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Normal.eit</Template>
  <TotalTime>35921</TotalTime>
  <Words>91</Words>
  <Application>Microsoft Office PowerPoint</Application>
  <PresentationFormat>On-screen Show (16:9)</PresentationFormat>
  <Paragraphs>14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微软雅黑</vt:lpstr>
      <vt:lpstr>Arial</vt:lpstr>
      <vt:lpstr>Calibri</vt:lpstr>
      <vt:lpstr>Wingdings</vt:lpstr>
      <vt:lpstr>讲师ppt模板20141215</vt:lpstr>
      <vt:lpstr>讲师ppt模板20141215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open</dc:creator>
  <cp:lastModifiedBy>Guo, Ying</cp:lastModifiedBy>
  <cp:revision>85</cp:revision>
  <dcterms:created xsi:type="dcterms:W3CDTF">2016-04-25T01:54:29Z</dcterms:created>
  <dcterms:modified xsi:type="dcterms:W3CDTF">2024-07-20T14:59:34Z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2052-9.1.0.4468</vt:lpwstr>
  </property>
</Properties>
</file>