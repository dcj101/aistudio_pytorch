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11"/>
  </p:notesMasterIdLst>
  <p:sldIdLst>
    <p:sldId id="324" r:id="rId3"/>
    <p:sldId id="256" r:id="rId4"/>
    <p:sldId id="325" r:id="rId5"/>
    <p:sldId id="328" r:id="rId6"/>
    <p:sldId id="327" r:id="rId7"/>
    <p:sldId id="330" r:id="rId8"/>
    <p:sldId id="329" r:id="rId9"/>
    <p:sldId id="326" r:id="rId10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074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289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3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258" y="120"/>
      </p:cViewPr>
      <p:guideLst>
        <p:guide orient="horz" pos="713"/>
        <p:guide pos="2880"/>
        <p:guide orient="horz" pos="2074"/>
        <p:guide pos="612"/>
        <p:guide pos="839"/>
        <p:guide orient="horz" pos="2754"/>
        <p:guide orient="horz" pos="289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2024/7/26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358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573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719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257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6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9746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7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189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8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523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2024/7/26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2024/7/26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2024/7/26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2024/7/26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2024/7/26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2024/7/26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2024/7/26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2024/7/26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2024/7/26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2024/7/26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2024/7/26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2024/7/26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线性代数：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SVD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奇异值分解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03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什么是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SVD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分解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2150502" y="577890"/>
            <a:ext cx="4842992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线性代数：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SVD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奇异值分解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伪逆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3F7FDE9D-3419-1FCB-974B-054A006BCE8E}"/>
              </a:ext>
            </a:extLst>
          </p:cNvPr>
          <p:cNvSpPr>
            <a:spLocks/>
          </p:cNvSpPr>
          <p:nvPr/>
        </p:nvSpPr>
        <p:spPr>
          <a:xfrm>
            <a:off x="525548" y="2808488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SVD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分解的作用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15036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代码调用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矩形">
            <a:extLst>
              <a:ext uri="{FF2B5EF4-FFF2-40B4-BE49-F238E27FC236}">
                <a16:creationId xmlns:a16="http://schemas.microsoft.com/office/drawing/2014/main" id="{F4DA23BE-F4CC-83A8-C641-F344C41F5066}"/>
              </a:ext>
            </a:extLst>
          </p:cNvPr>
          <p:cNvSpPr>
            <a:spLocks/>
          </p:cNvSpPr>
          <p:nvPr/>
        </p:nvSpPr>
        <p:spPr>
          <a:xfrm>
            <a:off x="525548" y="346660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从特征分解求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SVD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分解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423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"/>
              <p:cNvSpPr>
                <a:spLocks/>
              </p:cNvSpPr>
              <p:nvPr/>
            </p:nvSpPr>
            <p:spPr>
              <a:xfrm>
                <a:off x="525548" y="1489493"/>
                <a:ext cx="8565279" cy="405624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a:rPr lang="zh-CN" altLang="en-US" sz="2000" dirty="0">
                        <a:solidFill>
                          <a:srgbClr val="474747"/>
                        </a:solidFill>
                        <a:latin typeface="微软雅黑" charset="0"/>
                        <a:ea typeface="微软雅黑" charset="0"/>
                        <a:cs typeface="微软雅黑" charset="0"/>
                      </a:rPr>
                      <m:t>𝐴</m:t>
                    </m:r>
                    <m:r>
                      <a:rPr lang="zh-CN" altLang="en-US" sz="2000" dirty="0">
                        <a:solidFill>
                          <a:srgbClr val="474747"/>
                        </a:solidFill>
                        <a:latin typeface="微软雅黑" charset="0"/>
                        <a:ea typeface="微软雅黑" charset="0"/>
                        <a:cs typeface="微软雅黑" charset="0"/>
                      </a:rPr>
                      <m:t>=</m:t>
                    </m:r>
                    <m:r>
                      <a:rPr lang="zh-CN" altLang="en-US" sz="2000" dirty="0">
                        <a:solidFill>
                          <a:srgbClr val="474747"/>
                        </a:solidFill>
                        <a:latin typeface="微软雅黑" charset="0"/>
                        <a:ea typeface="微软雅黑" charset="0"/>
                        <a:cs typeface="微软雅黑" charset="0"/>
                      </a:rPr>
                      <m:t>𝑈</m:t>
                    </m:r>
                    <m:r>
                      <a:rPr lang="zh-CN" altLang="en-US" sz="2000" dirty="0">
                        <a:solidFill>
                          <a:srgbClr val="474747"/>
                        </a:solidFill>
                        <a:latin typeface="微软雅黑" charset="0"/>
                        <a:ea typeface="微软雅黑" charset="0"/>
                        <a:cs typeface="微软雅黑" charset="0"/>
                      </a:rPr>
                      <m:t>𝛴</m:t>
                    </m:r>
                    <m:sSup>
                      <m:sSupPr>
                        <m:ctrlPr>
                          <a:rPr lang="zh-CN" altLang="en-US" sz="2000" dirty="0">
                            <a:solidFill>
                              <a:srgbClr val="474747"/>
                            </a:solidFill>
                            <a:latin typeface="微软雅黑" charset="0"/>
                            <a:ea typeface="微软雅黑" charset="0"/>
                            <a:cs typeface="微软雅黑" charset="0"/>
                          </a:rPr>
                        </m:ctrlPr>
                      </m:sSupPr>
                      <m:e>
                        <m:r>
                          <a:rPr lang="zh-CN" altLang="en-US" sz="2000" dirty="0">
                            <a:solidFill>
                              <a:srgbClr val="474747"/>
                            </a:solidFill>
                            <a:latin typeface="微软雅黑" charset="0"/>
                            <a:ea typeface="微软雅黑" charset="0"/>
                            <a:cs typeface="微软雅黑" charset="0"/>
                          </a:rPr>
                          <m:t>𝑉</m:t>
                        </m:r>
                      </m:e>
                      <m:sup>
                        <m:r>
                          <a:rPr lang="zh-CN" altLang="en-US" sz="2000" dirty="0">
                            <a:solidFill>
                              <a:srgbClr val="474747"/>
                            </a:solidFill>
                            <a:latin typeface="微软雅黑" charset="0"/>
                            <a:ea typeface="微软雅黑" charset="0"/>
                            <a:cs typeface="微软雅黑" charset="0"/>
                          </a:rPr>
                          <m:t>𝑇</m:t>
                        </m:r>
                      </m:sup>
                    </m:sSup>
                  </m:oMath>
                </a14:m>
                <a:endParaRPr lang="zh-CN" altLang="en-US" sz="2000" dirty="0">
                  <a:solidFill>
                    <a:srgbClr val="474747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mc:Choice>
        <mc:Fallback>
          <p:sp>
            <p:nvSpPr>
              <p:cNvPr id="15" name="矩形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1489493"/>
                <a:ext cx="8565279" cy="405624"/>
              </a:xfrm>
              <a:prstGeom prst="rect">
                <a:avLst/>
              </a:prstGeom>
              <a:blipFill>
                <a:blip r:embed="rId3"/>
                <a:stretch>
                  <a:fillRect t="-1493" b="-22388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"/>
          <p:cNvSpPr>
            <a:spLocks/>
          </p:cNvSpPr>
          <p:nvPr/>
        </p:nvSpPr>
        <p:spPr>
          <a:xfrm>
            <a:off x="3112304" y="577890"/>
            <a:ext cx="291938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什么是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SVD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分解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奇异值分解是线性代数的亮点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3F7FDE9D-3419-1FCB-974B-054A006BCE8E}"/>
              </a:ext>
            </a:extLst>
          </p:cNvPr>
          <p:cNvSpPr>
            <a:spLocks/>
          </p:cNvSpPr>
          <p:nvPr/>
        </p:nvSpPr>
        <p:spPr>
          <a:xfrm>
            <a:off x="525548" y="3248153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矩阵分解来理解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SVD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37158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用线性变换理解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SVD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279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"/>
              <p:cNvSpPr>
                <a:spLocks/>
              </p:cNvSpPr>
              <p:nvPr/>
            </p:nvSpPr>
            <p:spPr>
              <a:xfrm>
                <a:off x="525548" y="1489493"/>
                <a:ext cx="8565279" cy="405624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a:rPr lang="zh-CN" altLang="en-US" sz="2000" i="1" dirty="0">
                        <a:solidFill>
                          <a:srgbClr val="474747"/>
                        </a:solidFill>
                        <a:latin typeface="微软雅黑" charset="0"/>
                        <a:ea typeface="微软雅黑" charset="0"/>
                        <a:cs typeface="微软雅黑" charset="0"/>
                      </a:rPr>
                      <m:t>普遍性和实用性</m:t>
                    </m:r>
                  </m:oMath>
                </a14:m>
                <a:endParaRPr lang="zh-CN" altLang="en-US" sz="2000" dirty="0">
                  <a:solidFill>
                    <a:srgbClr val="474747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mc:Choice>
        <mc:Fallback>
          <p:sp>
            <p:nvSpPr>
              <p:cNvPr id="15" name="矩形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1489493"/>
                <a:ext cx="8565279" cy="405624"/>
              </a:xfrm>
              <a:prstGeom prst="rect">
                <a:avLst/>
              </a:prstGeom>
              <a:blipFill>
                <a:blip r:embed="rId3"/>
                <a:stretch>
                  <a:fillRect t="-1493" b="-22388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"/>
          <p:cNvSpPr>
            <a:spLocks/>
          </p:cNvSpPr>
          <p:nvPr/>
        </p:nvSpPr>
        <p:spPr>
          <a:xfrm>
            <a:off x="1978985" y="577890"/>
            <a:ext cx="5186036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奇异值分解是线性代数的亮点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数学上的优美性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3F7FDE9D-3419-1FCB-974B-054A006BCE8E}"/>
              </a:ext>
            </a:extLst>
          </p:cNvPr>
          <p:cNvSpPr>
            <a:spLocks/>
          </p:cNvSpPr>
          <p:nvPr/>
        </p:nvSpPr>
        <p:spPr>
          <a:xfrm>
            <a:off x="525548" y="3248153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与其他概念的关联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37158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揭示矩阵的内在结构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833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89493"/>
            <a:ext cx="8565279" cy="40562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降维 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/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</a:rPr>
              <a:t>数据压缩</a:t>
            </a: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497024" y="577890"/>
            <a:ext cx="2149948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SVD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的用处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例子：图像压缩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3F7FDE9D-3419-1FCB-974B-054A006BCE8E}"/>
              </a:ext>
            </a:extLst>
          </p:cNvPr>
          <p:cNvSpPr>
            <a:spLocks/>
          </p:cNvSpPr>
          <p:nvPr/>
        </p:nvSpPr>
        <p:spPr>
          <a:xfrm>
            <a:off x="525548" y="280986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神经网络正则化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(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对付过度参数化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)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15243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降噪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矩形">
            <a:extLst>
              <a:ext uri="{FF2B5EF4-FFF2-40B4-BE49-F238E27FC236}">
                <a16:creationId xmlns:a16="http://schemas.microsoft.com/office/drawing/2014/main" id="{016A691B-35AF-093F-803E-C897B9E465B7}"/>
              </a:ext>
            </a:extLst>
          </p:cNvPr>
          <p:cNvSpPr>
            <a:spLocks/>
          </p:cNvSpPr>
          <p:nvPr/>
        </p:nvSpPr>
        <p:spPr>
          <a:xfrm>
            <a:off x="525548" y="346729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其它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…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投资分析，自然语言处理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546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"/>
          <p:cNvSpPr>
            <a:spLocks/>
          </p:cNvSpPr>
          <p:nvPr/>
        </p:nvSpPr>
        <p:spPr>
          <a:xfrm>
            <a:off x="2135280" y="577890"/>
            <a:ext cx="487345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理解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SVD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与特征分解的关系</a:t>
            </a:r>
          </a:p>
        </p:txBody>
      </p:sp>
    </p:spTree>
    <p:extLst>
      <p:ext uri="{BB962C8B-B14F-4D97-AF65-F5344CB8AC3E}">
        <p14:creationId xmlns:p14="http://schemas.microsoft.com/office/powerpoint/2010/main" val="247578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"/>
          <p:cNvSpPr>
            <a:spLocks/>
          </p:cNvSpPr>
          <p:nvPr/>
        </p:nvSpPr>
        <p:spPr>
          <a:xfrm>
            <a:off x="3304667" y="577890"/>
            <a:ext cx="2534668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如何求解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SVD</a:t>
            </a:r>
            <a:endParaRPr lang="zh-CN" altLang="en-US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255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"/>
              <p:cNvSpPr>
                <a:spLocks/>
              </p:cNvSpPr>
              <p:nvPr/>
            </p:nvSpPr>
            <p:spPr>
              <a:xfrm>
                <a:off x="525548" y="1489493"/>
                <a:ext cx="8565279" cy="405624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0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0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000" b="0" i="0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2000" b="0" i="0" dirty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0" dirty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sz="2000" b="0" i="0" dirty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altLang="zh-CN" sz="2000" b="0" i="0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0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zh-CN" sz="2000" b="0" i="0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2000" b="0" i="0" dirty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altLang="zh-CN" sz="2000" b="0" i="0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0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altLang="zh-CN" sz="2000" b="0" i="0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zh-CN" altLang="en-US" sz="2000" dirty="0">
                  <a:solidFill>
                    <a:srgbClr val="474747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mc:Choice>
        <mc:Fallback>
          <p:sp>
            <p:nvSpPr>
              <p:cNvPr id="15" name="矩形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1489493"/>
                <a:ext cx="8565279" cy="405624"/>
              </a:xfrm>
              <a:prstGeom prst="rect">
                <a:avLst/>
              </a:prstGeom>
              <a:blipFill>
                <a:blip r:embed="rId3"/>
                <a:stretch>
                  <a:fillRect t="-2985" b="-22388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"/>
          <p:cNvSpPr>
            <a:spLocks/>
          </p:cNvSpPr>
          <p:nvPr/>
        </p:nvSpPr>
        <p:spPr>
          <a:xfrm>
            <a:off x="4094945" y="577890"/>
            <a:ext cx="954107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伪逆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伪逆求最小二乘解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3F7FDE9D-3419-1FCB-974B-054A006BCE8E}"/>
              </a:ext>
            </a:extLst>
          </p:cNvPr>
          <p:cNvSpPr>
            <a:spLocks/>
          </p:cNvSpPr>
          <p:nvPr/>
        </p:nvSpPr>
        <p:spPr>
          <a:xfrm>
            <a:off x="525548" y="346729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代码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80986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推导过程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矩形">
            <a:extLst>
              <a:ext uri="{FF2B5EF4-FFF2-40B4-BE49-F238E27FC236}">
                <a16:creationId xmlns:a16="http://schemas.microsoft.com/office/drawing/2014/main" id="{016A691B-35AF-093F-803E-C897B9E465B7}"/>
              </a:ext>
            </a:extLst>
          </p:cNvPr>
          <p:cNvSpPr>
            <a:spLocks/>
          </p:cNvSpPr>
          <p:nvPr/>
        </p:nvSpPr>
        <p:spPr>
          <a:xfrm>
            <a:off x="525548" y="215243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用处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420383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45725</TotalTime>
  <Words>135</Words>
  <Application>Microsoft Office PowerPoint</Application>
  <PresentationFormat>On-screen Show (16:9)</PresentationFormat>
  <Paragraphs>38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微软雅黑</vt:lpstr>
      <vt:lpstr>Arial</vt:lpstr>
      <vt:lpstr>Calibri</vt:lpstr>
      <vt:lpstr>Cambria Math</vt:lpstr>
      <vt:lpstr>Wingdings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90</cp:revision>
  <dcterms:created xsi:type="dcterms:W3CDTF">2016-04-25T01:54:29Z</dcterms:created>
  <dcterms:modified xsi:type="dcterms:W3CDTF">2024-08-02T04:36:26Z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