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9" r:id="rId1"/>
    <p:sldMasterId id="2147483671" r:id="rId2"/>
  </p:sldMasterIdLst>
  <p:notesMasterIdLst>
    <p:notesMasterId r:id="rId8"/>
  </p:notesMasterIdLst>
  <p:sldIdLst>
    <p:sldId id="299" r:id="rId3"/>
    <p:sldId id="325" r:id="rId4"/>
    <p:sldId id="327" r:id="rId5"/>
    <p:sldId id="328" r:id="rId6"/>
    <p:sldId id="329" r:id="rId7"/>
  </p:sldIdLst>
  <p:sldSz cx="9144000" cy="5143500" type="screen16x9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1pPr>
    <a:lvl2pPr marL="4572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2pPr>
    <a:lvl3pPr marL="9144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3pPr>
    <a:lvl4pPr marL="13716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4pPr>
    <a:lvl5pPr marL="18288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713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 userDrawn="1">
          <p15:clr>
            <a:srgbClr val="A4A3A4"/>
          </p15:clr>
        </p15:guide>
        <p15:guide id="4" pos="612" userDrawn="1">
          <p15:clr>
            <a:srgbClr val="A4A3A4"/>
          </p15:clr>
        </p15:guide>
        <p15:guide id="5" pos="839" userDrawn="1">
          <p15:clr>
            <a:srgbClr val="A4A3A4"/>
          </p15:clr>
        </p15:guide>
        <p15:guide id="6" orient="horz" pos="2754" userDrawn="1">
          <p15:clr>
            <a:srgbClr val="A4A3A4"/>
          </p15:clr>
        </p15:guide>
        <p15:guide id="7" orient="horz" pos="940" userDrawn="1">
          <p15:clr>
            <a:srgbClr val="A4A3A4"/>
          </p15:clr>
        </p15:guide>
        <p15:guide id="8" pos="51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4747"/>
    <a:srgbClr val="C9394A"/>
    <a:srgbClr val="FFFFFF"/>
    <a:srgbClr val="C94251"/>
    <a:srgbClr val="EB0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9" autoAdjust="0"/>
    <p:restoredTop sz="99500" autoAdjust="0"/>
  </p:normalViewPr>
  <p:slideViewPr>
    <p:cSldViewPr>
      <p:cViewPr varScale="1">
        <p:scale>
          <a:sx n="130" d="100"/>
          <a:sy n="130" d="100"/>
        </p:scale>
        <p:origin x="156" y="114"/>
      </p:cViewPr>
      <p:guideLst>
        <p:guide orient="horz" pos="713"/>
        <p:guide pos="2880"/>
        <p:guide orient="horz" pos="1620"/>
        <p:guide pos="612"/>
        <p:guide pos="839"/>
        <p:guide orient="horz" pos="2754"/>
        <p:guide orient="horz" pos="940"/>
        <p:guide pos="51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‹#›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hdr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zh-CN" altLang="en-US"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2025/1/19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6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</p:sp>
      <p:sp>
        <p:nvSpPr>
          <p:cNvPr id="7" name="矩形"/>
          <p:cNvSpPr>
            <a:spLocks noChangeAspect="1"/>
          </p:cNvSpPr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单击此处编辑母版文本样式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第二级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第三级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第四级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第五级</a:t>
            </a:r>
          </a:p>
        </p:txBody>
      </p:sp>
      <p:sp>
        <p:nvSpPr>
          <p:cNvPr id="8" name="文本框"/>
          <p:cNvSpPr>
            <a:spLocks noGrp="1"/>
          </p:cNvSpPr>
          <p:nvPr>
            <p:ph type="ftr" idx="4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84774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1pPr>
    <a:lvl2pPr marL="4572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2pPr>
    <a:lvl3pPr marL="9144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3pPr>
    <a:lvl4pPr marL="13716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4pPr>
    <a:lvl5pPr marL="18288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5pPr>
    <a:lvl6pPr marL="22860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6pPr>
    <a:lvl7pPr marL="27432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7pPr>
    <a:lvl8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8pPr>
    <a:lvl9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3790D-4FC2-E478-7765-BD7F98FA4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B1C06960-FED6-8167-A5E0-2080DB9117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6808E608-BC5F-147F-F746-2FD70B2976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66FEF615-0C2A-CFD9-9374-5997D73474C5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02399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51227-CD2E-E4E3-DAB8-74D203BBC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64A3F45C-0A35-AEAE-580D-F82C777D6B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FA77E606-5AF6-BCEE-743A-C8AC98570A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DBE0CB8D-00F4-6A90-5103-9656CCADCC1D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3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59250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EECC6-1398-5681-F303-FDDFFD72C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04E0CAF5-86EB-9C0C-2E14-D59F54F497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03853EB9-20E6-FC2E-0AC1-1F047E1A84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CF99A336-7AAD-96FD-D8BE-62CDC590804D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4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53571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877AD-5C91-DEAA-7417-13E19C77A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9ED56677-2715-57BF-20BD-161283FF41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774A777F-B77A-FB1F-39D2-83FFD65FB4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FDA10109-17D9-8EB8-8CAA-DEE668DEFDD3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5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36717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2025/1/19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579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2025/1/19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374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2025/1/19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92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2025/1/19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384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2025/1/19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01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2025/1/19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55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2025/1/19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360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2025/1/19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182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2025/1/19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015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2025/1/19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76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2025/1/19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774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2025/1/19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871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2025/1/19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084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2025/1/19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938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2025/1/19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8054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2025/1/19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1773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2025/1/19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0958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2025/1/19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7865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2025/1/19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5852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2025/1/19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581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2025/1/19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063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2025/1/19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768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单击此处编辑母版文本样式</a:t>
            </a:r>
            <a:endParaRPr lang="en-US" altLang="zh-CN">
              <a:sym typeface="Calibri" pitchFamily="34" charset="0"/>
            </a:endParaRPr>
          </a:p>
          <a:p>
            <a:pPr lvl="1"/>
            <a:r>
              <a:rPr lang="zh-CN" altLang="en-US">
                <a:sym typeface="Calibri" pitchFamily="34" charset="0"/>
              </a:rPr>
              <a:t>第二级</a:t>
            </a:r>
            <a:endParaRPr lang="en-US" altLang="zh-CN">
              <a:sym typeface="Calibri" pitchFamily="34" charset="0"/>
            </a:endParaRPr>
          </a:p>
          <a:p>
            <a:pPr lvl="2"/>
            <a:r>
              <a:rPr lang="zh-CN" altLang="en-US">
                <a:sym typeface="Calibri" pitchFamily="34" charset="0"/>
              </a:rPr>
              <a:t>第三级</a:t>
            </a:r>
            <a:endParaRPr lang="en-US" altLang="zh-CN">
              <a:sym typeface="Calibri" pitchFamily="34" charset="0"/>
            </a:endParaRPr>
          </a:p>
          <a:p>
            <a:pPr lvl="3"/>
            <a:r>
              <a:rPr lang="zh-CN" altLang="en-US">
                <a:sym typeface="Calibri" pitchFamily="34" charset="0"/>
              </a:rPr>
              <a:t>第四级</a:t>
            </a:r>
            <a:endParaRPr lang="en-US" altLang="zh-CN">
              <a:sym typeface="Calibri" pitchFamily="34" charset="0"/>
            </a:endParaRPr>
          </a:p>
          <a:p>
            <a:pPr lvl="4"/>
            <a:r>
              <a:rPr lang="zh-CN" altLang="en-US">
                <a:sym typeface="Calibri" pitchFamily="34" charset="0"/>
              </a:rPr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42944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1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 sz="2200">
                <a:solidFill>
                  <a:srgbClr val="212121"/>
                </a:solidFill>
              </a:rPr>
              <a:t>单击此处编辑母版文本样式</a:t>
            </a:r>
            <a:endParaRPr lang="en-US" altLang="zh-CN" sz="2200">
              <a:solidFill>
                <a:srgbClr val="212121"/>
              </a:solidFill>
            </a:endParaRPr>
          </a:p>
          <a:p>
            <a:pPr lvl="1"/>
            <a:r>
              <a:rPr lang="zh-CN" altLang="en-US" sz="2000">
                <a:solidFill>
                  <a:srgbClr val="474747"/>
                </a:solidFill>
              </a:rPr>
              <a:t>第二级</a:t>
            </a:r>
            <a:endParaRPr lang="en-US" altLang="zh-CN" sz="2000">
              <a:solidFill>
                <a:srgbClr val="474747"/>
              </a:solidFill>
            </a:endParaRP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28037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>
            <a:spLocks/>
          </p:cNvSpPr>
          <p:nvPr/>
        </p:nvSpPr>
        <p:spPr>
          <a:xfrm>
            <a:off x="0" y="2283718"/>
            <a:ext cx="914400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练习：</a:t>
            </a:r>
            <a:r>
              <a:rPr lang="en-US" altLang="zh-CN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SVD</a:t>
            </a:r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分解</a:t>
            </a:r>
            <a:endParaRPr lang="en-US" altLang="zh-CN" sz="3000" b="1" kern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236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1FE23-71E6-545D-F65E-CFA8FF4A4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D6CD2B2E-5613-56AF-E277-91E5BDD3903C}"/>
              </a:ext>
            </a:extLst>
          </p:cNvPr>
          <p:cNvSpPr>
            <a:spLocks/>
          </p:cNvSpPr>
          <p:nvPr/>
        </p:nvSpPr>
        <p:spPr>
          <a:xfrm>
            <a:off x="3304672" y="577890"/>
            <a:ext cx="2534668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手工</a:t>
            </a:r>
            <a:r>
              <a:rPr lang="en-US" altLang="zh-CN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SVD</a:t>
            </a:r>
            <a:r>
              <a:rPr lang="zh-CN" altLang="en-US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分解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866154-EA25-010D-04C6-C82D8ABB981C}"/>
              </a:ext>
            </a:extLst>
          </p:cNvPr>
          <p:cNvSpPr txBox="1"/>
          <p:nvPr/>
        </p:nvSpPr>
        <p:spPr>
          <a:xfrm>
            <a:off x="899592" y="1419622"/>
            <a:ext cx="72728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dirty="0"/>
              <a:t>有如下矩阵，手工进行</a:t>
            </a:r>
            <a:r>
              <a:rPr lang="en-US" altLang="zh-CN" dirty="0"/>
              <a:t>SVD</a:t>
            </a:r>
            <a:r>
              <a:rPr lang="zh-CN" altLang="en-US" dirty="0"/>
              <a:t>分解，并用</a:t>
            </a:r>
            <a:r>
              <a:rPr lang="en-US" altLang="zh-CN" dirty="0" err="1"/>
              <a:t>numpy</a:t>
            </a:r>
            <a:r>
              <a:rPr lang="zh-CN" altLang="en-US" dirty="0"/>
              <a:t>验证结果：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CDB6593-85A6-B9DB-BFDB-71CFA6E1DC7B}"/>
                  </a:ext>
                </a:extLst>
              </p:cNvPr>
              <p:cNvSpPr txBox="1"/>
              <p:nvPr/>
            </p:nvSpPr>
            <p:spPr>
              <a:xfrm>
                <a:off x="827584" y="2072039"/>
                <a:ext cx="1512168" cy="5598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i="0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 dirty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b="0" i="0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altLang="zh-CN" b="0" i="0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0" dirty="0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zh-CN" altLang="en-US" i="0" dirty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CDB6593-85A6-B9DB-BFDB-71CFA6E1DC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2072039"/>
                <a:ext cx="1512168" cy="5598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773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A516C-6841-5A3B-2C2F-F7C6518D2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DF0672AE-17AB-FAD3-D4A2-34723D61EB70}"/>
              </a:ext>
            </a:extLst>
          </p:cNvPr>
          <p:cNvSpPr>
            <a:spLocks/>
          </p:cNvSpPr>
          <p:nvPr/>
        </p:nvSpPr>
        <p:spPr>
          <a:xfrm>
            <a:off x="3112312" y="577890"/>
            <a:ext cx="291939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 eaLnBrk="1" hangingPunct="1">
              <a:spcAft>
                <a:spcPts val="600"/>
              </a:spcAft>
            </a:pPr>
            <a:r>
              <a:rPr lang="en-US" altLang="zh-CN" sz="3000" b="1" kern="0" dirty="0">
                <a:solidFill>
                  <a:srgbClr val="C94251"/>
                </a:solidFill>
                <a:latin typeface="微软雅黑" charset="0"/>
                <a:ea typeface="微软雅黑" charset="0"/>
                <a:cs typeface="微软雅黑" charset="0"/>
              </a:rPr>
              <a:t>SVD</a:t>
            </a:r>
            <a:r>
              <a:rPr lang="zh-CN" altLang="en-US" sz="3000" b="1" u="none" strike="noStrike" kern="0" cap="none" spc="0" baseline="0" dirty="0">
                <a:solidFill>
                  <a:srgbClr val="C94251"/>
                </a:solidFill>
                <a:latin typeface="微软雅黑" charset="0"/>
                <a:ea typeface="微软雅黑" charset="0"/>
                <a:cs typeface="微软雅黑" charset="0"/>
              </a:rPr>
              <a:t>分解的应用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21A47E-0248-8F5E-2056-80C986A99ADB}"/>
              </a:ext>
            </a:extLst>
          </p:cNvPr>
          <p:cNvSpPr txBox="1"/>
          <p:nvPr/>
        </p:nvSpPr>
        <p:spPr>
          <a:xfrm>
            <a:off x="899592" y="1419622"/>
            <a:ext cx="727285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sz="1400" dirty="0"/>
              <a:t>有如下方程，用</a:t>
            </a:r>
            <a:r>
              <a:rPr lang="en-US" altLang="zh-CN" sz="1400" dirty="0"/>
              <a:t>SVD</a:t>
            </a:r>
            <a:r>
              <a:rPr lang="zh-CN" altLang="en-US" sz="1400" dirty="0"/>
              <a:t>分解求解该方程：</a:t>
            </a:r>
            <a:endParaRPr lang="en-US" altLang="zh-CN" sz="1400" dirty="0"/>
          </a:p>
          <a:p>
            <a:endParaRPr lang="en-US" altLang="zh-CN" sz="1400" dirty="0"/>
          </a:p>
          <a:p>
            <a:r>
              <a:rPr lang="en-US" altLang="zh-CN" sz="1400" i="1" dirty="0"/>
              <a:t>Ax = b</a:t>
            </a:r>
          </a:p>
          <a:p>
            <a:r>
              <a:rPr lang="en-US" altLang="zh-CN" sz="1400" i="1" dirty="0"/>
              <a:t>A = </a:t>
            </a:r>
            <a:r>
              <a:rPr lang="en-US" altLang="zh-CN" sz="1400" i="1" dirty="0" err="1"/>
              <a:t>np.random.random</a:t>
            </a:r>
            <a:r>
              <a:rPr lang="en-US" altLang="zh-CN" sz="1400" i="1" dirty="0"/>
              <a:t>((50,50))</a:t>
            </a:r>
          </a:p>
          <a:p>
            <a:r>
              <a:rPr lang="en-US" altLang="zh-CN" sz="1400" i="1" dirty="0"/>
              <a:t>b = </a:t>
            </a:r>
            <a:r>
              <a:rPr lang="en-US" altLang="zh-CN" sz="1400" i="1" dirty="0" err="1"/>
              <a:t>np.random.random</a:t>
            </a:r>
            <a:r>
              <a:rPr lang="en-US" altLang="zh-CN" sz="1400" i="1" dirty="0"/>
              <a:t>((50,1))</a:t>
            </a:r>
          </a:p>
          <a:p>
            <a:endParaRPr lang="en-US" altLang="zh-CN" sz="1400" dirty="0"/>
          </a:p>
          <a:p>
            <a:endParaRPr lang="en-US" altLang="zh-CN" sz="1400" dirty="0"/>
          </a:p>
        </p:txBody>
      </p:sp>
    </p:spTree>
    <p:extLst>
      <p:ext uri="{BB962C8B-B14F-4D97-AF65-F5344CB8AC3E}">
        <p14:creationId xmlns:p14="http://schemas.microsoft.com/office/powerpoint/2010/main" val="87515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FF446-70B8-CE42-0DC4-CD81F0A98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13786FE9-3A03-3928-B0E6-E495471F2782}"/>
              </a:ext>
            </a:extLst>
          </p:cNvPr>
          <p:cNvSpPr>
            <a:spLocks/>
          </p:cNvSpPr>
          <p:nvPr/>
        </p:nvSpPr>
        <p:spPr>
          <a:xfrm>
            <a:off x="3112312" y="577890"/>
            <a:ext cx="291939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 eaLnBrk="1" hangingPunct="1">
              <a:spcAft>
                <a:spcPts val="600"/>
              </a:spcAft>
            </a:pPr>
            <a:r>
              <a:rPr lang="en-US" altLang="zh-CN" sz="3000" b="1" kern="0" dirty="0">
                <a:solidFill>
                  <a:srgbClr val="C94251"/>
                </a:solidFill>
                <a:latin typeface="微软雅黑" charset="0"/>
                <a:ea typeface="微软雅黑" charset="0"/>
                <a:cs typeface="微软雅黑" charset="0"/>
              </a:rPr>
              <a:t>SVD</a:t>
            </a:r>
            <a:r>
              <a:rPr lang="zh-CN" altLang="en-US" sz="3000" b="1" u="none" strike="noStrike" kern="0" cap="none" spc="0" baseline="0" dirty="0">
                <a:solidFill>
                  <a:srgbClr val="C94251"/>
                </a:solidFill>
                <a:latin typeface="微软雅黑" charset="0"/>
                <a:ea typeface="微软雅黑" charset="0"/>
                <a:cs typeface="微软雅黑" charset="0"/>
              </a:rPr>
              <a:t>分解的应用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D09A44-BC26-B93A-43F8-F091175D6D56}"/>
              </a:ext>
            </a:extLst>
          </p:cNvPr>
          <p:cNvSpPr txBox="1"/>
          <p:nvPr/>
        </p:nvSpPr>
        <p:spPr>
          <a:xfrm>
            <a:off x="899592" y="1419622"/>
            <a:ext cx="727285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sz="1400" dirty="0"/>
              <a:t>用</a:t>
            </a:r>
            <a:r>
              <a:rPr lang="en-US" altLang="zh-CN" sz="1400" dirty="0"/>
              <a:t>SVD</a:t>
            </a:r>
            <a:r>
              <a:rPr lang="zh-CN" altLang="en-US" sz="1400" dirty="0"/>
              <a:t>分解可视化不同鸢尾花的分类情况：</a:t>
            </a:r>
            <a:endParaRPr lang="en-US" altLang="zh-CN" sz="1400" dirty="0"/>
          </a:p>
          <a:p>
            <a:endParaRPr lang="en-US" altLang="zh-CN" sz="1400" dirty="0"/>
          </a:p>
          <a:p>
            <a:r>
              <a:rPr lang="zh-CN" altLang="en-US" sz="1400" dirty="0"/>
              <a:t>提示：</a:t>
            </a:r>
            <a:endParaRPr lang="en-US" altLang="zh-CN" sz="1400" dirty="0"/>
          </a:p>
          <a:p>
            <a:r>
              <a:rPr lang="en-US" altLang="zh-CN" sz="1400" i="1" dirty="0"/>
              <a:t>from </a:t>
            </a:r>
            <a:r>
              <a:rPr lang="en-US" altLang="zh-CN" sz="1400" i="1" dirty="0" err="1"/>
              <a:t>sklearn.datasets</a:t>
            </a:r>
            <a:r>
              <a:rPr lang="en-US" altLang="zh-CN" sz="1400" i="1" dirty="0"/>
              <a:t> import </a:t>
            </a:r>
            <a:r>
              <a:rPr lang="en-US" altLang="zh-CN" sz="1400" i="1" dirty="0" err="1"/>
              <a:t>load_iris</a:t>
            </a:r>
            <a:endParaRPr lang="en-US" altLang="zh-CN" sz="1400" i="1" dirty="0"/>
          </a:p>
          <a:p>
            <a:r>
              <a:rPr lang="en-US" altLang="zh-CN" sz="1400" i="1" dirty="0"/>
              <a:t>iris = </a:t>
            </a:r>
            <a:r>
              <a:rPr lang="en-US" altLang="zh-CN" sz="1400" i="1" dirty="0" err="1"/>
              <a:t>load_iris</a:t>
            </a:r>
            <a:r>
              <a:rPr lang="en-US" altLang="zh-CN" sz="1400" i="1" dirty="0"/>
              <a:t>()</a:t>
            </a:r>
          </a:p>
          <a:p>
            <a:r>
              <a:rPr lang="en-US" altLang="zh-CN" sz="1400" i="1" dirty="0"/>
              <a:t>print(</a:t>
            </a:r>
            <a:r>
              <a:rPr lang="en-US" altLang="zh-CN" sz="1400" i="1" dirty="0" err="1"/>
              <a:t>iris.target</a:t>
            </a:r>
            <a:r>
              <a:rPr lang="en-US" altLang="zh-CN" sz="1400" i="1" dirty="0"/>
              <a:t>)</a:t>
            </a:r>
          </a:p>
          <a:p>
            <a:r>
              <a:rPr lang="en-US" altLang="zh-CN" sz="1400" i="1" dirty="0"/>
              <a:t>print(</a:t>
            </a:r>
            <a:r>
              <a:rPr lang="en-US" altLang="zh-CN" sz="1400" i="1" dirty="0" err="1"/>
              <a:t>iris.data</a:t>
            </a:r>
            <a:r>
              <a:rPr lang="en-US" altLang="zh-CN" sz="1400" i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57686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AFCDF-F814-FAB5-6A4C-86965D10A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8C0A1FF3-6FB9-9616-CCD0-A5E8A68E99FA}"/>
              </a:ext>
            </a:extLst>
          </p:cNvPr>
          <p:cNvSpPr>
            <a:spLocks/>
          </p:cNvSpPr>
          <p:nvPr/>
        </p:nvSpPr>
        <p:spPr>
          <a:xfrm>
            <a:off x="2712364" y="577890"/>
            <a:ext cx="3719288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 eaLnBrk="1" hangingPunct="1">
              <a:spcAft>
                <a:spcPts val="600"/>
              </a:spcAft>
            </a:pPr>
            <a:r>
              <a:rPr lang="en-US" altLang="zh-CN" sz="3000" b="1" kern="0" dirty="0">
                <a:solidFill>
                  <a:srgbClr val="C94251"/>
                </a:solidFill>
                <a:latin typeface="微软雅黑" charset="0"/>
                <a:ea typeface="微软雅黑" charset="0"/>
                <a:cs typeface="微软雅黑" charset="0"/>
              </a:rPr>
              <a:t>SVD</a:t>
            </a:r>
            <a:r>
              <a:rPr lang="zh-CN" altLang="en-US" sz="3000" b="1" u="none" strike="noStrike" kern="0" cap="none" spc="0" baseline="0" dirty="0">
                <a:solidFill>
                  <a:srgbClr val="C94251"/>
                </a:solidFill>
                <a:latin typeface="微软雅黑" charset="0"/>
                <a:ea typeface="微软雅黑" charset="0"/>
                <a:cs typeface="微软雅黑" charset="0"/>
              </a:rPr>
              <a:t>分解性质的理解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2478F9-EE1C-E0D2-FD51-5BEF2CE7B621}"/>
              </a:ext>
            </a:extLst>
          </p:cNvPr>
          <p:cNvSpPr txBox="1"/>
          <p:nvPr/>
        </p:nvSpPr>
        <p:spPr>
          <a:xfrm>
            <a:off x="899592" y="1419622"/>
            <a:ext cx="72728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sz="1400" dirty="0"/>
              <a:t>用</a:t>
            </a:r>
            <a:r>
              <a:rPr lang="en-US" altLang="zh-CN" sz="1400" dirty="0" err="1"/>
              <a:t>skimage.data.coffee</a:t>
            </a:r>
            <a:r>
              <a:rPr lang="zh-CN" altLang="en-US" sz="1400" dirty="0"/>
              <a:t>作为例子，研究一下当选择多少奇异向量的时候，重构原始图像能取得比较好的效果</a:t>
            </a:r>
            <a:endParaRPr lang="en-US" altLang="zh-CN" sz="1400" dirty="0"/>
          </a:p>
        </p:txBody>
      </p:sp>
    </p:spTree>
    <p:extLst>
      <p:ext uri="{BB962C8B-B14F-4D97-AF65-F5344CB8AC3E}">
        <p14:creationId xmlns:p14="http://schemas.microsoft.com/office/powerpoint/2010/main" val="2547595121"/>
      </p:ext>
    </p:extLst>
  </p:cSld>
  <p:clrMapOvr>
    <a:masterClrMapping/>
  </p:clrMapOvr>
</p:sld>
</file>

<file path=ppt/theme/theme1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26267</TotalTime>
  <Words>141</Words>
  <Application>Microsoft Office PowerPoint</Application>
  <PresentationFormat>On-screen Show (16:9)</PresentationFormat>
  <Paragraphs>24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微软雅黑</vt:lpstr>
      <vt:lpstr>Arial</vt:lpstr>
      <vt:lpstr>Calibri</vt:lpstr>
      <vt:lpstr>Cambria Math</vt:lpstr>
      <vt:lpstr>讲师ppt模板20141215</vt:lpstr>
      <vt:lpstr>讲师ppt模板20141215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open</dc:creator>
  <cp:lastModifiedBy>Guo, Ying</cp:lastModifiedBy>
  <cp:revision>54</cp:revision>
  <dcterms:created xsi:type="dcterms:W3CDTF">2016-04-25T01:54:29Z</dcterms:created>
  <dcterms:modified xsi:type="dcterms:W3CDTF">2025-01-19T12:40:40Z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2052-9.1.0.4468</vt:lpwstr>
  </property>
</Properties>
</file>