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8"/>
  </p:notesMasterIdLst>
  <p:sldIdLst>
    <p:sldId id="299" r:id="rId3"/>
    <p:sldId id="335" r:id="rId4"/>
    <p:sldId id="339" r:id="rId5"/>
    <p:sldId id="340" r:id="rId6"/>
    <p:sldId id="336" r:id="rId7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504D"/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2025/2/11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06A26-0EB3-F96D-9C4C-31D2DE4D0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2789DC6D-23C5-416E-B24B-ACFE114D8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7D3C7681-0E3A-9601-E2F8-05E1139A4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F41AE7A-559D-1C59-C3AA-C302D59E0434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420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EB080-3DA4-2F86-4B85-C582FB146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9E8E441D-8CEF-D49F-2750-62FA6D75D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791C2437-5CD0-0746-4CE9-89EBF14F2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99E2007C-52C4-7521-C7B4-86A1E7BD8D78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201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02E06-6F4C-DF5F-7CF9-DD8474E8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8B4574A8-D938-C1A2-9D81-AA35D0C7F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1A346207-FAA9-9EAD-90FB-6EB1406F6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1F8D6B4B-C9B3-220D-1034-D18916001876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35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0B193-18FD-57D7-E793-A2333FEB9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75C861D6-A5A5-BF2F-2DFF-E97EF6D64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6B4E2B2-BC78-1B87-E5B8-DCCD0B520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BE144E93-2C0B-E0BC-2C11-DA13355A697B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59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练习：连续概率分布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A442-A46C-3404-E506-64FCFA257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C84948FC-5D29-A25A-F0B5-F1059E0B466E}"/>
              </a:ext>
            </a:extLst>
          </p:cNvPr>
          <p:cNvSpPr>
            <a:spLocks/>
          </p:cNvSpPr>
          <p:nvPr/>
        </p:nvSpPr>
        <p:spPr>
          <a:xfrm>
            <a:off x="3710296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正态分布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329F0-69AC-01EE-19A6-980C9A1262C8}"/>
              </a:ext>
            </a:extLst>
          </p:cNvPr>
          <p:cNvSpPr txBox="1"/>
          <p:nvPr/>
        </p:nvSpPr>
        <p:spPr>
          <a:xfrm>
            <a:off x="899592" y="1419622"/>
            <a:ext cx="72728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一批鸡蛋重量服从正态分布，其中平均重量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55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克，标准差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5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克。根据质量控制要求：大于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58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克的被选做优选鸡蛋；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52~58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克之间的为合格品；小于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52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克的被认为是不合格品。用</a:t>
            </a:r>
            <a:r>
              <a:rPr lang="en-US" altLang="zh-CN" sz="2000" b="0" i="0" dirty="0" err="1">
                <a:solidFill>
                  <a:srgbClr val="374151"/>
                </a:solidFill>
                <a:effectLst/>
                <a:latin typeface="ui-sans-serif"/>
              </a:rPr>
              <a:t>scipy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计算</a:t>
            </a:r>
          </a:p>
          <a:p>
            <a:pPr algn="l"/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algn="l"/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请问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1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千</a:t>
            </a:r>
            <a:r>
              <a:rPr lang="zh-CN" altLang="en-US" sz="2000" dirty="0">
                <a:solidFill>
                  <a:srgbClr val="374151"/>
                </a:solidFill>
                <a:latin typeface="ui-sans-serif"/>
              </a:rPr>
              <a:t>个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鸡蛋里面，能选出多少优选鸡蛋？有多少鸡蛋是不合格的？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想要把优选鸡蛋的数量扩充为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350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个那么优选鸡蛋的重量应该设置为多少？</a:t>
            </a:r>
          </a:p>
        </p:txBody>
      </p:sp>
    </p:spTree>
    <p:extLst>
      <p:ext uri="{BB962C8B-B14F-4D97-AF65-F5344CB8AC3E}">
        <p14:creationId xmlns:p14="http://schemas.microsoft.com/office/powerpoint/2010/main" val="67164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BC091-019B-AA04-7E30-4B76FC990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8E781E8-E4DD-8046-8DE4-B6B5EDEB269E}"/>
              </a:ext>
            </a:extLst>
          </p:cNvPr>
          <p:cNvSpPr>
            <a:spLocks/>
          </p:cNvSpPr>
          <p:nvPr/>
        </p:nvSpPr>
        <p:spPr>
          <a:xfrm>
            <a:off x="3710296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指数分布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FDADFB-A467-77F1-8884-8CFB94DC8B90}"/>
              </a:ext>
            </a:extLst>
          </p:cNvPr>
          <p:cNvSpPr txBox="1"/>
          <p:nvPr/>
        </p:nvSpPr>
        <p:spPr>
          <a:xfrm>
            <a:off x="899592" y="1419622"/>
            <a:ext cx="72728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客服中心用人工处理用户的异常订单信息，处理的时长服从指数分布，平均每个单子处理时间为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5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分钟</a:t>
            </a:r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algn="l"/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求一个订单处理时间小于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3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分钟的概率</a:t>
            </a:r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求一个订单处理时间大于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10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分钟的概率</a:t>
            </a:r>
            <a:endParaRPr lang="en-US" altLang="zh-CN" sz="2000" dirty="0">
              <a:solidFill>
                <a:srgbClr val="374151"/>
              </a:solidFill>
              <a:latin typeface="ui-sans-serif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如果希望将处理时间间隔小于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3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分钟的概率提高到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90%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，那平均一个单子的处理时间应该缩短到多少？</a:t>
            </a:r>
          </a:p>
        </p:txBody>
      </p:sp>
    </p:spTree>
    <p:extLst>
      <p:ext uri="{BB962C8B-B14F-4D97-AF65-F5344CB8AC3E}">
        <p14:creationId xmlns:p14="http://schemas.microsoft.com/office/powerpoint/2010/main" val="1879062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9C513-CB23-0E89-E0E4-0FB9AD8A4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4F74D27A-18EE-B97A-DD0B-B5BAC74A81F7}"/>
              </a:ext>
            </a:extLst>
          </p:cNvPr>
          <p:cNvSpPr>
            <a:spLocks/>
          </p:cNvSpPr>
          <p:nvPr/>
        </p:nvSpPr>
        <p:spPr>
          <a:xfrm>
            <a:off x="3710296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泊松分布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886874-F859-401C-9C09-851060FEDAF2}"/>
              </a:ext>
            </a:extLst>
          </p:cNvPr>
          <p:cNvSpPr txBox="1"/>
          <p:nvPr/>
        </p:nvSpPr>
        <p:spPr>
          <a:xfrm>
            <a:off x="899592" y="1419622"/>
            <a:ext cx="72728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客服中心用人工处理用户的异常订单信息，订单到达时间服从泊松分布，平均每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5分钟来一个异常订单</a:t>
            </a:r>
            <a:r>
              <a:rPr lang="zh-CN" altLang="en-US" sz="2000" dirty="0">
                <a:solidFill>
                  <a:srgbClr val="374151"/>
                </a:solidFill>
                <a:latin typeface="ui-sans-serif"/>
              </a:rPr>
              <a:t>（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 12订单/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小时</a:t>
            </a:r>
            <a:r>
              <a:rPr lang="zh-CN" altLang="en-US" sz="2000" dirty="0">
                <a:solidFill>
                  <a:srgbClr val="374151"/>
                </a:solidFill>
                <a:latin typeface="ui-sans-serif"/>
              </a:rPr>
              <a:t>）</a:t>
            </a:r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algn="l"/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求一小时来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20个订单的概率(平均3分钟来一个订单)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求一小时来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6个订单的概率(平均10分钟来一个订单)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求一小时内至少有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15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个订单的概率</a:t>
            </a:r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1655709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65E90-E235-F37E-7DCB-52EC37D9A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BF3B3549-E945-8979-065B-CD09D395C9EA}"/>
              </a:ext>
            </a:extLst>
          </p:cNvPr>
          <p:cNvSpPr>
            <a:spLocks/>
          </p:cNvSpPr>
          <p:nvPr/>
        </p:nvSpPr>
        <p:spPr>
          <a:xfrm>
            <a:off x="3517938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常见统计量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D2476D-032A-CCD7-17B4-735056DE256C}"/>
              </a:ext>
            </a:extLst>
          </p:cNvPr>
          <p:cNvSpPr txBox="1"/>
          <p:nvPr/>
        </p:nvSpPr>
        <p:spPr>
          <a:xfrm>
            <a:off x="899592" y="1419622"/>
            <a:ext cx="727285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algn="l"/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生成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10000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个符合偏态分布的整数，绘制这些数的直方图，并画出均值，中位数，众数的位置</a:t>
            </a:r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algn="l"/>
            <a:endParaRPr lang="en-US" altLang="zh-CN" sz="2000" dirty="0">
              <a:solidFill>
                <a:srgbClr val="374151"/>
              </a:solidFill>
              <a:latin typeface="ui-sans-serif"/>
            </a:endParaRPr>
          </a:p>
          <a:p>
            <a:pPr algn="l"/>
            <a:endParaRPr lang="en-US" altLang="zh-CN" sz="2000" dirty="0">
              <a:solidFill>
                <a:srgbClr val="374151"/>
              </a:solidFill>
              <a:latin typeface="ui-sans-serif"/>
            </a:endParaRPr>
          </a:p>
          <a:p>
            <a:pPr algn="l"/>
            <a:r>
              <a:rPr lang="zh-CN" altLang="en-US" sz="2000" dirty="0">
                <a:solidFill>
                  <a:srgbClr val="374151"/>
                </a:solidFill>
                <a:latin typeface="ui-sans-serif"/>
              </a:rPr>
              <a:t>提示：</a:t>
            </a:r>
            <a:endParaRPr lang="en-US" altLang="zh-CN" sz="2000" dirty="0">
              <a:solidFill>
                <a:srgbClr val="374151"/>
              </a:solidFill>
              <a:latin typeface="ui-sans-serif"/>
            </a:endParaRPr>
          </a:p>
          <a:p>
            <a:pPr algn="l"/>
            <a:r>
              <a:rPr lang="en-US" altLang="zh-CN" sz="2000" b="0" i="1" dirty="0" err="1">
                <a:solidFill>
                  <a:srgbClr val="374151"/>
                </a:solidFill>
                <a:effectLst/>
                <a:latin typeface="ui-sans-serif"/>
              </a:rPr>
              <a:t>scipy</a:t>
            </a:r>
            <a:r>
              <a:rPr lang="en-US" altLang="zh-CN" sz="2000" i="1" dirty="0" err="1">
                <a:solidFill>
                  <a:srgbClr val="374151"/>
                </a:solidFill>
                <a:latin typeface="ui-sans-serif"/>
              </a:rPr>
              <a:t>.</a:t>
            </a:r>
            <a:r>
              <a:rPr lang="en-US" altLang="zh-CN" sz="2000" b="0" i="1" dirty="0" err="1">
                <a:solidFill>
                  <a:srgbClr val="374151"/>
                </a:solidFill>
                <a:effectLst/>
                <a:latin typeface="ui-sans-serif"/>
              </a:rPr>
              <a:t>stats.skewnorm.rvs</a:t>
            </a:r>
            <a:r>
              <a:rPr lang="en-US" altLang="zh-CN" sz="2000" b="0" i="1" dirty="0">
                <a:solidFill>
                  <a:srgbClr val="374151"/>
                </a:solidFill>
                <a:effectLst/>
                <a:latin typeface="ui-sans-serif"/>
              </a:rPr>
              <a:t>(a=10, loc=0, scale=100)</a:t>
            </a:r>
            <a:endParaRPr lang="en-US" altLang="zh-CN" sz="2000" i="1" dirty="0">
              <a:solidFill>
                <a:srgbClr val="374151"/>
              </a:solidFill>
              <a:latin typeface="ui-sans-serif"/>
            </a:endParaRPr>
          </a:p>
          <a:p>
            <a:pPr algn="l"/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生成一个符合偏态分布的数组</a:t>
            </a:r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algn="l"/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3543155539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37173</TotalTime>
  <Words>289</Words>
  <Application>Microsoft Office PowerPoint</Application>
  <PresentationFormat>On-screen Show (16:9)</PresentationFormat>
  <Paragraphs>30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ui-sans-serif</vt:lpstr>
      <vt:lpstr>微软雅黑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85</cp:revision>
  <dcterms:created xsi:type="dcterms:W3CDTF">2016-04-25T01:54:29Z</dcterms:created>
  <dcterms:modified xsi:type="dcterms:W3CDTF">2025-02-11T01:04:25Z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