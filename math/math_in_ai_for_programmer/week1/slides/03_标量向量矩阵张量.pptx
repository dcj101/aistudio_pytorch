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17"/>
  </p:notesMasterIdLst>
  <p:sldIdLst>
    <p:sldId id="299" r:id="rId3"/>
    <p:sldId id="256" r:id="rId4"/>
    <p:sldId id="311" r:id="rId5"/>
    <p:sldId id="304" r:id="rId6"/>
    <p:sldId id="258" r:id="rId7"/>
    <p:sldId id="303" r:id="rId8"/>
    <p:sldId id="305" r:id="rId9"/>
    <p:sldId id="307" r:id="rId10"/>
    <p:sldId id="308" r:id="rId11"/>
    <p:sldId id="310" r:id="rId12"/>
    <p:sldId id="315" r:id="rId13"/>
    <p:sldId id="314" r:id="rId14"/>
    <p:sldId id="313" r:id="rId15"/>
    <p:sldId id="312" r:id="rId16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29" d="100"/>
          <a:sy n="129" d="100"/>
        </p:scale>
        <p:origin x="354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2024/6/26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58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633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338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7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403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7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068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8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569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9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625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10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5971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11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411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12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8830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13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3010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14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617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2024/6/26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线性代数核心概念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-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向量、矩阵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525549" y="2018745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向量的加减乘除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525549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标量、向量、矩阵、张量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525549" y="254524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向量点积，叉积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1894824" y="577890"/>
            <a:ext cx="535435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线性代数核心概念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-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向量、矩阵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A0B37C77-376A-DE12-B418-ECA4A89C5D64}"/>
              </a:ext>
            </a:extLst>
          </p:cNvPr>
          <p:cNvSpPr>
            <a:spLocks/>
          </p:cNvSpPr>
          <p:nvPr/>
        </p:nvSpPr>
        <p:spPr>
          <a:xfrm>
            <a:off x="525549" y="359823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矩阵的加减乘除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9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矩阵的类型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E33A1500-484C-31F5-B43A-B9849732FEA6}"/>
              </a:ext>
            </a:extLst>
          </p:cNvPr>
          <p:cNvSpPr>
            <a:spLocks/>
          </p:cNvSpPr>
          <p:nvPr/>
        </p:nvSpPr>
        <p:spPr>
          <a:xfrm>
            <a:off x="525549" y="3071735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向量的范数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4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2" grpId="0"/>
      <p:bldP spid="3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525549" y="2018745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向量的加减乘除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525549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标量、向量、矩阵、张量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525549" y="254524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向量点积，叉积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1894824" y="577890"/>
            <a:ext cx="535435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线性代数核心概念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-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向量、矩阵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A0B37C77-376A-DE12-B418-ECA4A89C5D64}"/>
              </a:ext>
            </a:extLst>
          </p:cNvPr>
          <p:cNvSpPr>
            <a:spLocks/>
          </p:cNvSpPr>
          <p:nvPr/>
        </p:nvSpPr>
        <p:spPr>
          <a:xfrm>
            <a:off x="525549" y="359823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矩阵的加减乘除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9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矩阵的类型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E33A1500-484C-31F5-B43A-B9849732FEA6}"/>
              </a:ext>
            </a:extLst>
          </p:cNvPr>
          <p:cNvSpPr>
            <a:spLocks/>
          </p:cNvSpPr>
          <p:nvPr/>
        </p:nvSpPr>
        <p:spPr>
          <a:xfrm>
            <a:off x="525549" y="3071735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向量的范数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19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2" grpId="0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"/>
          <p:cNvSpPr>
            <a:spLocks/>
          </p:cNvSpPr>
          <p:nvPr/>
        </p:nvSpPr>
        <p:spPr>
          <a:xfrm>
            <a:off x="2363704" y="577890"/>
            <a:ext cx="4416594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标量、向量、矩阵、张量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6" name="矩形">
            <a:extLst>
              <a:ext uri="{FF2B5EF4-FFF2-40B4-BE49-F238E27FC236}">
                <a16:creationId xmlns:a16="http://schemas.microsoft.com/office/drawing/2014/main" id="{7D20A1E4-D2F5-944A-B5E9-7E947673B06D}"/>
              </a:ext>
            </a:extLst>
          </p:cNvPr>
          <p:cNvSpPr>
            <a:spLocks/>
          </p:cNvSpPr>
          <p:nvPr/>
        </p:nvSpPr>
        <p:spPr>
          <a:xfrm>
            <a:off x="519366" y="149224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标量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scalar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">
                <a:extLst>
                  <a:ext uri="{FF2B5EF4-FFF2-40B4-BE49-F238E27FC236}">
                    <a16:creationId xmlns:a16="http://schemas.microsoft.com/office/drawing/2014/main" id="{05E797FD-F3E1-1C57-23AE-FB33A85CD8C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9366" y="3544605"/>
                <a:ext cx="8565279" cy="90698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  <a:sym typeface="Calibri" pitchFamily="34" charset="0"/>
                  </a:rPr>
                  <a:t>矩阵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A</m:t>
                    </m:r>
                    <m:r>
                      <a:rPr lang="en-US" altLang="zh-CN" sz="2000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=</m:t>
                    </m:r>
                    <m:d>
                      <m:dPr>
                        <m:ctrlP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  <a:sym typeface="Calibri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  <a:sym typeface="Calibri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  <a:sym typeface="Calibri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000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  <a:sym typeface="Calibri" pitchFamily="34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  <a:sym typeface="Calibri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  <a:sym typeface="Calibri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000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  <a:sym typeface="Calibri" pitchFamily="34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  <a:sym typeface="Calibri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  <a:sym typeface="Calibri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000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  <a:sym typeface="Calibri" pitchFamily="34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  <a:sym typeface="Calibri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  <a:sym typeface="Calibri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000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  <a:sym typeface="Calibri" pitchFamily="34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  <a:sym typeface="Calibri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  <a:sym typeface="Calibri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000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  <a:sym typeface="Calibri" pitchFamily="34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  <a:sym typeface="Calibri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  <a:sym typeface="Calibri" pitchFamily="3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000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  <a:sym typeface="Calibri" pitchFamily="34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zh-CN" altLang="en-US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；</m:t>
                    </m:r>
                  </m:oMath>
                </a14:m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  <a:sym typeface="Calibri" pitchFamily="34" charset="0"/>
                  </a:rPr>
                  <a:t>张量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ea typeface="微软雅黑" charset="0"/>
                        <a:sym typeface="Calibri" pitchFamily="34" charset="0"/>
                      </a:rPr>
                      <m:t>T</m:t>
                    </m:r>
                    <m:r>
                      <a:rPr lang="en-US" altLang="zh-CN" sz="2000" b="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ea typeface="微软雅黑" charset="0"/>
                        <a:sym typeface="Calibri" pitchFamily="34" charset="0"/>
                      </a:rPr>
                      <m:t>=</m:t>
                    </m:r>
                    <m:d>
                      <m:dPr>
                        <m:ctrlPr>
                          <a:rPr lang="en-US" altLang="zh-CN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ea typeface="微软雅黑" charset="0"/>
                            <a:sym typeface="Calibri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  <a:ea typeface="微软雅黑" charset="0"/>
                                <a:sym typeface="Calibri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0" i="1" smtClean="0">
                                  <a:solidFill>
                                    <a:srgbClr val="474747"/>
                                  </a:solidFill>
                                  <a:latin typeface="Cambria Math" panose="02040503050406030204" pitchFamily="18" charset="0"/>
                                  <a:ea typeface="微软雅黑" charset="0"/>
                                  <a:sym typeface="Calibri" pitchFamily="34" charset="0"/>
                                </a:rPr>
                                <m:t>(..)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solidFill>
                                    <a:srgbClr val="474747"/>
                                  </a:solidFill>
                                  <a:latin typeface="Cambria Math" panose="02040503050406030204" pitchFamily="18" charset="0"/>
                                  <a:ea typeface="微软雅黑" charset="0"/>
                                  <a:sym typeface="Calibri" pitchFamily="34" charset="0"/>
                                </a:rPr>
                                <m:t>(..)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smtClean="0">
                                  <a:solidFill>
                                    <a:srgbClr val="474747"/>
                                  </a:solidFill>
                                  <a:latin typeface="Cambria Math" panose="02040503050406030204" pitchFamily="18" charset="0"/>
                                  <a:ea typeface="微软雅黑" charset="0"/>
                                  <a:sym typeface="Calibri" pitchFamily="34" charset="0"/>
                                </a:rPr>
                                <m:t>(..)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solidFill>
                                    <a:srgbClr val="474747"/>
                                  </a:solidFill>
                                  <a:latin typeface="Cambria Math" panose="02040503050406030204" pitchFamily="18" charset="0"/>
                                  <a:ea typeface="微软雅黑" charset="0"/>
                                  <a:sym typeface="Calibri" pitchFamily="34" charset="0"/>
                                </a:rPr>
                                <m:t>(..)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00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>
          <p:sp>
            <p:nvSpPr>
              <p:cNvPr id="7" name="矩形">
                <a:extLst>
                  <a:ext uri="{FF2B5EF4-FFF2-40B4-BE49-F238E27FC236}">
                    <a16:creationId xmlns:a16="http://schemas.microsoft.com/office/drawing/2014/main" id="{05E797FD-F3E1-1C57-23AE-FB33A85CD8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66" y="3544605"/>
                <a:ext cx="8565279" cy="9069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">
                <a:extLst>
                  <a:ext uri="{FF2B5EF4-FFF2-40B4-BE49-F238E27FC236}">
                    <a16:creationId xmlns:a16="http://schemas.microsoft.com/office/drawing/2014/main" id="{8F160DF2-0FE9-9F68-7B50-13F2DD3FD7F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9366" y="2391581"/>
                <a:ext cx="8565279" cy="907493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向量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 或者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solidFill>
                                        <a:srgbClr val="47474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 或者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00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>
          <p:sp>
            <p:nvSpPr>
              <p:cNvPr id="5" name="矩形">
                <a:extLst>
                  <a:ext uri="{FF2B5EF4-FFF2-40B4-BE49-F238E27FC236}">
                    <a16:creationId xmlns:a16="http://schemas.microsoft.com/office/drawing/2014/main" id="{8F160DF2-0FE9-9F68-7B50-13F2DD3FD7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66" y="2391581"/>
                <a:ext cx="8565279" cy="9074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0222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圆角矩形"/>
          <p:cNvSpPr>
            <a:spLocks/>
          </p:cNvSpPr>
          <p:nvPr/>
        </p:nvSpPr>
        <p:spPr>
          <a:xfrm>
            <a:off x="1331913" y="1485414"/>
            <a:ext cx="2016124" cy="64769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5400" cap="flat" cmpd="sng">
            <a:solidFill>
              <a:srgbClr val="C9394A"/>
            </a:solidFill>
            <a:prstDash val="solid"/>
            <a:round/>
          </a:ln>
          <a:effectLst>
            <a:outerShdw blurRad="63500" sx="102000" sy="102000" algn="ctr" rotWithShape="0">
              <a:srgbClr val="000000">
                <a:alpha val="3960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u="none" strike="noStrike" kern="1200" cap="none" spc="0" baseline="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数组的维度</a:t>
            </a: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468312" y="548884"/>
            <a:ext cx="8229600" cy="57626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关于维度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圆角矩形">
            <a:extLst>
              <a:ext uri="{FF2B5EF4-FFF2-40B4-BE49-F238E27FC236}">
                <a16:creationId xmlns:a16="http://schemas.microsoft.com/office/drawing/2014/main" id="{BE0342DB-406E-3A1E-4C4E-6DDE7E4E7375}"/>
              </a:ext>
            </a:extLst>
          </p:cNvPr>
          <p:cNvSpPr>
            <a:spLocks/>
          </p:cNvSpPr>
          <p:nvPr/>
        </p:nvSpPr>
        <p:spPr>
          <a:xfrm>
            <a:off x="5580112" y="1419622"/>
            <a:ext cx="2016124" cy="64769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5400" cap="flat" cmpd="sng">
            <a:solidFill>
              <a:srgbClr val="C9394A"/>
            </a:solidFill>
            <a:prstDash val="solid"/>
            <a:round/>
          </a:ln>
          <a:effectLst>
            <a:outerShdw blurRad="63500" sx="102000" sy="102000" algn="ctr" rotWithShape="0">
              <a:srgbClr val="000000">
                <a:alpha val="3960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u="none" strike="noStrike" kern="1200" cap="none" spc="0" baseline="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空间维度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1D82030E-B3B1-FCFE-7D72-700363B3ACFC}"/>
              </a:ext>
            </a:extLst>
          </p:cNvPr>
          <p:cNvSpPr>
            <a:spLocks/>
          </p:cNvSpPr>
          <p:nvPr/>
        </p:nvSpPr>
        <p:spPr>
          <a:xfrm>
            <a:off x="767457" y="2276812"/>
            <a:ext cx="3815655" cy="1015663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1"/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[ [1, 2, 3], </a:t>
            </a:r>
          </a:p>
          <a:p>
            <a:pPr lvl="1"/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 [2, 3, 4] ]</a:t>
            </a:r>
          </a:p>
          <a:p>
            <a:pPr lvl="1"/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二维数组，形状是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2×3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3029F6D0-EBEF-B3D4-76EE-51187035F2CE}"/>
              </a:ext>
            </a:extLst>
          </p:cNvPr>
          <p:cNvSpPr>
            <a:spLocks/>
          </p:cNvSpPr>
          <p:nvPr/>
        </p:nvSpPr>
        <p:spPr>
          <a:xfrm>
            <a:off x="5004048" y="2430700"/>
            <a:ext cx="3815655" cy="224676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1"/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[1, 2, 3]</a:t>
            </a:r>
          </a:p>
          <a:p>
            <a:pPr lvl="1"/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三维坐标点</a:t>
            </a:r>
            <a:endParaRPr lang="en-US" altLang="zh-CN" sz="200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/>
            <a:endParaRPr lang="en-US" altLang="zh-CN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/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[ [1, 2, 3], </a:t>
            </a:r>
          </a:p>
          <a:p>
            <a:pPr lvl="1"/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 [2, 3, 4] ]</a:t>
            </a:r>
          </a:p>
          <a:p>
            <a:pPr lvl="1"/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个三维坐标点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lvl="1"/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540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"/>
          <p:cNvSpPr>
            <a:spLocks/>
          </p:cNvSpPr>
          <p:nvPr/>
        </p:nvSpPr>
        <p:spPr>
          <a:xfrm>
            <a:off x="3517867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向量的加减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26835608-EA74-06F6-7112-A19D38D3071A}"/>
              </a:ext>
            </a:extLst>
          </p:cNvPr>
          <p:cNvSpPr>
            <a:spLocks/>
          </p:cNvSpPr>
          <p:nvPr/>
        </p:nvSpPr>
        <p:spPr>
          <a:xfrm>
            <a:off x="525549" y="2018745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c = (a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1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 + b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1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, a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2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 + b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2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, a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3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 + b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3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)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6" name="矩形">
            <a:extLst>
              <a:ext uri="{FF2B5EF4-FFF2-40B4-BE49-F238E27FC236}">
                <a16:creationId xmlns:a16="http://schemas.microsoft.com/office/drawing/2014/main" id="{7D20A1E4-D2F5-944A-B5E9-7E947673B06D}"/>
              </a:ext>
            </a:extLst>
          </p:cNvPr>
          <p:cNvSpPr>
            <a:spLocks/>
          </p:cNvSpPr>
          <p:nvPr/>
        </p:nvSpPr>
        <p:spPr>
          <a:xfrm>
            <a:off x="525549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c = a + b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矩形">
            <a:extLst>
              <a:ext uri="{FF2B5EF4-FFF2-40B4-BE49-F238E27FC236}">
                <a16:creationId xmlns:a16="http://schemas.microsoft.com/office/drawing/2014/main" id="{05E797FD-F3E1-1C57-23AE-FB33A85CD8CA}"/>
              </a:ext>
            </a:extLst>
          </p:cNvPr>
          <p:cNvSpPr>
            <a:spLocks/>
          </p:cNvSpPr>
          <p:nvPr/>
        </p:nvSpPr>
        <p:spPr>
          <a:xfrm>
            <a:off x="525549" y="254524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a + b = b + a; 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a + (b + c) = (a + b) + c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8" name="矩形">
            <a:extLst>
              <a:ext uri="{FF2B5EF4-FFF2-40B4-BE49-F238E27FC236}">
                <a16:creationId xmlns:a16="http://schemas.microsoft.com/office/drawing/2014/main" id="{40072D46-00C9-1667-4069-D3E23B18EA0D}"/>
              </a:ext>
            </a:extLst>
          </p:cNvPr>
          <p:cNvSpPr>
            <a:spLocks/>
          </p:cNvSpPr>
          <p:nvPr/>
        </p:nvSpPr>
        <p:spPr>
          <a:xfrm>
            <a:off x="525549" y="359823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c = (a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1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 − b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1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, a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2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 − b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2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, a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3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 − b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3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)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9DA3CB93-5B8E-B407-3A95-6E2A6996D9B4}"/>
              </a:ext>
            </a:extLst>
          </p:cNvPr>
          <p:cNvSpPr>
            <a:spLocks/>
          </p:cNvSpPr>
          <p:nvPr/>
        </p:nvSpPr>
        <p:spPr>
          <a:xfrm>
            <a:off x="525549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a – b = a + (–b)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0" name="矩形">
            <a:extLst>
              <a:ext uri="{FF2B5EF4-FFF2-40B4-BE49-F238E27FC236}">
                <a16:creationId xmlns:a16="http://schemas.microsoft.com/office/drawing/2014/main" id="{F26F76B2-96A6-71B1-4C4A-7C6E82F5A883}"/>
              </a:ext>
            </a:extLst>
          </p:cNvPr>
          <p:cNvSpPr>
            <a:spLocks/>
          </p:cNvSpPr>
          <p:nvPr/>
        </p:nvSpPr>
        <p:spPr>
          <a:xfrm>
            <a:off x="525549" y="3071735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c = a − b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318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"/>
          <p:cNvSpPr>
            <a:spLocks/>
          </p:cNvSpPr>
          <p:nvPr/>
        </p:nvSpPr>
        <p:spPr>
          <a:xfrm>
            <a:off x="3517867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向量的乘除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26835608-EA74-06F6-7112-A19D38D3071A}"/>
              </a:ext>
            </a:extLst>
          </p:cNvPr>
          <p:cNvSpPr>
            <a:spLocks/>
          </p:cNvSpPr>
          <p:nvPr/>
        </p:nvSpPr>
        <p:spPr>
          <a:xfrm>
            <a:off x="495870" y="2309128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c = (a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1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 × b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1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, a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2 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× b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2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, a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3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 × b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3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); c = (a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1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b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1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, a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2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b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2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, a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3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b</a:t>
            </a:r>
            <a:r>
              <a:rPr lang="pt-BR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3</a:t>
            </a:r>
            <a:r>
              <a:rPr lang="pt-B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)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6" name="矩形">
            <a:extLst>
              <a:ext uri="{FF2B5EF4-FFF2-40B4-BE49-F238E27FC236}">
                <a16:creationId xmlns:a16="http://schemas.microsoft.com/office/drawing/2014/main" id="{7D20A1E4-D2F5-944A-B5E9-7E947673B06D}"/>
              </a:ext>
            </a:extLst>
          </p:cNvPr>
          <p:cNvSpPr>
            <a:spLocks/>
          </p:cNvSpPr>
          <p:nvPr/>
        </p:nvSpPr>
        <p:spPr>
          <a:xfrm>
            <a:off x="495870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c = a ∘ b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">
                <a:extLst>
                  <a:ext uri="{FF2B5EF4-FFF2-40B4-BE49-F238E27FC236}">
                    <a16:creationId xmlns:a16="http://schemas.microsoft.com/office/drawing/2014/main" id="{05E797FD-F3E1-1C57-23AE-FB33A85CD8C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5870" y="3126006"/>
                <a:ext cx="8565279" cy="581954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𝑐</m:t>
                    </m:r>
                    <m:r>
                      <a:rPr lang="en-US" altLang="zh-CN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=</m:t>
                    </m:r>
                    <m:f>
                      <m:fPr>
                        <m:ctrlPr>
                          <a:rPr lang="en-US" altLang="zh-CN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fPr>
                      <m:num>
                        <m:r>
                          <a:rPr lang="en-US" altLang="zh-CN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altLang="zh-CN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  <a:sym typeface="Calibri" pitchFamily="34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𝑐</m:t>
                    </m:r>
                    <m:r>
                      <a:rPr lang="en-US" altLang="zh-CN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=</m:t>
                    </m:r>
                    <m:d>
                      <m:dPr>
                        <m:ctrlPr>
                          <a:rPr lang="en-US" altLang="zh-CN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i="1" smtClean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  <a:sym typeface="Calibri" pitchFamily="3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  <a:sym typeface="Calibri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  <a:sym typeface="Calibri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000" i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  <a:sym typeface="Calibri" pitchFamily="34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  <a:sym typeface="Calibri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  <a:sym typeface="Calibri" pitchFamily="34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000" i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  <a:sym typeface="Calibri" pitchFamily="34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  <a:sym typeface="Calibri" pitchFamily="3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  <a:sym typeface="Calibri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  <a:sym typeface="Calibri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00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  <a:sym typeface="Calibri" pitchFamily="34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  <a:sym typeface="Calibri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  <a:sym typeface="Calibri" pitchFamily="34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00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  <a:sym typeface="Calibri" pitchFamily="34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00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  <a:sym typeface="Calibri" pitchFamily="3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  <a:sym typeface="Calibri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  <a:sym typeface="Calibri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000" b="0" i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  <a:sym typeface="Calibri" pitchFamily="34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  <a:sym typeface="Calibri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  <a:sym typeface="Calibri" pitchFamily="34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000" b="0" i="0" smtClean="0">
                                    <a:solidFill>
                                      <a:srgbClr val="474747"/>
                                    </a:solidFill>
                                    <a:latin typeface="Cambria Math" panose="02040503050406030204" pitchFamily="18" charset="0"/>
                                    <a:sym typeface="Calibri" pitchFamily="34" charset="0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>
          <p:sp>
            <p:nvSpPr>
              <p:cNvPr id="7" name="矩形">
                <a:extLst>
                  <a:ext uri="{FF2B5EF4-FFF2-40B4-BE49-F238E27FC236}">
                    <a16:creationId xmlns:a16="http://schemas.microsoft.com/office/drawing/2014/main" id="{05E797FD-F3E1-1C57-23AE-FB33A85CD8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70" y="3126006"/>
                <a:ext cx="8565279" cy="5819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">
            <a:extLst>
              <a:ext uri="{FF2B5EF4-FFF2-40B4-BE49-F238E27FC236}">
                <a16:creationId xmlns:a16="http://schemas.microsoft.com/office/drawing/2014/main" id="{97C090BF-6B29-2B8D-256A-D4BBECF6FF24}"/>
              </a:ext>
            </a:extLst>
          </p:cNvPr>
          <p:cNvSpPr>
            <a:spLocks/>
          </p:cNvSpPr>
          <p:nvPr/>
        </p:nvSpPr>
        <p:spPr>
          <a:xfrm>
            <a:off x="495870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向量和标量相乘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600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"/>
          <p:cNvSpPr>
            <a:spLocks/>
          </p:cNvSpPr>
          <p:nvPr/>
        </p:nvSpPr>
        <p:spPr>
          <a:xfrm>
            <a:off x="3517867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向量的点积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">
                <a:extLst>
                  <a:ext uri="{FF2B5EF4-FFF2-40B4-BE49-F238E27FC236}">
                    <a16:creationId xmlns:a16="http://schemas.microsoft.com/office/drawing/2014/main" id="{26835608-EA74-06F6-7112-A19D38D3071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5870" y="2369742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zh-CN" altLang="en-US" sz="2000"/>
                      <m:t>⋅</m:t>
                    </m:r>
                    <m:r>
                      <m:rPr>
                        <m:sty m:val="p"/>
                      </m:rPr>
                      <a:rPr lang="en-US" altLang="zh-CN" sz="2000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pt-BR" altLang="zh-CN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t-BR" altLang="zh-CN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dPr>
                      <m:e>
                        <m:r>
                          <a:rPr lang="pt-BR" altLang="zh-CN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𝑎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pt-BR" altLang="zh-CN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dPr>
                      <m:e>
                        <m:r>
                          <a:rPr lang="pt-BR" altLang="zh-CN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𝑏</m:t>
                        </m:r>
                      </m:e>
                    </m:d>
                    <m:func>
                      <m:funcPr>
                        <m:ctrlPr>
                          <a:rPr lang="pt-BR" altLang="zh-CN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altLang="zh-CN" sz="2000" i="0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cos</m:t>
                        </m:r>
                      </m:fName>
                      <m:e>
                        <m:r>
                          <a:rPr lang="pt-BR" altLang="zh-CN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𝜃</m:t>
                        </m:r>
                      </m:e>
                    </m:func>
                  </m:oMath>
                </a14:m>
                <a:endParaRPr lang="zh-CN" altLang="en-US" sz="200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>
          <p:sp>
            <p:nvSpPr>
              <p:cNvPr id="4" name="矩形">
                <a:extLst>
                  <a:ext uri="{FF2B5EF4-FFF2-40B4-BE49-F238E27FC236}">
                    <a16:creationId xmlns:a16="http://schemas.microsoft.com/office/drawing/2014/main" id="{26835608-EA74-06F6-7112-A19D38D307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70" y="2369742"/>
                <a:ext cx="8565279" cy="400110"/>
              </a:xfrm>
              <a:prstGeom prst="rect">
                <a:avLst/>
              </a:prstGeom>
              <a:blipFill>
                <a:blip r:embed="rId3"/>
                <a:stretch>
                  <a:fillRect t="-4615" b="-24615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">
                <a:extLst>
                  <a:ext uri="{FF2B5EF4-FFF2-40B4-BE49-F238E27FC236}">
                    <a16:creationId xmlns:a16="http://schemas.microsoft.com/office/drawing/2014/main" id="{7D20A1E4-D2F5-944A-B5E9-7E947673B06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5870" y="1492250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zh-CN" altLang="en-US"/>
                      <m:t>⋅</m:t>
                    </m:r>
                    <m:r>
                      <m:rPr>
                        <m:sty m:val="p"/>
                      </m:rPr>
                      <a:rPr lang="en-US" altLang="zh-CN" sz="2000" b="0" i="0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000" i="0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i="0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000" i="0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i="0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000" i="0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i="0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000" i="0" dirty="0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>
          <p:sp>
            <p:nvSpPr>
              <p:cNvPr id="6" name="矩形">
                <a:extLst>
                  <a:ext uri="{FF2B5EF4-FFF2-40B4-BE49-F238E27FC236}">
                    <a16:creationId xmlns:a16="http://schemas.microsoft.com/office/drawing/2014/main" id="{7D20A1E4-D2F5-944A-B5E9-7E947673B0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70" y="1492250"/>
                <a:ext cx="8565279" cy="400110"/>
              </a:xfrm>
              <a:prstGeom prst="rect">
                <a:avLst/>
              </a:prstGeom>
              <a:blipFill>
                <a:blip r:embed="rId4"/>
                <a:stretch>
                  <a:fillRect t="-4615" b="-24615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">
            <a:extLst>
              <a:ext uri="{FF2B5EF4-FFF2-40B4-BE49-F238E27FC236}">
                <a16:creationId xmlns:a16="http://schemas.microsoft.com/office/drawing/2014/main" id="{F3D5871B-C63F-EF5E-7CD2-C449C77CA8AB}"/>
              </a:ext>
            </a:extLst>
          </p:cNvPr>
          <p:cNvSpPr>
            <a:spLocks/>
          </p:cNvSpPr>
          <p:nvPr/>
        </p:nvSpPr>
        <p:spPr>
          <a:xfrm>
            <a:off x="495870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又称为标量积，内积，映射积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28115711-DB9C-BAB3-2C18-99B8ED55943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5870" y="3247234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dirty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zh-CN" altLang="en-US" sz="2000"/>
                      <m:t>⋅</m:t>
                    </m:r>
                    <m:r>
                      <m:rPr>
                        <m:sty m:val="p"/>
                      </m:rPr>
                      <a:rPr lang="en-US" altLang="zh-CN" sz="2000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pt-BR" altLang="zh-CN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000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zh-CN" altLang="en-US" sz="2000"/>
                      <m:t>⋅</m:t>
                    </m:r>
                    <m:r>
                      <m:rPr>
                        <m:sty m:val="p"/>
                      </m:rPr>
                      <a:rPr lang="en-US" altLang="zh-CN" sz="2000" i="1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zh-CN" altLang="en-US" sz="200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28115711-DB9C-BAB3-2C18-99B8ED559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70" y="3247234"/>
                <a:ext cx="8565279" cy="400110"/>
              </a:xfrm>
              <a:prstGeom prst="rect">
                <a:avLst/>
              </a:prstGeom>
              <a:blipFill>
                <a:blip r:embed="rId5"/>
                <a:stretch>
                  <a:fillRect t="-4615" b="-23077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8062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"/>
          <p:cNvSpPr>
            <a:spLocks/>
          </p:cNvSpPr>
          <p:nvPr/>
        </p:nvSpPr>
        <p:spPr>
          <a:xfrm>
            <a:off x="3517869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向量的叉积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">
                <a:extLst>
                  <a:ext uri="{FF2B5EF4-FFF2-40B4-BE49-F238E27FC236}">
                    <a16:creationId xmlns:a16="http://schemas.microsoft.com/office/drawing/2014/main" id="{7D20A1E4-D2F5-944A-B5E9-7E947673B06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5870" y="1492250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pt-BR" altLang="zh-CN" sz="2000" dirty="0">
                        <a:solidFill>
                          <a:srgbClr val="474747"/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Calibri" pitchFamily="34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altLang="zh-CN" sz="2000" dirty="0">
                        <a:solidFill>
                          <a:srgbClr val="474747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pt-BR" altLang="zh-CN" sz="200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t-BR" altLang="zh-CN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dPr>
                      <m:e>
                        <m:r>
                          <a:rPr lang="pt-BR" altLang="zh-CN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𝑎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pt-BR" altLang="zh-CN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dPr>
                      <m:e>
                        <m:r>
                          <a:rPr lang="pt-BR" altLang="zh-CN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𝑏</m:t>
                        </m:r>
                      </m:e>
                    </m:d>
                    <m:func>
                      <m:funcPr>
                        <m:ctrlPr>
                          <a:rPr lang="pt-BR" altLang="zh-CN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sin</m:t>
                        </m:r>
                      </m:fName>
                      <m:e>
                        <m:r>
                          <a:rPr lang="pt-BR" altLang="zh-CN" sz="2000" i="1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𝜃</m:t>
                        </m:r>
                        <m:acc>
                          <m:accPr>
                            <m:chr m:val="̂"/>
                            <m:ctrlPr>
                              <a:rPr lang="pt-BR" altLang="zh-CN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  <a:sym typeface="Calibri" pitchFamily="34" charset="0"/>
                              </a:rPr>
                            </m:ctrlPr>
                          </m:accPr>
                          <m:e>
                            <m:r>
                              <a:rPr lang="pt-BR" altLang="zh-CN" sz="2000" i="1">
                                <a:solidFill>
                                  <a:srgbClr val="474747"/>
                                </a:solidFill>
                                <a:latin typeface="Cambria Math" panose="02040503050406030204" pitchFamily="18" charset="0"/>
                                <a:sym typeface="Calibri" pitchFamily="34" charset="0"/>
                              </a:rPr>
                              <m:t>𝑛</m:t>
                            </m:r>
                          </m:e>
                        </m:acc>
                      </m:e>
                    </m:func>
                  </m:oMath>
                </a14:m>
                <a:endParaRPr lang="zh-CN" altLang="en-US" sz="200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>
          <p:sp>
            <p:nvSpPr>
              <p:cNvPr id="6" name="矩形">
                <a:extLst>
                  <a:ext uri="{FF2B5EF4-FFF2-40B4-BE49-F238E27FC236}">
                    <a16:creationId xmlns:a16="http://schemas.microsoft.com/office/drawing/2014/main" id="{7D20A1E4-D2F5-944A-B5E9-7E947673B0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70" y="1492250"/>
                <a:ext cx="8565279" cy="400110"/>
              </a:xfrm>
              <a:prstGeom prst="rect">
                <a:avLst/>
              </a:prstGeom>
              <a:blipFill>
                <a:blip r:embed="rId3"/>
                <a:stretch>
                  <a:fillRect t="-4615" b="-24615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">
            <a:extLst>
              <a:ext uri="{FF2B5EF4-FFF2-40B4-BE49-F238E27FC236}">
                <a16:creationId xmlns:a16="http://schemas.microsoft.com/office/drawing/2014/main" id="{AB1CEAE7-2704-7471-D891-4634AF85C8C5}"/>
              </a:ext>
            </a:extLst>
          </p:cNvPr>
          <p:cNvSpPr>
            <a:spLocks/>
          </p:cNvSpPr>
          <p:nvPr/>
        </p:nvSpPr>
        <p:spPr>
          <a:xfrm>
            <a:off x="495869" y="293179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右手拇指法则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278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"/>
              <p:cNvSpPr>
                <a:spLocks/>
              </p:cNvSpPr>
              <p:nvPr/>
            </p:nvSpPr>
            <p:spPr>
              <a:xfrm>
                <a:off x="525549" y="2369850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CN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范数</a:t>
                </a:r>
                <a:endParaRPr lang="zh-CN" altLang="en-US" sz="200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>
          <p:sp>
            <p:nvSpPr>
              <p:cNvPr id="14" name="矩形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9" y="2369850"/>
                <a:ext cx="8565279" cy="400110"/>
              </a:xfrm>
              <a:prstGeom prst="rect">
                <a:avLst/>
              </a:prstGeom>
              <a:blipFill>
                <a:blip r:embed="rId3"/>
                <a:stretch>
                  <a:fillRect t="-7692" b="-27692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"/>
          <p:cNvSpPr>
            <a:spLocks/>
          </p:cNvSpPr>
          <p:nvPr/>
        </p:nvSpPr>
        <p:spPr>
          <a:xfrm>
            <a:off x="525549" y="1492090"/>
            <a:ext cx="8565279" cy="40043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大小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(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幅度，量级，模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)</a:t>
            </a:r>
            <a:endParaRPr lang="zh-CN" altLang="en-US" sz="2000" u="none" strike="noStrike" kern="1200" cap="none" spc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"/>
              <p:cNvSpPr>
                <a:spLocks/>
              </p:cNvSpPr>
              <p:nvPr/>
            </p:nvSpPr>
            <p:spPr>
              <a:xfrm>
                <a:off x="525549" y="3247289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CN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范数</a:t>
                </a:r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>
          <p:sp>
            <p:nvSpPr>
              <p:cNvPr id="16" name="矩形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9" y="3247289"/>
                <a:ext cx="8565279" cy="400110"/>
              </a:xfrm>
              <a:prstGeom prst="rect">
                <a:avLst/>
              </a:prstGeom>
              <a:blipFill>
                <a:blip r:embed="rId4"/>
                <a:stretch>
                  <a:fillRect t="-7692" b="-27692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"/>
          <p:cNvSpPr>
            <a:spLocks/>
          </p:cNvSpPr>
          <p:nvPr/>
        </p:nvSpPr>
        <p:spPr>
          <a:xfrm>
            <a:off x="3517864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向量的范数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C726D6B3-4F5B-7B91-FBA6-294BB6E02C9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9" y="4124727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CN" sz="2000" dirty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lang="zh-CN" altLang="en-US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范数</a:t>
                </a:r>
                <a:endParaRPr lang="zh-CN" altLang="en-US" sz="200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C726D6B3-4F5B-7B91-FBA6-294BB6E02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9" y="4124727"/>
                <a:ext cx="8565279" cy="400110"/>
              </a:xfrm>
              <a:prstGeom prst="rect">
                <a:avLst/>
              </a:prstGeom>
              <a:blipFill>
                <a:blip r:embed="rId5"/>
                <a:stretch>
                  <a:fillRect t="-9231" b="-27692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6869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525549" y="28085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零向量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525549" y="1492090"/>
            <a:ext cx="8565279" cy="40043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单位向量</a:t>
            </a:r>
            <a:endParaRPr lang="zh-CN" altLang="en-US" sz="2000" u="none" strike="noStrike" kern="1200" cap="none" spc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710228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向量类型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C726D6B3-4F5B-7B91-FBA6-294BB6E02C9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549" y="4124727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000" dirty="0">
                        <a:solidFill>
                          <a:srgbClr val="474747"/>
                        </a:solidFill>
                        <a:latin typeface="微软雅黑" charset="0"/>
                        <a:ea typeface="微软雅黑" charset="0"/>
                        <a:cs typeface="微软雅黑" charset="0"/>
                      </a:rPr>
                      <m:t>正交向量</m:t>
                    </m:r>
                  </m:oMath>
                </a14:m>
                <a:endParaRPr lang="zh-CN" altLang="en-US" sz="200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>
          <p:sp>
            <p:nvSpPr>
              <p:cNvPr id="3" name="矩形">
                <a:extLst>
                  <a:ext uri="{FF2B5EF4-FFF2-40B4-BE49-F238E27FC236}">
                    <a16:creationId xmlns:a16="http://schemas.microsoft.com/office/drawing/2014/main" id="{C726D6B3-4F5B-7B91-FBA6-294BB6E02C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49" y="4124727"/>
                <a:ext cx="8565279" cy="400110"/>
              </a:xfrm>
              <a:prstGeom prst="rect">
                <a:avLst/>
              </a:prstGeom>
              <a:blipFill>
                <a:blip r:embed="rId3"/>
                <a:stretch>
                  <a:fillRect t="-4615" b="-23077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9503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"/>
          <p:cNvSpPr>
            <a:spLocks/>
          </p:cNvSpPr>
          <p:nvPr/>
        </p:nvSpPr>
        <p:spPr>
          <a:xfrm>
            <a:off x="3517867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矩阵的加减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">
                <a:extLst>
                  <a:ext uri="{FF2B5EF4-FFF2-40B4-BE49-F238E27FC236}">
                    <a16:creationId xmlns:a16="http://schemas.microsoft.com/office/drawing/2014/main" id="{26835608-EA74-06F6-7112-A19D38D3071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5870" y="2309128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charset="0"/>
                      </a:rPr>
                      <m:t>C</m:t>
                    </m:r>
                    <m:r>
                      <a:rPr lang="en-US" altLang="zh-CN" sz="200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00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charset="0"/>
                      </a:rPr>
                      <m:t>A</m:t>
                    </m:r>
                    <m:r>
                      <a:rPr lang="en-US" altLang="zh-CN" sz="2000" b="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charset="0"/>
                      </a:rPr>
                      <m:t>−</m:t>
                    </m:r>
                    <m:r>
                      <a:rPr lang="en-US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charset="0"/>
                      </a:rPr>
                      <m:t>𝐵</m:t>
                    </m:r>
                    <m:r>
                      <m:rPr>
                        <m:nor/>
                      </m:rPr>
                      <a:rPr lang="en-US" altLang="zh-CN" sz="2000" dirty="0">
                        <a:solidFill>
                          <a:srgbClr val="474747"/>
                        </a:solidFill>
                        <a:latin typeface="微软雅黑" charset="0"/>
                        <a:ea typeface="微软雅黑" charset="0"/>
                        <a:cs typeface="微软雅黑" charset="0"/>
                      </a:rPr>
                      <m:t> </m:t>
                    </m:r>
                  </m:oMath>
                </a14:m>
                <a:endParaRPr lang="zh-CN" altLang="en-US" sz="200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>
          <p:sp>
            <p:nvSpPr>
              <p:cNvPr id="4" name="矩形">
                <a:extLst>
                  <a:ext uri="{FF2B5EF4-FFF2-40B4-BE49-F238E27FC236}">
                    <a16:creationId xmlns:a16="http://schemas.microsoft.com/office/drawing/2014/main" id="{26835608-EA74-06F6-7112-A19D38D307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70" y="2309128"/>
                <a:ext cx="8565279" cy="400110"/>
              </a:xfrm>
              <a:prstGeom prst="rect">
                <a:avLst/>
              </a:prstGeom>
              <a:blipFill>
                <a:blip r:embed="rId3"/>
                <a:stretch>
                  <a:fillRect t="-4615" b="-24615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">
                <a:extLst>
                  <a:ext uri="{FF2B5EF4-FFF2-40B4-BE49-F238E27FC236}">
                    <a16:creationId xmlns:a16="http://schemas.microsoft.com/office/drawing/2014/main" id="{7D20A1E4-D2F5-944A-B5E9-7E947673B06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5870" y="1492250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charset="0"/>
                      </a:rPr>
                      <m:t>C</m:t>
                    </m:r>
                    <m:r>
                      <a:rPr lang="en-US" altLang="zh-CN" sz="2000" b="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charset="0"/>
                      </a:rPr>
                      <m:t>A</m:t>
                    </m:r>
                    <m:r>
                      <a:rPr lang="en-US" altLang="zh-CN" sz="2000" b="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charset="0"/>
                      </a:rPr>
                      <m:t>+</m:t>
                    </m:r>
                    <m:r>
                      <a:rPr lang="en-US" altLang="zh-CN" sz="2000" b="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charset="0"/>
                      </a:rPr>
                      <m:t>𝐵</m:t>
                    </m:r>
                  </m:oMath>
                </a14:m>
                <a:r>
                  <a:rPr lang="en-US" altLang="zh-CN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 </a:t>
                </a:r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>
          <p:sp>
            <p:nvSpPr>
              <p:cNvPr id="6" name="矩形">
                <a:extLst>
                  <a:ext uri="{FF2B5EF4-FFF2-40B4-BE49-F238E27FC236}">
                    <a16:creationId xmlns:a16="http://schemas.microsoft.com/office/drawing/2014/main" id="{7D20A1E4-D2F5-944A-B5E9-7E947673B0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70" y="1492250"/>
                <a:ext cx="8565279" cy="400110"/>
              </a:xfrm>
              <a:prstGeom prst="rect">
                <a:avLst/>
              </a:prstGeom>
              <a:blipFill>
                <a:blip r:embed="rId4"/>
                <a:stretch>
                  <a:fillRect t="-4615" b="-24615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2145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"/>
          <p:cNvSpPr>
            <a:spLocks/>
          </p:cNvSpPr>
          <p:nvPr/>
        </p:nvSpPr>
        <p:spPr>
          <a:xfrm>
            <a:off x="3517867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矩阵的乘除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">
                <a:extLst>
                  <a:ext uri="{FF2B5EF4-FFF2-40B4-BE49-F238E27FC236}">
                    <a16:creationId xmlns:a16="http://schemas.microsoft.com/office/drawing/2014/main" id="{26835608-EA74-06F6-7112-A19D38D3071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5870" y="2743888"/>
                <a:ext cx="8565279" cy="529312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pt-BR" altLang="zh-CN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𝐶</m:t>
                    </m:r>
                    <m:r>
                      <a:rPr lang="pt-BR" altLang="zh-CN" sz="200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=</m:t>
                    </m:r>
                    <m:f>
                      <m:fPr>
                        <m:ctrlPr>
                          <a:rPr lang="pt-BR" altLang="zh-CN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</m:ctrlPr>
                      </m:fPr>
                      <m:num>
                        <m:r>
                          <a:rPr lang="pt-BR" altLang="zh-CN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𝐴</m:t>
                        </m:r>
                      </m:num>
                      <m:den>
                        <m:r>
                          <a:rPr lang="pt-BR" altLang="zh-CN" sz="2000" i="1" smtClean="0">
                            <a:solidFill>
                              <a:srgbClr val="474747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𝐵</m:t>
                        </m:r>
                      </m:den>
                    </m:f>
                  </m:oMath>
                </a14:m>
                <a:endParaRPr lang="zh-CN" altLang="en-US" sz="200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>
          <p:sp>
            <p:nvSpPr>
              <p:cNvPr id="4" name="矩形">
                <a:extLst>
                  <a:ext uri="{FF2B5EF4-FFF2-40B4-BE49-F238E27FC236}">
                    <a16:creationId xmlns:a16="http://schemas.microsoft.com/office/drawing/2014/main" id="{26835608-EA74-06F6-7112-A19D38D307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70" y="2743888"/>
                <a:ext cx="8565279" cy="529312"/>
              </a:xfrm>
              <a:prstGeom prst="rect">
                <a:avLst/>
              </a:prstGeom>
              <a:blipFill>
                <a:blip r:embed="rId3"/>
                <a:stretch>
                  <a:fillRect b="-4598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">
                <a:extLst>
                  <a:ext uri="{FF2B5EF4-FFF2-40B4-BE49-F238E27FC236}">
                    <a16:creationId xmlns:a16="http://schemas.microsoft.com/office/drawing/2014/main" id="{7D20A1E4-D2F5-944A-B5E9-7E947673B06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5870" y="1492250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charset="0"/>
                      </a:rPr>
                      <m:t>C</m:t>
                    </m:r>
                    <m:r>
                      <a:rPr lang="en-US" altLang="zh-CN" sz="2000" b="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charset="0"/>
                      </a:rPr>
                      <m:t>A</m:t>
                    </m:r>
                    <m:r>
                      <a:rPr lang="en-US" altLang="zh-CN" sz="200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charset="0"/>
                      </a:rPr>
                      <m:t>∘</m:t>
                    </m:r>
                    <m:r>
                      <a:rPr lang="en-US" altLang="zh-CN" sz="2000" b="0" i="1" smtClean="0">
                        <a:solidFill>
                          <a:srgbClr val="47474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微软雅黑" charset="0"/>
                      </a:rPr>
                      <m:t>𝐵</m:t>
                    </m:r>
                  </m:oMath>
                </a14:m>
                <a:r>
                  <a:rPr lang="en-US" altLang="zh-CN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</a:rPr>
                  <a:t> </a:t>
                </a:r>
                <a:endParaRPr lang="zh-CN" altLang="en-US" sz="2000" u="none" strike="noStrike" kern="1200" cap="none" spc="0" baseline="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</a:endParaRPr>
              </a:p>
            </p:txBody>
          </p:sp>
        </mc:Choice>
        <mc:Fallback>
          <p:sp>
            <p:nvSpPr>
              <p:cNvPr id="6" name="矩形">
                <a:extLst>
                  <a:ext uri="{FF2B5EF4-FFF2-40B4-BE49-F238E27FC236}">
                    <a16:creationId xmlns:a16="http://schemas.microsoft.com/office/drawing/2014/main" id="{7D20A1E4-D2F5-944A-B5E9-7E947673B0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70" y="1492250"/>
                <a:ext cx="8565279" cy="400110"/>
              </a:xfrm>
              <a:prstGeom prst="rect">
                <a:avLst/>
              </a:prstGeom>
              <a:blipFill>
                <a:blip r:embed="rId4"/>
                <a:stretch>
                  <a:fillRect t="-4615" b="-24615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">
                <a:extLst>
                  <a:ext uri="{FF2B5EF4-FFF2-40B4-BE49-F238E27FC236}">
                    <a16:creationId xmlns:a16="http://schemas.microsoft.com/office/drawing/2014/main" id="{97C090BF-6B29-2B8D-256A-D4BBECF6FF2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5870" y="4124727"/>
                <a:ext cx="8565279" cy="400110"/>
              </a:xfrm>
              <a:prstGeom prst="rect">
                <a:avLst/>
              </a:prstGeom>
              <a:noFill/>
              <a:ln w="9525" cap="flat" cmpd="sng">
                <a:noFill/>
                <a:prstDash val="solid"/>
                <a:miter/>
              </a:ln>
            </p:spPr>
            <p:txBody>
              <a:bodyPr vert="horz" wrap="square" lIns="91440" tIns="45720" rIns="91440" bIns="45720" anchor="ctr" anchorCtr="0">
                <a:prstTxWarp prst="textNoShape">
                  <a:avLst/>
                </a:prstTxWarp>
                <a:spAutoFit/>
              </a:bodyPr>
              <a:lstStyle/>
              <a:p>
                <a:pPr marL="800100" lvl="1" indent="-34290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C</m:t>
                    </m:r>
                    <m:r>
                      <a:rPr lang="en-US" altLang="zh-CN" sz="200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A</m:t>
                    </m:r>
                    <m:r>
                      <a:rPr lang="en-US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B</m:t>
                    </m:r>
                    <m:r>
                      <a:rPr lang="en-US" altLang="zh-CN" sz="200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  <a:sym typeface="Calibri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C</m:t>
                    </m:r>
                    <m:r>
                      <a:rPr lang="en-US" altLang="zh-CN" sz="200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AB</m:t>
                    </m:r>
                  </m:oMath>
                </a14:m>
                <a:r>
                  <a:rPr lang="en-US" altLang="zh-CN" sz="2000" dirty="0">
                    <a:solidFill>
                      <a:srgbClr val="474747"/>
                    </a:solidFill>
                    <a:latin typeface="微软雅黑" charset="0"/>
                    <a:ea typeface="微软雅黑" charset="0"/>
                    <a:cs typeface="微软雅黑" charset="0"/>
                    <a:sym typeface="Calibri" pitchFamily="34" charset="0"/>
                  </a:rPr>
                  <a:t> 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C</m:t>
                    </m:r>
                    <m:r>
                      <a:rPr lang="pt-BR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(</m:t>
                    </m:r>
                    <m:r>
                      <a:rPr lang="pt-BR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𝑚</m:t>
                    </m:r>
                    <m:r>
                      <a:rPr lang="pt-BR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, </m:t>
                    </m:r>
                    <m:r>
                      <a:rPr lang="pt-BR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𝑘</m:t>
                    </m:r>
                    <m:r>
                      <a:rPr lang="pt-BR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) = </m:t>
                    </m:r>
                    <m:r>
                      <m:rPr>
                        <m:sty m:val="p"/>
                      </m:rPr>
                      <a:rPr lang="pt-BR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A</m:t>
                    </m:r>
                    <m:r>
                      <a:rPr lang="pt-BR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(</m:t>
                    </m:r>
                    <m:r>
                      <a:rPr lang="pt-BR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𝑚</m:t>
                    </m:r>
                    <m:r>
                      <a:rPr lang="pt-BR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, </m:t>
                    </m:r>
                    <m:r>
                      <a:rPr lang="pt-BR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𝑛</m:t>
                    </m:r>
                    <m:r>
                      <a:rPr lang="pt-BR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)·</m:t>
                    </m:r>
                    <m:r>
                      <m:rPr>
                        <m:sty m:val="p"/>
                      </m:rPr>
                      <a:rPr lang="pt-BR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B</m:t>
                    </m:r>
                    <m:r>
                      <a:rPr lang="pt-BR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(</m:t>
                    </m:r>
                    <m:r>
                      <a:rPr lang="pt-BR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𝑛</m:t>
                    </m:r>
                    <m:r>
                      <a:rPr lang="pt-BR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, </m:t>
                    </m:r>
                    <m:r>
                      <a:rPr lang="pt-BR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𝑘</m:t>
                    </m:r>
                    <m:r>
                      <a:rPr lang="pt-BR" altLang="zh-CN" sz="2000" i="1">
                        <a:solidFill>
                          <a:srgbClr val="474747"/>
                        </a:solidFill>
                        <a:latin typeface="Cambria Math" panose="02040503050406030204" pitchFamily="18" charset="0"/>
                        <a:sym typeface="Calibri" pitchFamily="34" charset="0"/>
                      </a:rPr>
                      <m:t>)</m:t>
                    </m:r>
                  </m:oMath>
                </a14:m>
                <a:endParaRPr lang="zh-CN" altLang="en-US" sz="2000" dirty="0">
                  <a:solidFill>
                    <a:srgbClr val="C9394A"/>
                  </a:solidFill>
                  <a:latin typeface="微软雅黑" charset="0"/>
                  <a:ea typeface="微软雅黑" charset="0"/>
                  <a:cs typeface="微软雅黑" charset="0"/>
                  <a:sym typeface="Calibri" pitchFamily="34" charset="0"/>
                </a:endParaRPr>
              </a:p>
            </p:txBody>
          </p:sp>
        </mc:Choice>
        <mc:Fallback>
          <p:sp>
            <p:nvSpPr>
              <p:cNvPr id="2" name="矩形">
                <a:extLst>
                  <a:ext uri="{FF2B5EF4-FFF2-40B4-BE49-F238E27FC236}">
                    <a16:creationId xmlns:a16="http://schemas.microsoft.com/office/drawing/2014/main" id="{97C090BF-6B29-2B8D-256A-D4BBECF6FF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70" y="4124727"/>
                <a:ext cx="8565279" cy="400110"/>
              </a:xfrm>
              <a:prstGeom prst="rect">
                <a:avLst/>
              </a:prstGeom>
              <a:blipFill>
                <a:blip r:embed="rId5"/>
                <a:stretch>
                  <a:fillRect t="-9231" b="-27692"/>
                </a:stretch>
              </a:blipFill>
              <a:ln w="9525" cap="flat" cmpd="sng">
                <a:noFill/>
                <a:prstDash val="solid"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1802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4355976" y="1492250"/>
            <a:ext cx="460851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方阵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525549" y="1492090"/>
            <a:ext cx="8565279" cy="40043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零矩阵</a:t>
            </a:r>
            <a:endParaRPr lang="zh-CN" altLang="en-US" sz="2000" u="none" strike="noStrike" kern="1200" cap="none" spc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525549" y="236984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对角矩阵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505040" y="577890"/>
            <a:ext cx="2133918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矩阵的类型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9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正交矩阵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2513E506-8131-248F-B8AB-E7F582308499}"/>
              </a:ext>
            </a:extLst>
          </p:cNvPr>
          <p:cNvSpPr>
            <a:spLocks/>
          </p:cNvSpPr>
          <p:nvPr/>
        </p:nvSpPr>
        <p:spPr>
          <a:xfrm>
            <a:off x="4355976" y="2369742"/>
            <a:ext cx="4262475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单位矩阵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9AA1FEAE-965A-D113-1813-579340279A9B}"/>
              </a:ext>
            </a:extLst>
          </p:cNvPr>
          <p:cNvSpPr>
            <a:spLocks/>
          </p:cNvSpPr>
          <p:nvPr/>
        </p:nvSpPr>
        <p:spPr>
          <a:xfrm>
            <a:off x="4355976" y="4124727"/>
            <a:ext cx="3686411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对称矩阵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C8538027-EE40-EB23-54C0-F26C2E110C41}"/>
              </a:ext>
            </a:extLst>
          </p:cNvPr>
          <p:cNvSpPr>
            <a:spLocks/>
          </p:cNvSpPr>
          <p:nvPr/>
        </p:nvSpPr>
        <p:spPr>
          <a:xfrm>
            <a:off x="525549" y="324728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三角矩阵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7" name="矩形">
            <a:extLst>
              <a:ext uri="{FF2B5EF4-FFF2-40B4-BE49-F238E27FC236}">
                <a16:creationId xmlns:a16="http://schemas.microsoft.com/office/drawing/2014/main" id="{977695A7-786E-79B6-A4F5-D3DB3C6DF1B8}"/>
              </a:ext>
            </a:extLst>
          </p:cNvPr>
          <p:cNvSpPr>
            <a:spLocks/>
          </p:cNvSpPr>
          <p:nvPr/>
        </p:nvSpPr>
        <p:spPr>
          <a:xfrm>
            <a:off x="4355976" y="3247234"/>
            <a:ext cx="4262475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标量矩阵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224022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23321</TotalTime>
  <Words>427</Words>
  <Application>Microsoft Office PowerPoint</Application>
  <PresentationFormat>On-screen Show (16:9)</PresentationFormat>
  <Paragraphs>89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微软雅黑</vt:lpstr>
      <vt:lpstr>Arial</vt:lpstr>
      <vt:lpstr>Calibri</vt:lpstr>
      <vt:lpstr>Cambria Math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67</cp:revision>
  <dcterms:created xsi:type="dcterms:W3CDTF">2016-04-25T01:54:29Z</dcterms:created>
  <dcterms:modified xsi:type="dcterms:W3CDTF">2024-06-29T03:20:01Z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