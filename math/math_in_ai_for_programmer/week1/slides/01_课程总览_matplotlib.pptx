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10"/>
  </p:notesMasterIdLst>
  <p:sldIdLst>
    <p:sldId id="299" r:id="rId3"/>
    <p:sldId id="311" r:id="rId4"/>
    <p:sldId id="307" r:id="rId5"/>
    <p:sldId id="295" r:id="rId6"/>
    <p:sldId id="308" r:id="rId7"/>
    <p:sldId id="309" r:id="rId8"/>
    <p:sldId id="310" r:id="rId9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2024/11/18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680E2-9ED6-2B7A-4350-90135CF91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070E6FA4-451E-611F-1A70-096D3AB6FF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F9604399-00DE-D3A0-D3F0-F8E753013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FEDC40E6-A7DC-B499-60DC-2F282B5B5C72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274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513DA-96EC-87F0-F5F1-43F41F5B4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2F068E-EBB9-40E9-F20F-77BF31A92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D44DC75-4038-CA66-B89F-2597A9F4D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3278758A-2EBB-2C4A-E091-0FC220BA3CE6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816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567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F6D23-4320-D6EE-EBFB-93DB59547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9EFC233C-A420-AEC1-7A93-4AE4C388A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AAAE0DE-C3EB-AC27-3747-30A367D61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9069445A-0B7B-2F6B-C8CB-E246A2C3A3D8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729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AD068-A575-047F-783A-E2A038BE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03D25E58-A4F6-4D74-31A4-54E5D7D98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BC6E871E-EA6A-F87F-5B89-882C9D116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9BC418EB-6E3D-56D1-E9BB-22468E32AF4A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753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932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2024/11/18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程序员转型人工智能数学知识全覆盖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124BE-BF19-AD70-7CA1-DD4B2288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>
            <a:extLst>
              <a:ext uri="{FF2B5EF4-FFF2-40B4-BE49-F238E27FC236}">
                <a16:creationId xmlns:a16="http://schemas.microsoft.com/office/drawing/2014/main" id="{34900415-5F79-2857-42AA-0C6E6CB23B11}"/>
              </a:ext>
            </a:extLst>
          </p:cNvPr>
          <p:cNvSpPr>
            <a:spLocks/>
          </p:cNvSpPr>
          <p:nvPr/>
        </p:nvSpPr>
        <p:spPr>
          <a:xfrm>
            <a:off x="543224" y="2739819"/>
            <a:ext cx="8565279" cy="36933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微积分</a:t>
            </a:r>
            <a:endParaRPr lang="zh-CN" altLang="en-US" sz="2000" dirty="0">
              <a:solidFill>
                <a:srgbClr val="474747"/>
              </a:solidFill>
              <a:latin typeface="微软雅黑" charset="0"/>
              <a:ea typeface="微软雅黑" charset="0"/>
              <a:sym typeface="Calibri" pitchFamily="34" charset="0"/>
            </a:endParaRPr>
          </a:p>
        </p:txBody>
      </p:sp>
      <p:sp>
        <p:nvSpPr>
          <p:cNvPr id="10" name="矩形">
            <a:extLst>
              <a:ext uri="{FF2B5EF4-FFF2-40B4-BE49-F238E27FC236}">
                <a16:creationId xmlns:a16="http://schemas.microsoft.com/office/drawing/2014/main" id="{F487B700-B8B0-7285-0323-09C7E943081D}"/>
              </a:ext>
            </a:extLst>
          </p:cNvPr>
          <p:cNvSpPr>
            <a:spLocks/>
          </p:cNvSpPr>
          <p:nvPr/>
        </p:nvSpPr>
        <p:spPr>
          <a:xfrm>
            <a:off x="539551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线性代数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矩形">
            <a:extLst>
              <a:ext uri="{FF2B5EF4-FFF2-40B4-BE49-F238E27FC236}">
                <a16:creationId xmlns:a16="http://schemas.microsoft.com/office/drawing/2014/main" id="{FD8B8E9C-5367-6E1E-B641-5FED48233E3C}"/>
              </a:ext>
            </a:extLst>
          </p:cNvPr>
          <p:cNvSpPr>
            <a:spLocks/>
          </p:cNvSpPr>
          <p:nvPr/>
        </p:nvSpPr>
        <p:spPr>
          <a:xfrm>
            <a:off x="560239" y="39566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概率论与统计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2" name="矩形">
            <a:extLst>
              <a:ext uri="{FF2B5EF4-FFF2-40B4-BE49-F238E27FC236}">
                <a16:creationId xmlns:a16="http://schemas.microsoft.com/office/drawing/2014/main" id="{D6FF069D-8792-B2A9-E16F-8CEBAD027F22}"/>
              </a:ext>
            </a:extLst>
          </p:cNvPr>
          <p:cNvSpPr>
            <a:spLocks/>
          </p:cNvSpPr>
          <p:nvPr/>
        </p:nvSpPr>
        <p:spPr>
          <a:xfrm>
            <a:off x="2363702" y="577890"/>
            <a:ext cx="4416594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数学在人工智能中的作用</a:t>
            </a:r>
          </a:p>
        </p:txBody>
      </p:sp>
    </p:spTree>
    <p:extLst>
      <p:ext uri="{BB962C8B-B14F-4D97-AF65-F5344CB8AC3E}">
        <p14:creationId xmlns:p14="http://schemas.microsoft.com/office/powerpoint/2010/main" val="1758521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CE880-18AF-E0E0-82E8-FB794383F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>
            <a:extLst>
              <a:ext uri="{FF2B5EF4-FFF2-40B4-BE49-F238E27FC236}">
                <a16:creationId xmlns:a16="http://schemas.microsoft.com/office/drawing/2014/main" id="{6A21FBFE-1099-6E3D-D25E-50513FF2F403}"/>
              </a:ext>
            </a:extLst>
          </p:cNvPr>
          <p:cNvSpPr>
            <a:spLocks/>
          </p:cNvSpPr>
          <p:nvPr/>
        </p:nvSpPr>
        <p:spPr>
          <a:xfrm>
            <a:off x="539551" y="2116034"/>
            <a:ext cx="8565279" cy="36933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支持向量机</a:t>
            </a:r>
            <a:endParaRPr lang="zh-CN" altLang="en-US" sz="2000" dirty="0">
              <a:solidFill>
                <a:srgbClr val="474747"/>
              </a:solidFill>
              <a:latin typeface="微软雅黑" charset="0"/>
              <a:ea typeface="微软雅黑" charset="0"/>
              <a:sym typeface="Calibri" pitchFamily="34" charset="0"/>
            </a:endParaRPr>
          </a:p>
        </p:txBody>
      </p:sp>
      <p:sp>
        <p:nvSpPr>
          <p:cNvPr id="10" name="矩形">
            <a:extLst>
              <a:ext uri="{FF2B5EF4-FFF2-40B4-BE49-F238E27FC236}">
                <a16:creationId xmlns:a16="http://schemas.microsoft.com/office/drawing/2014/main" id="{286A3634-A916-BBCD-A08B-3DBAA37C2A8E}"/>
              </a:ext>
            </a:extLst>
          </p:cNvPr>
          <p:cNvSpPr>
            <a:spLocks/>
          </p:cNvSpPr>
          <p:nvPr/>
        </p:nvSpPr>
        <p:spPr>
          <a:xfrm>
            <a:off x="539551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决策树</a:t>
            </a:r>
          </a:p>
        </p:txBody>
      </p:sp>
      <p:sp>
        <p:nvSpPr>
          <p:cNvPr id="11" name="矩形">
            <a:extLst>
              <a:ext uri="{FF2B5EF4-FFF2-40B4-BE49-F238E27FC236}">
                <a16:creationId xmlns:a16="http://schemas.microsoft.com/office/drawing/2014/main" id="{3F2B46F6-AE9A-8EC7-CCD3-7AB44FFE5C31}"/>
              </a:ext>
            </a:extLst>
          </p:cNvPr>
          <p:cNvSpPr>
            <a:spLocks/>
          </p:cNvSpPr>
          <p:nvPr/>
        </p:nvSpPr>
        <p:spPr>
          <a:xfrm>
            <a:off x="539551" y="39566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en-US" altLang="zh-CN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K</a:t>
            </a: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均值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2" name="矩形">
            <a:extLst>
              <a:ext uri="{FF2B5EF4-FFF2-40B4-BE49-F238E27FC236}">
                <a16:creationId xmlns:a16="http://schemas.microsoft.com/office/drawing/2014/main" id="{97F71DCA-3830-B032-642A-8915351E390E}"/>
              </a:ext>
            </a:extLst>
          </p:cNvPr>
          <p:cNvSpPr>
            <a:spLocks/>
          </p:cNvSpPr>
          <p:nvPr/>
        </p:nvSpPr>
        <p:spPr>
          <a:xfrm>
            <a:off x="2748432" y="577890"/>
            <a:ext cx="364715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经典的机器学习算法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" name="矩形">
            <a:extLst>
              <a:ext uri="{FF2B5EF4-FFF2-40B4-BE49-F238E27FC236}">
                <a16:creationId xmlns:a16="http://schemas.microsoft.com/office/drawing/2014/main" id="{770A157A-5D53-DA54-B794-0A22E780626C}"/>
              </a:ext>
            </a:extLst>
          </p:cNvPr>
          <p:cNvSpPr>
            <a:spLocks/>
          </p:cNvSpPr>
          <p:nvPr/>
        </p:nvSpPr>
        <p:spPr>
          <a:xfrm>
            <a:off x="539551" y="270904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贝叶斯网络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3" name="矩形">
            <a:extLst>
              <a:ext uri="{FF2B5EF4-FFF2-40B4-BE49-F238E27FC236}">
                <a16:creationId xmlns:a16="http://schemas.microsoft.com/office/drawing/2014/main" id="{DE46C188-6696-A0B1-A670-54496D35043B}"/>
              </a:ext>
            </a:extLst>
          </p:cNvPr>
          <p:cNvSpPr>
            <a:spLocks/>
          </p:cNvSpPr>
          <p:nvPr/>
        </p:nvSpPr>
        <p:spPr>
          <a:xfrm>
            <a:off x="539551" y="3332824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线性回归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448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>
            <a:extLst>
              <a:ext uri="{FF2B5EF4-FFF2-40B4-BE49-F238E27FC236}">
                <a16:creationId xmlns:a16="http://schemas.microsoft.com/office/drawing/2014/main" id="{2B5CF767-FD56-494C-1B5E-62161D04FF26}"/>
              </a:ext>
            </a:extLst>
          </p:cNvPr>
          <p:cNvSpPr>
            <a:spLocks/>
          </p:cNvSpPr>
          <p:nvPr/>
        </p:nvSpPr>
        <p:spPr>
          <a:xfrm>
            <a:off x="543224" y="2739819"/>
            <a:ext cx="8565279" cy="36933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微积分</a:t>
            </a:r>
            <a:endParaRPr lang="zh-CN" altLang="en-US" sz="2000" dirty="0">
              <a:solidFill>
                <a:srgbClr val="474747"/>
              </a:solidFill>
              <a:latin typeface="微软雅黑" charset="0"/>
              <a:ea typeface="微软雅黑" charset="0"/>
              <a:sym typeface="Calibri" pitchFamily="34" charset="0"/>
            </a:endParaRPr>
          </a:p>
        </p:txBody>
      </p:sp>
      <p:sp>
        <p:nvSpPr>
          <p:cNvPr id="10" name="矩形">
            <a:extLst>
              <a:ext uri="{FF2B5EF4-FFF2-40B4-BE49-F238E27FC236}">
                <a16:creationId xmlns:a16="http://schemas.microsoft.com/office/drawing/2014/main" id="{39232EE3-8AC1-B3A4-D49B-45414406696B}"/>
              </a:ext>
            </a:extLst>
          </p:cNvPr>
          <p:cNvSpPr>
            <a:spLocks/>
          </p:cNvSpPr>
          <p:nvPr/>
        </p:nvSpPr>
        <p:spPr>
          <a:xfrm>
            <a:off x="539551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线性代数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矩形">
            <a:extLst>
              <a:ext uri="{FF2B5EF4-FFF2-40B4-BE49-F238E27FC236}">
                <a16:creationId xmlns:a16="http://schemas.microsoft.com/office/drawing/2014/main" id="{DFC7D61E-F85E-F88A-9454-E1A5898A0C6E}"/>
              </a:ext>
            </a:extLst>
          </p:cNvPr>
          <p:cNvSpPr>
            <a:spLocks/>
          </p:cNvSpPr>
          <p:nvPr/>
        </p:nvSpPr>
        <p:spPr>
          <a:xfrm>
            <a:off x="560239" y="39566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概率论与统计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2" name="矩形">
            <a:extLst>
              <a:ext uri="{FF2B5EF4-FFF2-40B4-BE49-F238E27FC236}">
                <a16:creationId xmlns:a16="http://schemas.microsoft.com/office/drawing/2014/main" id="{B3C10961-3341-6015-9B34-8333314F95BA}"/>
              </a:ext>
            </a:extLst>
          </p:cNvPr>
          <p:cNvSpPr>
            <a:spLocks/>
          </p:cNvSpPr>
          <p:nvPr/>
        </p:nvSpPr>
        <p:spPr>
          <a:xfrm>
            <a:off x="2363702" y="577890"/>
            <a:ext cx="4416594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数学在人工智能中的作用</a:t>
            </a:r>
          </a:p>
        </p:txBody>
      </p:sp>
    </p:spTree>
    <p:extLst>
      <p:ext uri="{BB962C8B-B14F-4D97-AF65-F5344CB8AC3E}">
        <p14:creationId xmlns:p14="http://schemas.microsoft.com/office/powerpoint/2010/main" val="1568492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A3A4-9CFA-18A2-6048-06520B59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>
            <a:extLst>
              <a:ext uri="{FF2B5EF4-FFF2-40B4-BE49-F238E27FC236}">
                <a16:creationId xmlns:a16="http://schemas.microsoft.com/office/drawing/2014/main" id="{7FD3E0CA-E107-29EE-4166-8157BDC7E989}"/>
              </a:ext>
            </a:extLst>
          </p:cNvPr>
          <p:cNvSpPr>
            <a:spLocks/>
          </p:cNvSpPr>
          <p:nvPr/>
        </p:nvSpPr>
        <p:spPr>
          <a:xfrm>
            <a:off x="543224" y="2739819"/>
            <a:ext cx="8565279" cy="36933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培养数学直觉</a:t>
            </a:r>
            <a:endParaRPr lang="zh-CN" altLang="en-US" sz="2000" dirty="0">
              <a:solidFill>
                <a:srgbClr val="474747"/>
              </a:solidFill>
              <a:latin typeface="微软雅黑" charset="0"/>
              <a:ea typeface="微软雅黑" charset="0"/>
              <a:sym typeface="Calibri" pitchFamily="34" charset="0"/>
            </a:endParaRPr>
          </a:p>
        </p:txBody>
      </p:sp>
      <p:sp>
        <p:nvSpPr>
          <p:cNvPr id="10" name="矩形">
            <a:extLst>
              <a:ext uri="{FF2B5EF4-FFF2-40B4-BE49-F238E27FC236}">
                <a16:creationId xmlns:a16="http://schemas.microsoft.com/office/drawing/2014/main" id="{4FD00124-9475-1DA9-000E-AA32DC84E30B}"/>
              </a:ext>
            </a:extLst>
          </p:cNvPr>
          <p:cNvSpPr>
            <a:spLocks/>
          </p:cNvSpPr>
          <p:nvPr/>
        </p:nvSpPr>
        <p:spPr>
          <a:xfrm>
            <a:off x="539551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成体系的学习机器学习的数学基础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矩形">
            <a:extLst>
              <a:ext uri="{FF2B5EF4-FFF2-40B4-BE49-F238E27FC236}">
                <a16:creationId xmlns:a16="http://schemas.microsoft.com/office/drawing/2014/main" id="{231E923E-3948-65C0-930C-5F21732AB32D}"/>
              </a:ext>
            </a:extLst>
          </p:cNvPr>
          <p:cNvSpPr>
            <a:spLocks/>
          </p:cNvSpPr>
          <p:nvPr/>
        </p:nvSpPr>
        <p:spPr>
          <a:xfrm>
            <a:off x="560239" y="39566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提高兴趣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2" name="矩形">
            <a:extLst>
              <a:ext uri="{FF2B5EF4-FFF2-40B4-BE49-F238E27FC236}">
                <a16:creationId xmlns:a16="http://schemas.microsoft.com/office/drawing/2014/main" id="{931368BB-FB19-4D78-DAB1-5C4E4D7E570A}"/>
              </a:ext>
            </a:extLst>
          </p:cNvPr>
          <p:cNvSpPr>
            <a:spLocks/>
          </p:cNvSpPr>
          <p:nvPr/>
        </p:nvSpPr>
        <p:spPr>
          <a:xfrm>
            <a:off x="3325507" y="577890"/>
            <a:ext cx="249299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本课程的目标</a:t>
            </a:r>
          </a:p>
        </p:txBody>
      </p:sp>
    </p:spTree>
    <p:extLst>
      <p:ext uri="{BB962C8B-B14F-4D97-AF65-F5344CB8AC3E}">
        <p14:creationId xmlns:p14="http://schemas.microsoft.com/office/powerpoint/2010/main" val="2449870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D42B6-BEAB-D2BA-FCF6-4CDCCEC46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>
            <a:extLst>
              <a:ext uri="{FF2B5EF4-FFF2-40B4-BE49-F238E27FC236}">
                <a16:creationId xmlns:a16="http://schemas.microsoft.com/office/drawing/2014/main" id="{C5F51FB7-A79C-A77C-C5CD-4492168B65FF}"/>
              </a:ext>
            </a:extLst>
          </p:cNvPr>
          <p:cNvSpPr>
            <a:spLocks/>
          </p:cNvSpPr>
          <p:nvPr/>
        </p:nvSpPr>
        <p:spPr>
          <a:xfrm>
            <a:off x="543224" y="2739819"/>
            <a:ext cx="8565279" cy="369332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</a:rPr>
              <a:t>数学定义</a:t>
            </a:r>
            <a:endParaRPr lang="zh-CN" altLang="en-US" sz="2000" dirty="0">
              <a:solidFill>
                <a:srgbClr val="474747"/>
              </a:solidFill>
              <a:latin typeface="微软雅黑" charset="0"/>
              <a:ea typeface="微软雅黑" charset="0"/>
              <a:sym typeface="Calibri" pitchFamily="34" charset="0"/>
            </a:endParaRPr>
          </a:p>
        </p:txBody>
      </p:sp>
      <p:sp>
        <p:nvSpPr>
          <p:cNvPr id="10" name="矩形">
            <a:extLst>
              <a:ext uri="{FF2B5EF4-FFF2-40B4-BE49-F238E27FC236}">
                <a16:creationId xmlns:a16="http://schemas.microsoft.com/office/drawing/2014/main" id="{D9815DF1-64A3-944F-9AAA-3D3652DAC237}"/>
              </a:ext>
            </a:extLst>
          </p:cNvPr>
          <p:cNvSpPr>
            <a:spLocks/>
          </p:cNvSpPr>
          <p:nvPr/>
        </p:nvSpPr>
        <p:spPr>
          <a:xfrm>
            <a:off x="539551" y="149225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直观理解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矩形">
            <a:extLst>
              <a:ext uri="{FF2B5EF4-FFF2-40B4-BE49-F238E27FC236}">
                <a16:creationId xmlns:a16="http://schemas.microsoft.com/office/drawing/2014/main" id="{741581AF-4C61-0371-1F6C-F70F9ED0FBBE}"/>
              </a:ext>
            </a:extLst>
          </p:cNvPr>
          <p:cNvSpPr>
            <a:spLocks/>
          </p:cNvSpPr>
          <p:nvPr/>
        </p:nvSpPr>
        <p:spPr>
          <a:xfrm>
            <a:off x="560239" y="3956610"/>
            <a:ext cx="8565279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代码实现或者调用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2" name="矩形">
            <a:extLst>
              <a:ext uri="{FF2B5EF4-FFF2-40B4-BE49-F238E27FC236}">
                <a16:creationId xmlns:a16="http://schemas.microsoft.com/office/drawing/2014/main" id="{795FC2F9-DD4F-DE70-BE21-660B49B554D7}"/>
              </a:ext>
            </a:extLst>
          </p:cNvPr>
          <p:cNvSpPr>
            <a:spLocks/>
          </p:cNvSpPr>
          <p:nvPr/>
        </p:nvSpPr>
        <p:spPr>
          <a:xfrm>
            <a:off x="3710228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如何学习</a:t>
            </a:r>
          </a:p>
        </p:txBody>
      </p:sp>
    </p:spTree>
    <p:extLst>
      <p:ext uri="{BB962C8B-B14F-4D97-AF65-F5344CB8AC3E}">
        <p14:creationId xmlns:p14="http://schemas.microsoft.com/office/powerpoint/2010/main" val="1951602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B3C10961-3341-6015-9B34-8333314F95BA}"/>
              </a:ext>
            </a:extLst>
          </p:cNvPr>
          <p:cNvSpPr>
            <a:spLocks/>
          </p:cNvSpPr>
          <p:nvPr/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normAutofit/>
          </a:bodyPr>
          <a:lstStyle/>
          <a:p>
            <a:pPr algn="ctr" eaLnBrk="1" hangingPunct="1">
              <a:spcAft>
                <a:spcPts val="600"/>
              </a:spcAft>
            </a:pPr>
            <a:r>
              <a:rPr lang="zh-CN" altLang="en-US" sz="3000" b="1" u="none" strike="noStrike" kern="0" cap="none" spc="0" baseline="0">
                <a:solidFill>
                  <a:srgbClr val="C94251"/>
                </a:solidFill>
                <a:latin typeface="微软雅黑" charset="0"/>
                <a:ea typeface="微软雅黑" charset="0"/>
                <a:cs typeface="微软雅黑" charset="0"/>
              </a:rPr>
              <a:t>如何学习这门课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CECA7-A555-B9CC-E5BD-C1E152798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678" y="1200150"/>
            <a:ext cx="3590643" cy="33940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3803778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13735</TotalTime>
  <Words>81</Words>
  <Application>Microsoft Office PowerPoint</Application>
  <PresentationFormat>On-screen Show (16:9)</PresentationFormat>
  <Paragraphs>30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43</cp:revision>
  <dcterms:created xsi:type="dcterms:W3CDTF">2016-04-25T01:54:29Z</dcterms:created>
  <dcterms:modified xsi:type="dcterms:W3CDTF">2024-11-19T01:35:12Z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