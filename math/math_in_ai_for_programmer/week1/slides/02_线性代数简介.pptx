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4"/>
  </p:notesMasterIdLst>
  <p:sldIdLst>
    <p:sldId id="299" r:id="rId3"/>
    <p:sldId id="256" r:id="rId4"/>
    <p:sldId id="303" r:id="rId5"/>
    <p:sldId id="304" r:id="rId6"/>
    <p:sldId id="257" r:id="rId7"/>
    <p:sldId id="283" r:id="rId8"/>
    <p:sldId id="307" r:id="rId9"/>
    <p:sldId id="306" r:id="rId10"/>
    <p:sldId id="273" r:id="rId11"/>
    <p:sldId id="308" r:id="rId12"/>
    <p:sldId id="258" r:id="rId13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43" d="100"/>
          <a:sy n="143" d="100"/>
        </p:scale>
        <p:origin x="660" y="108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2024/6/25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8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637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05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067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711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894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79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人工智能基石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39550" y="230305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线性代数的起源，发展和人工智能的关系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39550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实验：求解线性方程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39550" y="311386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线性代数在机器学习中的实践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471905" y="577890"/>
            <a:ext cx="420018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人工智能基石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线性代数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A0B37C77-376A-DE12-B418-ECA4A89C5D64}"/>
              </a:ext>
            </a:extLst>
          </p:cNvPr>
          <p:cNvSpPr>
            <a:spLocks/>
          </p:cNvSpPr>
          <p:nvPr/>
        </p:nvSpPr>
        <p:spPr>
          <a:xfrm>
            <a:off x="539550" y="392467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常用科学计算，机器学习库的介绍和对比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39550" y="230305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线性代数的起源，发展和人工智能的关系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39550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实验：求解线性方程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39550" y="311386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线性代数在机器学习中的实践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471905" y="577890"/>
            <a:ext cx="420018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人工智能基石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线性代数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A0B37C77-376A-DE12-B418-ECA4A89C5D64}"/>
              </a:ext>
            </a:extLst>
          </p:cNvPr>
          <p:cNvSpPr>
            <a:spLocks/>
          </p:cNvSpPr>
          <p:nvPr/>
        </p:nvSpPr>
        <p:spPr>
          <a:xfrm>
            <a:off x="539550" y="392467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常用科学计算，机器学习库的介绍和对比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75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1547664" y="1706208"/>
            <a:ext cx="6048672" cy="243316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>
              <a:lnSpc>
                <a:spcPts val="2300"/>
              </a:lnSpc>
            </a:pPr>
            <a:r>
              <a:rPr lang="zh-CN" altLang="en-US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置上禾三秉，中禾二秉，下禾一秉，实三十九斗于右方，中、左禾列如右方。以右行上禾遍乘中行而以直除，又乘其次，亦以直除。然后以中行中禾不尽者遍乘左行而以直除。左方下禾不尽者，上为法，下为实。实即下禾之实。求中禾，以法乘中行下实，而除下禾之实。余如中禾秉数而一，即中禾之实。求上禾亦以法乘右行下实，而除下禾、中禾之实。余如上禾秉数而一，即上禾之实。实皆如法，各得一斗</a:t>
            </a:r>
            <a:endParaRPr lang="zh-CN" altLang="en-US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25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九章算术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5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>
            <a:off x="468312" y="555626"/>
            <a:ext cx="8229600" cy="5762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预测房价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0" name="圆角矩形"/>
          <p:cNvSpPr>
            <a:spLocks/>
          </p:cNvSpPr>
          <p:nvPr/>
        </p:nvSpPr>
        <p:spPr>
          <a:xfrm>
            <a:off x="1547664" y="1744204"/>
            <a:ext cx="1430338" cy="458786"/>
          </a:xfrm>
          <a:prstGeom prst="roundRect">
            <a:avLst>
              <a:gd name="adj" fmla="val 16666"/>
            </a:avLst>
          </a:prstGeom>
          <a:solidFill>
            <a:srgbClr val="C9394A"/>
          </a:solidFill>
          <a:ln w="38100" cap="flat" cmpd="sng">
            <a:solidFill>
              <a:srgbClr val="FFFFFF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面积</a:t>
            </a:r>
            <a:endParaRPr lang="zh-CN" altLang="en-US" sz="2000" b="1" u="none" strike="noStrike" kern="1200" cap="none" spc="0" baseline="0" dirty="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"/>
          <p:cNvSpPr>
            <a:spLocks/>
          </p:cNvSpPr>
          <p:nvPr/>
        </p:nvSpPr>
        <p:spPr>
          <a:xfrm>
            <a:off x="6156176" y="1779662"/>
            <a:ext cx="1428750" cy="458787"/>
          </a:xfrm>
          <a:prstGeom prst="roundRect">
            <a:avLst>
              <a:gd name="adj" fmla="val 16666"/>
            </a:avLst>
          </a:prstGeom>
          <a:solidFill>
            <a:srgbClr val="C9394A"/>
          </a:solidFill>
          <a:ln w="38100" cap="flat" cmpd="sng">
            <a:solidFill>
              <a:srgbClr val="FFFFFF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年限</a:t>
            </a:r>
            <a:endParaRPr lang="zh-CN" altLang="en-US" sz="2000" b="1" u="none" strike="noStrike" kern="1200" cap="none" spc="0" baseline="0" dirty="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圆角矩形"/>
          <p:cNvSpPr>
            <a:spLocks/>
          </p:cNvSpPr>
          <p:nvPr/>
        </p:nvSpPr>
        <p:spPr>
          <a:xfrm>
            <a:off x="3851921" y="1744204"/>
            <a:ext cx="1430337" cy="458787"/>
          </a:xfrm>
          <a:prstGeom prst="roundRect">
            <a:avLst>
              <a:gd name="adj" fmla="val 16666"/>
            </a:avLst>
          </a:prstGeom>
          <a:solidFill>
            <a:srgbClr val="C9394A"/>
          </a:solidFill>
          <a:ln w="38100" cap="flat" cmpd="sng">
            <a:solidFill>
              <a:srgbClr val="FFFFFF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地段</a:t>
            </a:r>
            <a:endParaRPr lang="zh-CN" altLang="en-US" sz="2000" b="1" u="none" strike="noStrike" kern="1200" cap="none" spc="0" baseline="0" dirty="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圆角矩形"/>
          <p:cNvSpPr>
            <a:spLocks/>
          </p:cNvSpPr>
          <p:nvPr/>
        </p:nvSpPr>
        <p:spPr>
          <a:xfrm>
            <a:off x="1547664" y="2985632"/>
            <a:ext cx="1430338" cy="458787"/>
          </a:xfrm>
          <a:prstGeom prst="roundRect">
            <a:avLst>
              <a:gd name="adj" fmla="val 16666"/>
            </a:avLst>
          </a:prstGeom>
          <a:solidFill>
            <a:srgbClr val="C9394A"/>
          </a:solidFill>
          <a:ln w="38100" cap="flat" cmpd="sng">
            <a:solidFill>
              <a:srgbClr val="FFFFFF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朝向</a:t>
            </a:r>
            <a:endParaRPr lang="zh-CN" altLang="en-US" sz="2000" b="1" u="none" strike="noStrike" kern="1200" cap="none" spc="0" baseline="0" dirty="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圆角矩形"/>
          <p:cNvSpPr>
            <a:spLocks/>
          </p:cNvSpPr>
          <p:nvPr/>
        </p:nvSpPr>
        <p:spPr>
          <a:xfrm>
            <a:off x="3851921" y="2985631"/>
            <a:ext cx="1430338" cy="458787"/>
          </a:xfrm>
          <a:prstGeom prst="roundRect">
            <a:avLst>
              <a:gd name="adj" fmla="val 16666"/>
            </a:avLst>
          </a:prstGeom>
          <a:solidFill>
            <a:srgbClr val="C9394A"/>
          </a:solidFill>
          <a:ln w="38100" cap="flat" cmpd="sng">
            <a:solidFill>
              <a:srgbClr val="FFFFFF"/>
            </a:solidFill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…</a:t>
            </a:r>
            <a:endParaRPr lang="zh-CN" altLang="en-US" sz="2000" b="1" u="none" strike="noStrike" kern="1200" cap="none" spc="0" baseline="0" dirty="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465A4FA2-7C04-381E-5CF7-BC7FB7084FCA}"/>
              </a:ext>
            </a:extLst>
          </p:cNvPr>
          <p:cNvSpPr>
            <a:spLocks/>
          </p:cNvSpPr>
          <p:nvPr/>
        </p:nvSpPr>
        <p:spPr>
          <a:xfrm>
            <a:off x="827584" y="3795886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/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房价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= x</a:t>
            </a:r>
            <a:r>
              <a:rPr lang="zh-CN" altLang="en-US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面积</a:t>
            </a:r>
            <a:r>
              <a:rPr lang="en-US" altLang="zh-CN" dirty="0"/>
              <a:t>×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x</a:t>
            </a:r>
            <a:r>
              <a:rPr lang="zh-CN" altLang="en-US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地段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dirty="0"/>
              <a:t>×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x</a:t>
            </a:r>
            <a:r>
              <a:rPr lang="zh-CN" altLang="en-US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年限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dirty="0"/>
              <a:t>×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x</a:t>
            </a:r>
            <a:r>
              <a:rPr lang="zh-CN" altLang="en-US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朝向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dirty="0"/>
              <a:t>×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...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22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8D653F1-3E57-4BEC-A38A-D36DA0D3C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73411"/>
              </p:ext>
            </p:extLst>
          </p:nvPr>
        </p:nvGraphicFramePr>
        <p:xfrm>
          <a:off x="971550" y="771550"/>
          <a:ext cx="7200900" cy="36004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955700475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124046565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185368091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146858762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459475063"/>
                    </a:ext>
                  </a:extLst>
                </a:gridCol>
              </a:tblGrid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</a:t>
                      </a:r>
                      <a:r>
                        <a:rPr lang="en-US" altLang="zh-CN" dirty="0"/>
                        <a:t>(w)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面积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(m</a:t>
                      </a:r>
                      <a:r>
                        <a:rPr lang="en-US" altLang="zh-CN" b="1" baseline="30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地段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zh-CN" altLang="en-US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年限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年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朝向</a:t>
                      </a:r>
                      <a:r>
                        <a:rPr lang="en-US" altLang="zh-CN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(1-10)</a:t>
                      </a:r>
                      <a:endParaRPr lang="zh-CN" altLang="en-US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356180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279200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723524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639936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695545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113865"/>
                  </a:ext>
                </a:extLst>
              </a:tr>
              <a:tr h="5143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25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94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>
            <a:off x="468312" y="555626"/>
            <a:ext cx="8229600" cy="5762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预测房价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36D26-CE79-E3CE-DB75-433B2A1C50DB}"/>
              </a:ext>
            </a:extLst>
          </p:cNvPr>
          <p:cNvSpPr txBox="1"/>
          <p:nvPr/>
        </p:nvSpPr>
        <p:spPr>
          <a:xfrm>
            <a:off x="575556" y="1347614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100a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+ 50a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- 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+ 8a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= 300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23EED-CF2A-8AE6-4496-65B1BD764B24}"/>
              </a:ext>
            </a:extLst>
          </p:cNvPr>
          <p:cNvSpPr txBox="1"/>
          <p:nvPr/>
        </p:nvSpPr>
        <p:spPr>
          <a:xfrm>
            <a:off x="575556" y="1878298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80a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+ 40a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+ 2a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+ 2.5a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= 200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6B552-F20A-81E2-43A9-4CE9090C34ED}"/>
              </a:ext>
            </a:extLst>
          </p:cNvPr>
          <p:cNvSpPr txBox="1"/>
          <p:nvPr/>
        </p:nvSpPr>
        <p:spPr>
          <a:xfrm>
            <a:off x="575556" y="2408982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120a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+ 20a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+ 0 + 3a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= 190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979B8-461F-2BFE-4F36-2D01AF206A8B}"/>
              </a:ext>
            </a:extLst>
          </p:cNvPr>
          <p:cNvSpPr txBox="1"/>
          <p:nvPr/>
        </p:nvSpPr>
        <p:spPr>
          <a:xfrm>
            <a:off x="575556" y="2939666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50a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+ 100a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+ 15a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+ 3a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= 250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D4B98-31AA-26F5-3A8C-A511E9082E69}"/>
              </a:ext>
            </a:extLst>
          </p:cNvPr>
          <p:cNvSpPr txBox="1"/>
          <p:nvPr/>
        </p:nvSpPr>
        <p:spPr>
          <a:xfrm>
            <a:off x="575556" y="3470350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80a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+ 70a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+ 8a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+ 4a</a:t>
            </a:r>
            <a:r>
              <a:rPr lang="en-US" altLang="zh-CN" sz="18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= 250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73480-EAD1-3B5E-F766-B1B7FA9A0C65}"/>
              </a:ext>
            </a:extLst>
          </p:cNvPr>
          <p:cNvSpPr txBox="1"/>
          <p:nvPr/>
        </p:nvSpPr>
        <p:spPr>
          <a:xfrm>
            <a:off x="575556" y="4001033"/>
            <a:ext cx="7992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……</a:t>
            </a:r>
            <a:endParaRPr lang="zh-CN" altLang="en-US" sz="18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5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>
            <a:off x="468312" y="555626"/>
            <a:ext cx="8229600" cy="5762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预测房价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402E46-4CC5-3873-6308-E30E6EFC45BB}"/>
              </a:ext>
            </a:extLst>
          </p:cNvPr>
          <p:cNvSpPr txBox="1"/>
          <p:nvPr/>
        </p:nvSpPr>
        <p:spPr>
          <a:xfrm>
            <a:off x="2915816" y="1851670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 = sigmoid(x</a:t>
            </a:r>
            <a:r>
              <a:rPr lang="en-US" altLang="zh-CN" baseline="-25000" dirty="0"/>
              <a:t>1</a:t>
            </a:r>
            <a:r>
              <a:rPr lang="en-US" altLang="zh-CN" dirty="0"/>
              <a:t>w</a:t>
            </a:r>
            <a:r>
              <a:rPr lang="en-US" altLang="zh-CN" baseline="-25000" dirty="0"/>
              <a:t>1</a:t>
            </a:r>
            <a:r>
              <a:rPr lang="en-US" altLang="zh-CN" dirty="0"/>
              <a:t> + x</a:t>
            </a:r>
            <a:r>
              <a:rPr lang="en-US" altLang="zh-CN" baseline="-25000" dirty="0"/>
              <a:t>2</a:t>
            </a:r>
            <a:r>
              <a:rPr lang="en-US" altLang="zh-CN" dirty="0"/>
              <a:t>w</a:t>
            </a:r>
            <a:r>
              <a:rPr lang="en-US" altLang="zh-CN" baseline="-25000" dirty="0"/>
              <a:t>2</a:t>
            </a:r>
            <a:r>
              <a:rPr lang="en-US" altLang="zh-CN" dirty="0"/>
              <a:t> + x</a:t>
            </a:r>
            <a:r>
              <a:rPr lang="en-US" altLang="zh-CN" baseline="-25000" dirty="0"/>
              <a:t>3</a:t>
            </a:r>
            <a:r>
              <a:rPr lang="en-US" altLang="zh-CN" dirty="0"/>
              <a:t>w</a:t>
            </a:r>
            <a:r>
              <a:rPr lang="en-US" altLang="zh-CN" baseline="-25000" dirty="0"/>
              <a:t>3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135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"/>
          <p:cNvSpPr>
            <a:spLocks/>
          </p:cNvSpPr>
          <p:nvPr/>
        </p:nvSpPr>
        <p:spPr>
          <a:xfrm>
            <a:off x="1988437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100" dirty="0">
                <a:solidFill>
                  <a:srgbClr val="C9394A"/>
                </a:solidFill>
                <a:latin typeface="微软雅黑" charset="0"/>
                <a:ea typeface="微软雅黑" charset="0"/>
              </a:rPr>
              <a:t>线性代数在机器学习中的实践</a:t>
            </a:r>
          </a:p>
        </p:txBody>
      </p:sp>
      <p:sp>
        <p:nvSpPr>
          <p:cNvPr id="2" name="椭圆">
            <a:extLst>
              <a:ext uri="{FF2B5EF4-FFF2-40B4-BE49-F238E27FC236}">
                <a16:creationId xmlns:a16="http://schemas.microsoft.com/office/drawing/2014/main" id="{20D1B258-5660-6873-9955-FFA889975BA2}"/>
              </a:ext>
            </a:extLst>
          </p:cNvPr>
          <p:cNvSpPr>
            <a:spLocks/>
          </p:cNvSpPr>
          <p:nvPr/>
        </p:nvSpPr>
        <p:spPr>
          <a:xfrm>
            <a:off x="1773142" y="1491630"/>
            <a:ext cx="5616624" cy="277671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AFFCE-B991-1A59-03BD-69BC7E4580FE}"/>
              </a:ext>
            </a:extLst>
          </p:cNvPr>
          <p:cNvSpPr txBox="1"/>
          <p:nvPr/>
        </p:nvSpPr>
        <p:spPr>
          <a:xfrm>
            <a:off x="2637238" y="2041633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zh-CN" altLang="en-US" dirty="0">
              <a:solidFill>
                <a:srgbClr val="4747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">
            <a:extLst>
              <a:ext uri="{FF2B5EF4-FFF2-40B4-BE49-F238E27FC236}">
                <a16:creationId xmlns:a16="http://schemas.microsoft.com/office/drawing/2014/main" id="{1BB4616E-738E-D0C1-92D9-FC6508917B32}"/>
              </a:ext>
            </a:extLst>
          </p:cNvPr>
          <p:cNvSpPr>
            <a:spLocks/>
          </p:cNvSpPr>
          <p:nvPr/>
        </p:nvSpPr>
        <p:spPr>
          <a:xfrm>
            <a:off x="2637239" y="1858883"/>
            <a:ext cx="4647120" cy="22974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椭圆">
            <a:extLst>
              <a:ext uri="{FF2B5EF4-FFF2-40B4-BE49-F238E27FC236}">
                <a16:creationId xmlns:a16="http://schemas.microsoft.com/office/drawing/2014/main" id="{325E867E-1528-E5A9-5700-213ED017FF69}"/>
              </a:ext>
            </a:extLst>
          </p:cNvPr>
          <p:cNvSpPr>
            <a:spLocks/>
          </p:cNvSpPr>
          <p:nvPr/>
        </p:nvSpPr>
        <p:spPr>
          <a:xfrm>
            <a:off x="3573341" y="2247713"/>
            <a:ext cx="3693851" cy="1826142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椭圆">
            <a:extLst>
              <a:ext uri="{FF2B5EF4-FFF2-40B4-BE49-F238E27FC236}">
                <a16:creationId xmlns:a16="http://schemas.microsoft.com/office/drawing/2014/main" id="{6AC19AC4-08F9-A4D8-E78B-F879CDAF60F7}"/>
              </a:ext>
            </a:extLst>
          </p:cNvPr>
          <p:cNvSpPr>
            <a:spLocks/>
          </p:cNvSpPr>
          <p:nvPr/>
        </p:nvSpPr>
        <p:spPr>
          <a:xfrm>
            <a:off x="4365430" y="2612131"/>
            <a:ext cx="2793661" cy="1381112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6A650-884C-433E-93A0-B661BD56D4C7}"/>
              </a:ext>
            </a:extLst>
          </p:cNvPr>
          <p:cNvSpPr txBox="1"/>
          <p:nvPr/>
        </p:nvSpPr>
        <p:spPr>
          <a:xfrm>
            <a:off x="3213302" y="2165272"/>
            <a:ext cx="126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9B0FC-FC99-94E9-3F6F-B5B4904A46A1}"/>
              </a:ext>
            </a:extLst>
          </p:cNvPr>
          <p:cNvSpPr txBox="1"/>
          <p:nvPr/>
        </p:nvSpPr>
        <p:spPr>
          <a:xfrm>
            <a:off x="4216497" y="2386245"/>
            <a:ext cx="126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3E230-00E3-BD46-C15D-FDD453B4B444}"/>
              </a:ext>
            </a:extLst>
          </p:cNvPr>
          <p:cNvSpPr txBox="1"/>
          <p:nvPr/>
        </p:nvSpPr>
        <p:spPr>
          <a:xfrm>
            <a:off x="5209445" y="2753498"/>
            <a:ext cx="126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</a:p>
        </p:txBody>
      </p:sp>
    </p:spTree>
    <p:extLst>
      <p:ext uri="{BB962C8B-B14F-4D97-AF65-F5344CB8AC3E}">
        <p14:creationId xmlns:p14="http://schemas.microsoft.com/office/powerpoint/2010/main" val="123915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39549" y="210035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数据表示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39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神经网络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39549" y="270846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主成分分析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978982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100" dirty="0">
                <a:solidFill>
                  <a:srgbClr val="C9394A"/>
                </a:solidFill>
                <a:latin typeface="微软雅黑" charset="0"/>
                <a:ea typeface="微软雅黑" charset="0"/>
              </a:rPr>
              <a:t>线性代数在机器学习中的实践</a:t>
            </a: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A0B37C77-376A-DE12-B418-ECA4A89C5D64}"/>
              </a:ext>
            </a:extLst>
          </p:cNvPr>
          <p:cNvSpPr>
            <a:spLocks/>
          </p:cNvSpPr>
          <p:nvPr/>
        </p:nvSpPr>
        <p:spPr>
          <a:xfrm>
            <a:off x="539549" y="392467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……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98FF029F-AE9C-19D1-F8A7-6734F89780E1}"/>
              </a:ext>
            </a:extLst>
          </p:cNvPr>
          <p:cNvSpPr>
            <a:spLocks/>
          </p:cNvSpPr>
          <p:nvPr/>
        </p:nvSpPr>
        <p:spPr>
          <a:xfrm>
            <a:off x="539549" y="331656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page Rank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64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468312" y="548884"/>
            <a:ext cx="8229600" cy="5762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常用科学计算，机器学习库的介绍和对比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1" name="圆角矩形"/>
          <p:cNvSpPr>
            <a:spLocks/>
          </p:cNvSpPr>
          <p:nvPr/>
        </p:nvSpPr>
        <p:spPr>
          <a:xfrm>
            <a:off x="1848425" y="1694036"/>
            <a:ext cx="1325175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NumPy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45" name="直线连接线"/>
          <p:cNvCxnSpPr>
            <a:cxnSpLocks/>
            <a:stCxn id="5" idx="0"/>
            <a:endCxn id="41" idx="2"/>
          </p:cNvCxnSpPr>
          <p:nvPr/>
        </p:nvCxnSpPr>
        <p:spPr>
          <a:xfrm flipV="1">
            <a:off x="1064779" y="2341735"/>
            <a:ext cx="1446234" cy="285491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sp>
        <p:nvSpPr>
          <p:cNvPr id="2" name="圆角矩形">
            <a:extLst>
              <a:ext uri="{FF2B5EF4-FFF2-40B4-BE49-F238E27FC236}">
                <a16:creationId xmlns:a16="http://schemas.microsoft.com/office/drawing/2014/main" id="{8B76EBFF-F1D2-536F-4A90-76F1CE591390}"/>
              </a:ext>
            </a:extLst>
          </p:cNvPr>
          <p:cNvSpPr>
            <a:spLocks/>
          </p:cNvSpPr>
          <p:nvPr/>
        </p:nvSpPr>
        <p:spPr>
          <a:xfrm>
            <a:off x="287117" y="1194585"/>
            <a:ext cx="4428899" cy="3672408"/>
          </a:xfrm>
          <a:prstGeom prst="roundRect">
            <a:avLst>
              <a:gd name="adj" fmla="val 16666"/>
            </a:avLst>
          </a:prstGeom>
          <a:noFill/>
          <a:ln w="25400" cap="flat" cmpd="sng">
            <a:solidFill>
              <a:srgbClr val="C9394A"/>
            </a:solidFill>
            <a:prstDash val="dash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u="none" strike="noStrike" kern="1200" cap="none" spc="0" baseline="0" dirty="0">
                <a:noFill/>
                <a:latin typeface="微软雅黑" charset="0"/>
                <a:ea typeface="微软雅黑" charset="0"/>
                <a:cs typeface="微软雅黑" charset="0"/>
              </a:rPr>
              <a:t>思维导图模板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7C205-9E00-C340-1283-6441F3E32B0E}"/>
              </a:ext>
            </a:extLst>
          </p:cNvPr>
          <p:cNvSpPr txBox="1"/>
          <p:nvPr/>
        </p:nvSpPr>
        <p:spPr>
          <a:xfrm>
            <a:off x="539380" y="13701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数据科学生态</a:t>
            </a:r>
            <a:endParaRPr lang="zh-CN" altLang="en-US" dirty="0"/>
          </a:p>
        </p:txBody>
      </p:sp>
      <p:sp>
        <p:nvSpPr>
          <p:cNvPr id="4" name="圆角矩形">
            <a:extLst>
              <a:ext uri="{FF2B5EF4-FFF2-40B4-BE49-F238E27FC236}">
                <a16:creationId xmlns:a16="http://schemas.microsoft.com/office/drawing/2014/main" id="{7F4520EF-C574-9D63-5727-9FE81DF80E2E}"/>
              </a:ext>
            </a:extLst>
          </p:cNvPr>
          <p:cNvSpPr>
            <a:spLocks/>
          </p:cNvSpPr>
          <p:nvPr/>
        </p:nvSpPr>
        <p:spPr>
          <a:xfrm>
            <a:off x="3254880" y="2627226"/>
            <a:ext cx="1325175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SciPy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圆角矩形">
            <a:extLst>
              <a:ext uri="{FF2B5EF4-FFF2-40B4-BE49-F238E27FC236}">
                <a16:creationId xmlns:a16="http://schemas.microsoft.com/office/drawing/2014/main" id="{7608D6C9-CB94-D00E-21C5-72D82E660C2F}"/>
              </a:ext>
            </a:extLst>
          </p:cNvPr>
          <p:cNvSpPr>
            <a:spLocks/>
          </p:cNvSpPr>
          <p:nvPr/>
        </p:nvSpPr>
        <p:spPr>
          <a:xfrm>
            <a:off x="402191" y="2627226"/>
            <a:ext cx="1325175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Pandas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圆角矩形">
            <a:extLst>
              <a:ext uri="{FF2B5EF4-FFF2-40B4-BE49-F238E27FC236}">
                <a16:creationId xmlns:a16="http://schemas.microsoft.com/office/drawing/2014/main" id="{749E4CE8-A839-F799-980A-3175A020E0C2}"/>
              </a:ext>
            </a:extLst>
          </p:cNvPr>
          <p:cNvSpPr>
            <a:spLocks/>
          </p:cNvSpPr>
          <p:nvPr/>
        </p:nvSpPr>
        <p:spPr>
          <a:xfrm>
            <a:off x="1828535" y="2627226"/>
            <a:ext cx="1325175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matplotlib</a:t>
            </a:r>
            <a:endParaRPr lang="zh-CN" altLang="en-US" sz="16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圆角矩形">
            <a:extLst>
              <a:ext uri="{FF2B5EF4-FFF2-40B4-BE49-F238E27FC236}">
                <a16:creationId xmlns:a16="http://schemas.microsoft.com/office/drawing/2014/main" id="{39990DC9-158C-F93D-A0C9-83B010A358CB}"/>
              </a:ext>
            </a:extLst>
          </p:cNvPr>
          <p:cNvSpPr>
            <a:spLocks/>
          </p:cNvSpPr>
          <p:nvPr/>
        </p:nvSpPr>
        <p:spPr>
          <a:xfrm>
            <a:off x="3252604" y="3625065"/>
            <a:ext cx="1325175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sklearn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1" name="直线连接线">
            <a:extLst>
              <a:ext uri="{FF2B5EF4-FFF2-40B4-BE49-F238E27FC236}">
                <a16:creationId xmlns:a16="http://schemas.microsoft.com/office/drawing/2014/main" id="{B8FFABDD-2FD8-21E1-D43F-C3A88BC706C4}"/>
              </a:ext>
            </a:extLst>
          </p:cNvPr>
          <p:cNvCxnSpPr>
            <a:cxnSpLocks/>
            <a:stCxn id="6" idx="0"/>
            <a:endCxn id="41" idx="2"/>
          </p:cNvCxnSpPr>
          <p:nvPr/>
        </p:nvCxnSpPr>
        <p:spPr>
          <a:xfrm flipV="1">
            <a:off x="2491123" y="2341735"/>
            <a:ext cx="19890" cy="285491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cxnSp>
        <p:nvCxnSpPr>
          <p:cNvPr id="17" name="直线连接线">
            <a:extLst>
              <a:ext uri="{FF2B5EF4-FFF2-40B4-BE49-F238E27FC236}">
                <a16:creationId xmlns:a16="http://schemas.microsoft.com/office/drawing/2014/main" id="{F5312DDF-9F76-E20F-BE39-EDD8A7E6BB40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V="1">
            <a:off x="3915192" y="3274925"/>
            <a:ext cx="2276" cy="350140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cxnSp>
        <p:nvCxnSpPr>
          <p:cNvPr id="20" name="直线连接线">
            <a:extLst>
              <a:ext uri="{FF2B5EF4-FFF2-40B4-BE49-F238E27FC236}">
                <a16:creationId xmlns:a16="http://schemas.microsoft.com/office/drawing/2014/main" id="{7C334FEB-2903-606D-D02D-2AE1220A0C74}"/>
              </a:ext>
            </a:extLst>
          </p:cNvPr>
          <p:cNvCxnSpPr>
            <a:cxnSpLocks/>
            <a:stCxn id="4" idx="0"/>
            <a:endCxn id="41" idx="2"/>
          </p:cNvCxnSpPr>
          <p:nvPr/>
        </p:nvCxnSpPr>
        <p:spPr>
          <a:xfrm flipH="1" flipV="1">
            <a:off x="2511013" y="2341735"/>
            <a:ext cx="1406455" cy="285491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sp>
        <p:nvSpPr>
          <p:cNvPr id="30" name="圆角矩形">
            <a:extLst>
              <a:ext uri="{FF2B5EF4-FFF2-40B4-BE49-F238E27FC236}">
                <a16:creationId xmlns:a16="http://schemas.microsoft.com/office/drawing/2014/main" id="{9E5D4749-25E9-7D20-9D18-73DFD47F25A8}"/>
              </a:ext>
            </a:extLst>
          </p:cNvPr>
          <p:cNvSpPr>
            <a:spLocks/>
          </p:cNvSpPr>
          <p:nvPr/>
        </p:nvSpPr>
        <p:spPr>
          <a:xfrm>
            <a:off x="5051217" y="2386434"/>
            <a:ext cx="1774484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TensorFlow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31" name="直线连接线">
            <a:extLst>
              <a:ext uri="{FF2B5EF4-FFF2-40B4-BE49-F238E27FC236}">
                <a16:creationId xmlns:a16="http://schemas.microsoft.com/office/drawing/2014/main" id="{7B3616DF-7DA1-DA94-8882-6E757A6F7ECF}"/>
              </a:ext>
            </a:extLst>
          </p:cNvPr>
          <p:cNvCxnSpPr>
            <a:cxnSpLocks/>
            <a:stCxn id="35" idx="0"/>
            <a:endCxn id="30" idx="2"/>
          </p:cNvCxnSpPr>
          <p:nvPr/>
        </p:nvCxnSpPr>
        <p:spPr>
          <a:xfrm flipV="1">
            <a:off x="5938459" y="3034133"/>
            <a:ext cx="0" cy="427182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sp>
        <p:nvSpPr>
          <p:cNvPr id="32" name="圆角矩形">
            <a:extLst>
              <a:ext uri="{FF2B5EF4-FFF2-40B4-BE49-F238E27FC236}">
                <a16:creationId xmlns:a16="http://schemas.microsoft.com/office/drawing/2014/main" id="{2FBDFF7A-DA67-8E21-CBC4-B729B464C689}"/>
              </a:ext>
            </a:extLst>
          </p:cNvPr>
          <p:cNvSpPr>
            <a:spLocks/>
          </p:cNvSpPr>
          <p:nvPr/>
        </p:nvSpPr>
        <p:spPr>
          <a:xfrm>
            <a:off x="4932039" y="1194585"/>
            <a:ext cx="3943735" cy="3672407"/>
          </a:xfrm>
          <a:prstGeom prst="roundRect">
            <a:avLst>
              <a:gd name="adj" fmla="val 16666"/>
            </a:avLst>
          </a:prstGeom>
          <a:noFill/>
          <a:ln w="25400" cap="flat" cmpd="sng">
            <a:solidFill>
              <a:srgbClr val="C9394A"/>
            </a:solidFill>
            <a:prstDash val="dash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u="none" strike="noStrike" kern="1200" cap="none" spc="0" baseline="0" dirty="0">
                <a:noFill/>
                <a:latin typeface="微软雅黑" charset="0"/>
                <a:ea typeface="微软雅黑" charset="0"/>
                <a:cs typeface="微软雅黑" charset="0"/>
              </a:rPr>
              <a:t>思维导图模板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79922F-59D0-BB93-49D2-6955262B4034}"/>
              </a:ext>
            </a:extLst>
          </p:cNvPr>
          <p:cNvSpPr txBox="1"/>
          <p:nvPr/>
        </p:nvSpPr>
        <p:spPr>
          <a:xfrm>
            <a:off x="5051217" y="18263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深度学习框架</a:t>
            </a:r>
            <a:endParaRPr lang="zh-CN" altLang="en-US" dirty="0"/>
          </a:p>
        </p:txBody>
      </p:sp>
      <p:sp>
        <p:nvSpPr>
          <p:cNvPr id="35" name="圆角矩形">
            <a:extLst>
              <a:ext uri="{FF2B5EF4-FFF2-40B4-BE49-F238E27FC236}">
                <a16:creationId xmlns:a16="http://schemas.microsoft.com/office/drawing/2014/main" id="{5C93CFE2-06CE-0C5E-5022-719FBF48EA1A}"/>
              </a:ext>
            </a:extLst>
          </p:cNvPr>
          <p:cNvSpPr>
            <a:spLocks/>
          </p:cNvSpPr>
          <p:nvPr/>
        </p:nvSpPr>
        <p:spPr>
          <a:xfrm>
            <a:off x="5051217" y="3461315"/>
            <a:ext cx="1774484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Keras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圆角矩形">
            <a:extLst>
              <a:ext uri="{FF2B5EF4-FFF2-40B4-BE49-F238E27FC236}">
                <a16:creationId xmlns:a16="http://schemas.microsoft.com/office/drawing/2014/main" id="{24724EB3-9E16-94BE-EFCB-610B620F725B}"/>
              </a:ext>
            </a:extLst>
          </p:cNvPr>
          <p:cNvSpPr>
            <a:spLocks/>
          </p:cNvSpPr>
          <p:nvPr/>
        </p:nvSpPr>
        <p:spPr>
          <a:xfrm>
            <a:off x="6953031" y="2383090"/>
            <a:ext cx="1782899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u="none" strike="noStrike" kern="1200" cap="none" spc="0" baseline="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endParaRPr lang="zh-CN" altLang="en-US" sz="20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圆角矩形">
            <a:extLst>
              <a:ext uri="{FF2B5EF4-FFF2-40B4-BE49-F238E27FC236}">
                <a16:creationId xmlns:a16="http://schemas.microsoft.com/office/drawing/2014/main" id="{36AB49BB-A0D6-2CE2-6FCE-4F723D8195E7}"/>
              </a:ext>
            </a:extLst>
          </p:cNvPr>
          <p:cNvSpPr>
            <a:spLocks/>
          </p:cNvSpPr>
          <p:nvPr/>
        </p:nvSpPr>
        <p:spPr>
          <a:xfrm>
            <a:off x="6981928" y="3461315"/>
            <a:ext cx="1715984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HF Transformer</a:t>
            </a:r>
            <a:endParaRPr lang="zh-CN" altLang="en-US" sz="1600" b="1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84" name="直线连接线">
            <a:extLst>
              <a:ext uri="{FF2B5EF4-FFF2-40B4-BE49-F238E27FC236}">
                <a16:creationId xmlns:a16="http://schemas.microsoft.com/office/drawing/2014/main" id="{740025C8-83B8-D6BB-413C-FA6ABB1B32D3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173600" y="2013888"/>
            <a:ext cx="1779126" cy="3998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dash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5C23D8B-10B5-45CF-335F-0DC32A1A6793}"/>
              </a:ext>
            </a:extLst>
          </p:cNvPr>
          <p:cNvSpPr txBox="1"/>
          <p:nvPr/>
        </p:nvSpPr>
        <p:spPr>
          <a:xfrm>
            <a:off x="4039373" y="17101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兼容</a:t>
            </a:r>
            <a:endParaRPr lang="zh-CN" altLang="en-US" sz="1400" dirty="0"/>
          </a:p>
        </p:txBody>
      </p:sp>
      <p:cxnSp>
        <p:nvCxnSpPr>
          <p:cNvPr id="97" name="直线连接线">
            <a:extLst>
              <a:ext uri="{FF2B5EF4-FFF2-40B4-BE49-F238E27FC236}">
                <a16:creationId xmlns:a16="http://schemas.microsoft.com/office/drawing/2014/main" id="{AFFD325E-5829-49EF-9050-C40322A678F2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7839920" y="3020752"/>
            <a:ext cx="2472" cy="440563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  <p:cxnSp>
        <p:nvCxnSpPr>
          <p:cNvPr id="100" name="直线连接线">
            <a:extLst>
              <a:ext uri="{FF2B5EF4-FFF2-40B4-BE49-F238E27FC236}">
                <a16:creationId xmlns:a16="http://schemas.microsoft.com/office/drawing/2014/main" id="{D269C11A-F815-7D17-34D2-7B3CB1DFB36C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flipH="1" flipV="1">
            <a:off x="5938459" y="3034133"/>
            <a:ext cx="1901461" cy="427182"/>
          </a:xfrm>
          <a:prstGeom prst="straightConnector1">
            <a:avLst/>
          </a:prstGeom>
          <a:noFill/>
          <a:ln w="28575" cap="flat" cmpd="sng">
            <a:solidFill>
              <a:srgbClr val="C9394A"/>
            </a:solidFill>
            <a:prstDash val="solid"/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3960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935540057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19308</TotalTime>
  <Words>441</Words>
  <Application>Microsoft Office PowerPoint</Application>
  <PresentationFormat>On-screen Show (16:9)</PresentationFormat>
  <Paragraphs>94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47</cp:revision>
  <dcterms:created xsi:type="dcterms:W3CDTF">2016-04-25T01:54:29Z</dcterms:created>
  <dcterms:modified xsi:type="dcterms:W3CDTF">2024-06-26T08:24:30Z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