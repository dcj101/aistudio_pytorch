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5"/>
  </p:notesMasterIdLst>
  <p:sldIdLst>
    <p:sldId id="299" r:id="rId3"/>
    <p:sldId id="337" r:id="rId4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94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96E6"/>
    <a:srgbClr val="C0504D"/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9" autoAdjust="0"/>
    <p:restoredTop sz="99500" autoAdjust="0"/>
  </p:normalViewPr>
  <p:slideViewPr>
    <p:cSldViewPr>
      <p:cViewPr varScale="1">
        <p:scale>
          <a:sx n="130" d="100"/>
          <a:sy n="130" d="100"/>
        </p:scale>
        <p:origin x="156" y="114"/>
      </p:cViewPr>
      <p:guideLst>
        <p:guide orient="horz" pos="713"/>
        <p:guide pos="2880"/>
        <p:guide orient="horz" pos="1620"/>
        <p:guide pos="612"/>
        <p:guide pos="839"/>
        <p:guide orient="horz" pos="2754"/>
        <p:guide orient="horz" pos="94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2025/3/10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D88E9-811B-14A1-95D9-4BF5644D7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52A4D968-78C9-ECE3-B04C-A7F6BA5137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6AE635EC-0758-B014-4975-FB25D2DEC7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ACF8B8A6-B9E1-F8AF-FDBA-75A87A53E4A9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4621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2025/3/10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2025/3/10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2025/3/10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2025/3/10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2025/3/10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2025/3/10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2025/3/10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2025/3/10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2025/3/10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2025/3/10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2025/3/10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2025/3/10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2025/3/10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2025/3/10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2025/3/10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2025/3/10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2025/3/10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2025/3/10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2025/3/10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2025/3/10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2025/3/10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2025/3/10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练习：贝叶斯线性回归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236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2751E-6367-46F7-029F-D226F65CD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47CA910D-CBE2-8BE7-3D85-8E03CCC41D42}"/>
              </a:ext>
            </a:extLst>
          </p:cNvPr>
          <p:cNvSpPr>
            <a:spLocks/>
          </p:cNvSpPr>
          <p:nvPr/>
        </p:nvSpPr>
        <p:spPr>
          <a:xfrm>
            <a:off x="3133220" y="577890"/>
            <a:ext cx="2877711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贝叶斯线性回归</a:t>
            </a:r>
            <a:endParaRPr lang="zh-CN" altLang="en-US" sz="3000" b="1" u="none" strike="noStrike" kern="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DD3AB3F-8901-8DCA-4DA8-DFA9B12A2A49}"/>
                  </a:ext>
                </a:extLst>
              </p:cNvPr>
              <p:cNvSpPr txBox="1"/>
              <p:nvPr/>
            </p:nvSpPr>
            <p:spPr>
              <a:xfrm>
                <a:off x="899592" y="1419622"/>
                <a:ext cx="7272858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>
                    <a:latin typeface="Microsoft YaHei UI" panose="020B0503020204020204" pitchFamily="34" charset="-122"/>
                    <a:ea typeface="Microsoft YaHei UI" panose="020B0503020204020204" pitchFamily="34" charset="-122"/>
                  </a:defRPr>
                </a:lvl1pPr>
              </a:lstStyle>
              <a:p>
                <a:r>
                  <a:rPr lang="en-US" altLang="zh-CN" sz="2000" b="0" i="0" dirty="0">
                    <a:solidFill>
                      <a:srgbClr val="374151"/>
                    </a:solidFill>
                    <a:effectLst/>
                    <a:latin typeface="ui-sans-serif"/>
                  </a:rPr>
                  <a:t>sklearn</a:t>
                </a:r>
                <a:r>
                  <a:rPr lang="zh-CN" altLang="en-US" sz="2000" b="0" i="0" dirty="0">
                    <a:solidFill>
                      <a:srgbClr val="374151"/>
                    </a:solidFill>
                    <a:effectLst/>
                    <a:latin typeface="ui-sans-serif"/>
                  </a:rPr>
                  <a:t>的</a:t>
                </a:r>
                <a:r>
                  <a:rPr lang="en-US" altLang="zh-CN" sz="2000" b="0" i="0" dirty="0" err="1">
                    <a:solidFill>
                      <a:srgbClr val="374151"/>
                    </a:solidFill>
                    <a:effectLst/>
                    <a:latin typeface="ui-sans-serif"/>
                  </a:rPr>
                  <a:t>BayesianRidge</a:t>
                </a:r>
                <a:r>
                  <a:rPr lang="zh-CN" altLang="en-US" sz="2000" b="0" i="0" dirty="0">
                    <a:solidFill>
                      <a:srgbClr val="374151"/>
                    </a:solidFill>
                    <a:effectLst/>
                    <a:latin typeface="ui-sans-serif"/>
                  </a:rPr>
                  <a:t>实现了贝叶斯回归算法，先生成</a:t>
                </a:r>
                <a:r>
                  <a:rPr lang="en-US" altLang="zh-CN" sz="2000" b="0" i="0" dirty="0">
                    <a:solidFill>
                      <a:srgbClr val="374151"/>
                    </a:solidFill>
                    <a:effectLst/>
                    <a:latin typeface="ui-sans-serif"/>
                  </a:rPr>
                  <a:t>1000</a:t>
                </a:r>
                <a:r>
                  <a:rPr lang="zh-CN" altLang="en-US" sz="2000" b="0" i="0" dirty="0">
                    <a:solidFill>
                      <a:srgbClr val="374151"/>
                    </a:solidFill>
                    <a:effectLst/>
                    <a:latin typeface="ui-sans-serif"/>
                  </a:rPr>
                  <a:t>条 </a:t>
                </a:r>
                <a14:m>
                  <m:oMath xmlns:m="http://schemas.openxmlformats.org/officeDocument/2006/math">
                    <m:r>
                      <a:rPr lang="zh-CN" altLang="en-US" sz="2000" b="0" i="0" smtClean="0">
                        <a:solidFill>
                          <a:srgbClr val="374151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000" b="0" i="0" smtClean="0">
                        <a:solidFill>
                          <a:srgbClr val="374151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000" b="0" i="0" smtClean="0">
                            <a:solidFill>
                              <a:srgbClr val="37415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b="0" i="0" smtClean="0">
                            <a:solidFill>
                              <a:srgbClr val="37415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zh-CN" altLang="en-US" sz="2000" b="0" i="0" smtClean="0">
                            <a:solidFill>
                              <a:srgbClr val="374151"/>
                            </a:solidFill>
                            <a:effectLst/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sz="2000" b="0" i="0" smtClean="0">
                        <a:solidFill>
                          <a:srgbClr val="374151"/>
                        </a:solidFill>
                        <a:effectLst/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sz="2000" b="0" i="0" smtClean="0">
                            <a:solidFill>
                              <a:srgbClr val="37415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b="0" i="0" smtClean="0">
                            <a:solidFill>
                              <a:srgbClr val="37415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zh-CN" altLang="en-US" sz="2000" b="0" i="0" smtClean="0">
                            <a:solidFill>
                              <a:srgbClr val="374151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2000" b="0" i="0" smtClean="0">
                        <a:solidFill>
                          <a:srgbClr val="374151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000" b="0" i="0" smtClean="0">
                        <a:solidFill>
                          <a:srgbClr val="374151"/>
                        </a:solidFill>
                        <a:effectLst/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000" b="0" i="0" smtClean="0">
                        <a:solidFill>
                          <a:srgbClr val="374151"/>
                        </a:solidFill>
                        <a:effectLst/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altLang="zh-CN" sz="2000" b="0" i="0" dirty="0">
                    <a:solidFill>
                      <a:srgbClr val="374151"/>
                    </a:solidFill>
                    <a:effectLst/>
                    <a:latin typeface="ui-sans-serif"/>
                  </a:rPr>
                  <a:t> </a:t>
                </a:r>
                <a:r>
                  <a:rPr lang="zh-CN" altLang="en-US" sz="2000" b="0" i="0" dirty="0">
                    <a:solidFill>
                      <a:srgbClr val="374151"/>
                    </a:solidFill>
                    <a:effectLst/>
                    <a:latin typeface="ui-sans-serif"/>
                  </a:rPr>
                  <a:t>的测试数据。其中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0" dirty="0" smtClean="0">
                            <a:solidFill>
                              <a:srgbClr val="37415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0" dirty="0" smtClean="0">
                            <a:solidFill>
                              <a:srgbClr val="37415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000" b="0" i="0" dirty="0" smtClean="0">
                            <a:solidFill>
                              <a:srgbClr val="374151"/>
                            </a:solidFill>
                            <a:effectLst/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000" b="0" i="0" dirty="0" smtClean="0">
                        <a:solidFill>
                          <a:srgbClr val="374151"/>
                        </a:solidFill>
                        <a:effectLst/>
                        <a:latin typeface="Cambria Math" panose="02040503050406030204" pitchFamily="18" charset="0"/>
                      </a:rPr>
                      <m:t>=−3</m:t>
                    </m:r>
                  </m:oMath>
                </a14:m>
                <a:r>
                  <a:rPr lang="zh-CN" altLang="en-US" sz="2000" b="0" i="0" dirty="0">
                    <a:solidFill>
                      <a:srgbClr val="374151"/>
                    </a:solidFill>
                    <a:effectLst/>
                    <a:latin typeface="ui-sans-serif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0" smtClean="0">
                            <a:solidFill>
                              <a:srgbClr val="37415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0" smtClean="0">
                            <a:solidFill>
                              <a:srgbClr val="37415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000" b="0" i="0" smtClean="0">
                            <a:solidFill>
                              <a:srgbClr val="374151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0" smtClean="0">
                        <a:solidFill>
                          <a:srgbClr val="374151"/>
                        </a:solidFill>
                        <a:effectLst/>
                        <a:latin typeface="Cambria Math" panose="02040503050406030204" pitchFamily="18" charset="0"/>
                      </a:rPr>
                      <m:t>=0.6</m:t>
                    </m:r>
                  </m:oMath>
                </a14:m>
                <a:r>
                  <a:rPr lang="zh-CN" altLang="en-US" sz="2000" b="0" i="0" dirty="0">
                    <a:solidFill>
                      <a:srgbClr val="374151"/>
                    </a:solidFill>
                    <a:effectLst/>
                    <a:latin typeface="ui-sans-serif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sz="2000">
                        <a:solidFill>
                          <a:srgbClr val="374151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zh-CN" altLang="en-US" sz="2000" b="0" i="0" dirty="0">
                    <a:solidFill>
                      <a:srgbClr val="374151"/>
                    </a:solidFill>
                    <a:effectLst/>
                    <a:latin typeface="ui-sans-serif"/>
                  </a:rPr>
                  <a:t>是服从正态分布的噪声；用这些数据对</a:t>
                </a:r>
                <a:r>
                  <a:rPr lang="en-US" altLang="zh-CN" sz="2000" dirty="0" err="1">
                    <a:solidFill>
                      <a:srgbClr val="374151"/>
                    </a:solidFill>
                    <a:latin typeface="ui-sans-serif"/>
                  </a:rPr>
                  <a:t>BayesianRidge</a:t>
                </a:r>
                <a:r>
                  <a:rPr lang="zh-CN" altLang="en-US" sz="2000" dirty="0">
                    <a:solidFill>
                      <a:srgbClr val="374151"/>
                    </a:solidFill>
                    <a:latin typeface="ui-sans-serif"/>
                  </a:rPr>
                  <a:t>进行训练，分批次动态更新后验分布的均值和方差，再用图形表示数据更新后对后验分布的影响，演示后验分布逐渐收敛到真实参数值附近的过程。</a:t>
                </a:r>
                <a:endParaRPr lang="en-US" altLang="zh-CN" sz="2000" b="0" i="0" dirty="0">
                  <a:solidFill>
                    <a:srgbClr val="374151"/>
                  </a:solidFill>
                  <a:effectLst/>
                  <a:latin typeface="ui-sans-serif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DD3AB3F-8901-8DCA-4DA8-DFA9B12A2A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1419622"/>
                <a:ext cx="7272858" cy="1938992"/>
              </a:xfrm>
              <a:prstGeom prst="rect">
                <a:avLst/>
              </a:prstGeom>
              <a:blipFill>
                <a:blip r:embed="rId3"/>
                <a:stretch>
                  <a:fillRect l="-922" t="-2201" r="-838" b="-44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2428679"/>
      </p:ext>
    </p:extLst>
  </p:cSld>
  <p:clrMapOvr>
    <a:masterClrMapping/>
  </p:clrMapOvr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43006</TotalTime>
  <Words>96</Words>
  <Application>Microsoft Office PowerPoint</Application>
  <PresentationFormat>On-screen Show (16:9)</PresentationFormat>
  <Paragraphs>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ui-sans-serif</vt:lpstr>
      <vt:lpstr>微软雅黑</vt:lpstr>
      <vt:lpstr>Arial</vt:lpstr>
      <vt:lpstr>Calibri</vt:lpstr>
      <vt:lpstr>Cambria Math</vt:lpstr>
      <vt:lpstr>讲师ppt模板20141215</vt:lpstr>
      <vt:lpstr>讲师ppt模板20141215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t34475</cp:lastModifiedBy>
  <cp:revision>89</cp:revision>
  <dcterms:created xsi:type="dcterms:W3CDTF">2016-04-25T01:54:29Z</dcterms:created>
  <dcterms:modified xsi:type="dcterms:W3CDTF">2025-03-10T13:10:37Z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