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12"/>
  </p:notesMasterIdLst>
  <p:sldIdLst>
    <p:sldId id="324" r:id="rId3"/>
    <p:sldId id="351" r:id="rId4"/>
    <p:sldId id="349" r:id="rId5"/>
    <p:sldId id="345" r:id="rId6"/>
    <p:sldId id="350" r:id="rId7"/>
    <p:sldId id="352" r:id="rId8"/>
    <p:sldId id="353" r:id="rId9"/>
    <p:sldId id="347" r:id="rId10"/>
    <p:sldId id="348" r:id="rId11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D91B-9CBC-AB0B-A5D4-D17773D38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02F63D1-F5E9-DE4A-907F-EE8549089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9DFD2668-8306-33F4-8FC2-5A9304A0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A16E8A26-2FC9-69B4-FB61-AEF4F8B0AA87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7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163AA-3F7D-F8FE-9BE1-FEEC0D17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0379E0DC-A5C8-CBAB-5E46-3157F02B9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273B504-C68D-0E53-1D12-4FD925CFA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7CEC2C83-9BC6-3628-67FD-29A5132A28D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1078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292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C1AA9-FD9C-1501-A534-331F5C01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556FF33-F784-7790-9C08-C04F183A0F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3F4FF8A-8F1C-B08A-B5A9-9D0B45872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1F1F637C-0E61-C255-1068-182FB0B7567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296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68593-A26F-B05B-4562-078EFECD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EA4E8B49-CF68-AB2F-9A68-3FA5E461D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30C8358B-D8EF-C102-84B5-7A8447FFF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ED4436B-22F7-04B1-2126-DD9C2EFA6C3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116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9BCB-3DF0-155A-3C88-925099DE9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3B59C6D1-B044-E603-8733-E7424362C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20387E06-A5E4-F786-8315-682C7B7FD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4318A70B-68F5-90FF-D7E8-F92367C83C9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7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59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E345-F71D-F203-1B87-F489ECD8F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1C8803C-348B-5346-E254-E52EB56B7F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B2738672-FC8E-3B78-ACE5-E464E848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A95F5887-F76D-3DE4-1459-C164089114F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8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46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03582-EAF9-3899-F353-46866DFBD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630FFE3B-77CE-A39A-43AC-91B994BD7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C063475-CFF3-FC08-609C-7CFC610DF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7572B1B-17CC-E9B0-BE12-6B697C09D89C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283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概率：应对机器学习中的不确定性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EDE89-B17E-65DF-4ECB-33922DEF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86AA0809-B402-CEBC-EBA8-40770DAEDFC7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运气，机会，风险。。。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89866162-2222-4A21-DFF2-0669C207A312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世界就是不确定的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E417DCA2-E27C-0812-761F-E4818CC6424A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CFAA001A-CC53-884A-7A34-63EAF48A25CB}"/>
              </a:ext>
            </a:extLst>
          </p:cNvPr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50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CDB2B-087E-E37E-4C89-06B13E8CD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F0432FDE-D323-994F-8EB3-1F80FE3057C9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采样信息的不完整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CB43FCB8-AD69-A542-6D05-C6CA5750237A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数据的噪音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A0FF38A-B782-745C-5DF4-2911BBD08D55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不完美的模型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B08EF577-BE66-E450-9D1C-208558EC220F}"/>
              </a:ext>
            </a:extLst>
          </p:cNvPr>
          <p:cNvSpPr>
            <a:spLocks/>
          </p:cNvSpPr>
          <p:nvPr/>
        </p:nvSpPr>
        <p:spPr>
          <a:xfrm>
            <a:off x="2556066" y="577890"/>
            <a:ext cx="4031873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机器学习中的不确定性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06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/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两种概率学派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不确定性与机器学习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多个随机变量的概率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7" name="矩形"/>
          <p:cNvSpPr>
            <a:spLocks/>
          </p:cNvSpPr>
          <p:nvPr/>
        </p:nvSpPr>
        <p:spPr>
          <a:xfrm>
            <a:off x="406794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一个随机变量的概率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/>
          <p:cNvSpPr>
            <a:spLocks/>
          </p:cNvSpPr>
          <p:nvPr/>
        </p:nvSpPr>
        <p:spPr>
          <a:xfrm>
            <a:off x="4067944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/>
          <p:cNvSpPr>
            <a:spLocks/>
          </p:cNvSpPr>
          <p:nvPr/>
        </p:nvSpPr>
        <p:spPr>
          <a:xfrm>
            <a:off x="1594265" y="577890"/>
            <a:ext cx="595547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概率：应对机器学习中的不确定性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BB52-B90C-14B9-5770-2A41ACF9F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D93E9E4C-E85C-4150-4D88-31DF2B456EF7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运气，机会，风险。。。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B6080FBF-A540-DF90-11E9-A061FB60A677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世界就是不确定的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4C164DE7-1831-9788-6F5A-FE932586CFBA}"/>
              </a:ext>
            </a:extLst>
          </p:cNvPr>
          <p:cNvSpPr>
            <a:spLocks/>
          </p:cNvSpPr>
          <p:nvPr/>
        </p:nvSpPr>
        <p:spPr>
          <a:xfrm>
            <a:off x="848273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6E01C7D8-B954-1512-5F6A-A9BAC2434900}"/>
              </a:ext>
            </a:extLst>
          </p:cNvPr>
          <p:cNvSpPr>
            <a:spLocks/>
          </p:cNvSpPr>
          <p:nvPr/>
        </p:nvSpPr>
        <p:spPr>
          <a:xfrm>
            <a:off x="3710228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不确定性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11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E350D-60E8-22D2-CDD1-081B4F2E1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F849E5B5-9080-1BE2-EA41-EA6816E6B9F0}"/>
              </a:ext>
            </a:extLst>
          </p:cNvPr>
          <p:cNvSpPr>
            <a:spLocks/>
          </p:cNvSpPr>
          <p:nvPr/>
        </p:nvSpPr>
        <p:spPr>
          <a:xfrm>
            <a:off x="827585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概率函数</a:t>
            </a: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EE8158B2-BA49-7F13-F073-791AADE88985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样本空间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5B5D083B-8F9F-A563-BFD0-EF13E0170D82}"/>
              </a:ext>
            </a:extLst>
          </p:cNvPr>
          <p:cNvSpPr>
            <a:spLocks/>
          </p:cNvSpPr>
          <p:nvPr/>
        </p:nvSpPr>
        <p:spPr>
          <a:xfrm>
            <a:off x="827585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概率分布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2877BC32-798D-37F1-FC7F-CF7703E39238}"/>
              </a:ext>
            </a:extLst>
          </p:cNvPr>
          <p:cNvSpPr>
            <a:spLocks/>
          </p:cNvSpPr>
          <p:nvPr/>
        </p:nvSpPr>
        <p:spPr>
          <a:xfrm>
            <a:off x="827585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事件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C8B5DB2-296F-70F6-E986-0498DEB15A37}"/>
              </a:ext>
            </a:extLst>
          </p:cNvPr>
          <p:cNvSpPr>
            <a:spLocks/>
          </p:cNvSpPr>
          <p:nvPr/>
        </p:nvSpPr>
        <p:spPr>
          <a:xfrm>
            <a:off x="2940790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概率论中几个名词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40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1626-B04F-F46D-60B0-4C8C5CAE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651D3963-3A34-1A9C-8526-05B715C24C33}"/>
              </a:ext>
            </a:extLst>
          </p:cNvPr>
          <p:cNvSpPr>
            <a:spLocks/>
          </p:cNvSpPr>
          <p:nvPr/>
        </p:nvSpPr>
        <p:spPr>
          <a:xfrm>
            <a:off x="831258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贝叶斯概率</a:t>
            </a:r>
            <a:endParaRPr lang="zh-CN" altLang="en-US" sz="2000" u="none" strike="noStrike" kern="120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38E2740B-75EF-B64D-4B99-5FDA38E49A19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频率概率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CA3E0D98-E38F-0BAF-FA92-58460765A71D}"/>
              </a:ext>
            </a:extLst>
          </p:cNvPr>
          <p:cNvSpPr>
            <a:spLocks/>
          </p:cNvSpPr>
          <p:nvPr/>
        </p:nvSpPr>
        <p:spPr>
          <a:xfrm>
            <a:off x="2940788" y="577890"/>
            <a:ext cx="326243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概率论的不同派别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073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3CE26-E5B4-9B2D-6A4C-869E9903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DC0FD016-136E-F30E-CFDD-C0D8F0AA5B4B}"/>
              </a:ext>
            </a:extLst>
          </p:cNvPr>
          <p:cNvSpPr>
            <a:spLocks/>
          </p:cNvSpPr>
          <p:nvPr/>
        </p:nvSpPr>
        <p:spPr>
          <a:xfrm>
            <a:off x="827585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边际概率</a:t>
            </a: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2DBCBAF9-DBA5-8CEF-7B7D-E7968E4D0720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独立性和排他性的概率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EF2F8C6A-8AED-14BB-79CB-E632673C07EF}"/>
              </a:ext>
            </a:extLst>
          </p:cNvPr>
          <p:cNvSpPr>
            <a:spLocks/>
          </p:cNvSpPr>
          <p:nvPr/>
        </p:nvSpPr>
        <p:spPr>
          <a:xfrm>
            <a:off x="827585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条件概率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C62DCEED-C4ED-AC25-6C10-2171DC3ADB0D}"/>
              </a:ext>
            </a:extLst>
          </p:cNvPr>
          <p:cNvSpPr>
            <a:spLocks/>
          </p:cNvSpPr>
          <p:nvPr/>
        </p:nvSpPr>
        <p:spPr>
          <a:xfrm>
            <a:off x="827585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联合概率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2575C158-CA90-D934-D817-3C4847FD83D1}"/>
              </a:ext>
            </a:extLst>
          </p:cNvPr>
          <p:cNvSpPr>
            <a:spLocks/>
          </p:cNvSpPr>
          <p:nvPr/>
        </p:nvSpPr>
        <p:spPr>
          <a:xfrm>
            <a:off x="2748427" y="577890"/>
            <a:ext cx="3647152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多个随机变量的概率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67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4338-C840-7BCF-8BCA-11A4E1504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">
            <a:extLst>
              <a:ext uri="{FF2B5EF4-FFF2-40B4-BE49-F238E27FC236}">
                <a16:creationId xmlns:a16="http://schemas.microsoft.com/office/drawing/2014/main" id="{DE6C7ACD-AC75-0CB8-AB1B-EDBBC51BFA9C}"/>
              </a:ext>
            </a:extLst>
          </p:cNvPr>
          <p:cNvSpPr>
            <a:spLocks/>
          </p:cNvSpPr>
          <p:nvPr/>
        </p:nvSpPr>
        <p:spPr>
          <a:xfrm>
            <a:off x="827585" y="3145326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男孩女孩问题</a:t>
            </a:r>
          </a:p>
        </p:txBody>
      </p:sp>
      <p:sp>
        <p:nvSpPr>
          <p:cNvPr id="15" name="矩形">
            <a:extLst>
              <a:ext uri="{FF2B5EF4-FFF2-40B4-BE49-F238E27FC236}">
                <a16:creationId xmlns:a16="http://schemas.microsoft.com/office/drawing/2014/main" id="{F44FF6D5-32DB-9070-6DAD-4770E8530BBC}"/>
              </a:ext>
            </a:extLst>
          </p:cNvPr>
          <p:cNvSpPr>
            <a:spLocks/>
          </p:cNvSpPr>
          <p:nvPr/>
        </p:nvSpPr>
        <p:spPr>
          <a:xfrm>
            <a:off x="827585" y="1492250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天气问题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2A0E5022-C594-D251-8855-C200E93DF492}"/>
              </a:ext>
            </a:extLst>
          </p:cNvPr>
          <p:cNvSpPr>
            <a:spLocks/>
          </p:cNvSpPr>
          <p:nvPr/>
        </p:nvSpPr>
        <p:spPr>
          <a:xfrm>
            <a:off x="827585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蒙提霍尔问题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8" name="矩形">
            <a:extLst>
              <a:ext uri="{FF2B5EF4-FFF2-40B4-BE49-F238E27FC236}">
                <a16:creationId xmlns:a16="http://schemas.microsoft.com/office/drawing/2014/main" id="{87A0BEB1-1A70-29E1-7D7C-2D3BAA9DBE6F}"/>
              </a:ext>
            </a:extLst>
          </p:cNvPr>
          <p:cNvSpPr>
            <a:spLocks/>
          </p:cNvSpPr>
          <p:nvPr/>
        </p:nvSpPr>
        <p:spPr>
          <a:xfrm>
            <a:off x="827585" y="231878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生日问题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3BDE62AE-D64E-0AD8-A8BF-EF6C726ECD18}"/>
              </a:ext>
            </a:extLst>
          </p:cNvPr>
          <p:cNvSpPr>
            <a:spLocks/>
          </p:cNvSpPr>
          <p:nvPr/>
        </p:nvSpPr>
        <p:spPr>
          <a:xfrm>
            <a:off x="2171348" y="577890"/>
            <a:ext cx="480131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多个随机变量的概率：例子</a:t>
            </a:r>
            <a:endParaRPr lang="zh-CN" altLang="en-US" u="none" strike="noStrike" kern="1200" cap="none" spc="0" baseline="0" dirty="0">
              <a:solidFill>
                <a:schemeClr val="tx1"/>
              </a:solidFill>
              <a:latin typeface="Calibri" pitchFamily="34" charset="0"/>
              <a:ea typeface="宋体" pitchFamily="2" charset="-122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5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  <p:bldP spid="16" grpId="0"/>
      <p:bldP spid="8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66275</TotalTime>
  <Words>134</Words>
  <Application>Microsoft Office PowerPoint</Application>
  <PresentationFormat>On-screen Show (16:9)</PresentationFormat>
  <Paragraphs>45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115</cp:revision>
  <dcterms:created xsi:type="dcterms:W3CDTF">2016-04-25T01:54:29Z</dcterms:created>
  <dcterms:modified xsi:type="dcterms:W3CDTF">2024-10-11T16:00:17Z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