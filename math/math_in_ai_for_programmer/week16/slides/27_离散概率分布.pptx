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9" r:id="rId1"/>
    <p:sldMasterId id="2147483671" r:id="rId2"/>
  </p:sldMasterIdLst>
  <p:notesMasterIdLst>
    <p:notesMasterId r:id="rId15"/>
  </p:notesMasterIdLst>
  <p:sldIdLst>
    <p:sldId id="324" r:id="rId3"/>
    <p:sldId id="355" r:id="rId4"/>
    <p:sldId id="351" r:id="rId5"/>
    <p:sldId id="356" r:id="rId6"/>
    <p:sldId id="357" r:id="rId7"/>
    <p:sldId id="349" r:id="rId8"/>
    <p:sldId id="345" r:id="rId9"/>
    <p:sldId id="350" r:id="rId10"/>
    <p:sldId id="352" r:id="rId11"/>
    <p:sldId id="353" r:id="rId12"/>
    <p:sldId id="347" r:id="rId13"/>
    <p:sldId id="348" r:id="rId14"/>
  </p:sldIdLst>
  <p:sldSz cx="9144000" cy="5143500" type="screen16x9"/>
  <p:notesSz cx="6858000" cy="9144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1pPr>
    <a:lvl2pPr marL="4572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2pPr>
    <a:lvl3pPr marL="9144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3pPr>
    <a:lvl4pPr marL="13716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4pPr>
    <a:lvl5pPr marL="18288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713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2074" userDrawn="1">
          <p15:clr>
            <a:srgbClr val="A4A3A4"/>
          </p15:clr>
        </p15:guide>
        <p15:guide id="4" pos="612" userDrawn="1">
          <p15:clr>
            <a:srgbClr val="A4A3A4"/>
          </p15:clr>
        </p15:guide>
        <p15:guide id="5" pos="839" userDrawn="1">
          <p15:clr>
            <a:srgbClr val="A4A3A4"/>
          </p15:clr>
        </p15:guide>
        <p15:guide id="6" orient="horz" pos="2754" userDrawn="1">
          <p15:clr>
            <a:srgbClr val="A4A3A4"/>
          </p15:clr>
        </p15:guide>
        <p15:guide id="7" orient="horz" pos="2890" userDrawn="1">
          <p15:clr>
            <a:srgbClr val="A4A3A4"/>
          </p15:clr>
        </p15:guide>
        <p15:guide id="8" pos="514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4747"/>
    <a:srgbClr val="C9394A"/>
    <a:srgbClr val="FFFFFF"/>
    <a:srgbClr val="C94251"/>
    <a:srgbClr val="EB03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83" autoAdjust="0"/>
    <p:restoredTop sz="99500" autoAdjust="0"/>
  </p:normalViewPr>
  <p:slideViewPr>
    <p:cSldViewPr>
      <p:cViewPr varScale="1">
        <p:scale>
          <a:sx n="130" d="100"/>
          <a:sy n="130" d="100"/>
        </p:scale>
        <p:origin x="270" y="114"/>
      </p:cViewPr>
      <p:guideLst>
        <p:guide orient="horz" pos="713"/>
        <p:guide pos="2880"/>
        <p:guide orient="horz" pos="2074"/>
        <p:guide pos="612"/>
        <p:guide pos="839"/>
        <p:guide orient="horz" pos="2754"/>
        <p:guide orient="horz" pos="2890"/>
        <p:guide pos="51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‹#›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4" name="文本框"/>
          <p:cNvSpPr>
            <a:spLocks noGrp="1"/>
          </p:cNvSpPr>
          <p:nvPr>
            <p:ph type="hdr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r"/>
            <a:fld id="{CAD2D6BD-DE1B-4B5F-8B41-2702339687B9}" type="datetime1">
              <a:rPr lang="zh-CN" altLang="en-US"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2024/10/12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6" name="对象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</p:sp>
      <p:sp>
        <p:nvSpPr>
          <p:cNvPr id="7" name="矩形"/>
          <p:cNvSpPr>
            <a:spLocks noChangeAspect="1"/>
          </p:cNvSpPr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单击此处编辑母版文本样式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第二级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第三级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第四级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第五级</a:t>
            </a:r>
          </a:p>
        </p:txBody>
      </p:sp>
      <p:sp>
        <p:nvSpPr>
          <p:cNvPr id="8" name="文本框"/>
          <p:cNvSpPr>
            <a:spLocks noGrp="1"/>
          </p:cNvSpPr>
          <p:nvPr>
            <p:ph type="ftr" idx="4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847744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1pPr>
    <a:lvl2pPr marL="4572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2pPr>
    <a:lvl3pPr marL="9144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3pPr>
    <a:lvl4pPr marL="13716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4pPr>
    <a:lvl5pPr marL="18288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5pPr>
    <a:lvl6pPr marL="22860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6pPr>
    <a:lvl7pPr marL="27432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7pPr>
    <a:lvl8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8pPr>
    <a:lvl9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7BBC8-3BAF-9767-D7BC-FB954005F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1642CACD-E3D4-8545-D498-DCE933DEC3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A46185FF-3315-6271-D5FB-B0717A3286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D2E88B8A-2C3A-E400-7E52-A513C7D42E9D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73726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8D91B-9CBC-AB0B-A5D4-D17773D38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202F63D1-F5E9-DE4A-907F-EE85490898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9DFD2668-8306-33F4-8FC2-5A9304A088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A16E8A26-2FC9-69B4-FB61-AEF4F8B0AA87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3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62769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55EBB-E3E7-DEE1-5FB4-9EE927882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6D2B46AA-E0C2-4E8A-500F-BAEF1A9F6D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5E47DF2D-1DF3-0B16-44EC-B34C10A452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B2C7A298-3250-8302-3739-08163F63CA49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4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38557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289E6-9D6C-7FD8-72FF-013D62D62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79D53CE8-F52B-227B-8644-7A4AC83F63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53F58C16-5D1C-FE20-B6E6-167665749A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D0B96E2A-D099-D0B5-1489-F46E8751E3C7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5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25004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163AA-3F7D-F8FE-9BE1-FEEC0D174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0379E0DC-A5C8-CBAB-5E46-3157F02B95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B273B504-C68D-0E53-1D12-4FD925CFA0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7CEC2C83-9BC6-3628-67FD-29A5132A28DC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6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81078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7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52926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C1AA9-FD9C-1501-A534-331F5C012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7556FF33-F784-7790-9C08-C04F183A0F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73F4FF8A-8F1C-B08A-B5A9-9D0B45872C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1F1F637C-0E61-C255-1068-182FB0B7567A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8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82965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68593-A26F-B05B-4562-078EFECD8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EA4E8B49-CF68-AB2F-9A68-3FA5E461D3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30C8358B-D8EF-C102-84B5-7A8447FFF0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DED4436B-22F7-04B1-2126-DD9C2EFA6C3B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9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21163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29BCB-3DF0-155A-3C88-925099DE9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3B59C6D1-B044-E603-8733-E7424362CF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20387E06-A5E4-F786-8315-682C7B7FDE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4318A70B-68F5-90FF-D7E8-F92367C83C9A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10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8594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BE345-F71D-F203-1B87-F489ECD8F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21C8803C-348B-5346-E254-E52EB56B7F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B2738672-FC8E-3B78-ACE5-E464E848D2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A95F5887-F76D-3DE4-1459-C164089114F3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11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84465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03582-EAF9-3899-F353-46866DFBD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630FFE3B-77CE-A39A-43AC-91B994BD7E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0C063475-CFF3-FC08-609C-7CFC610DF8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D7572B1B-17CC-E9B0-BE12-6B697C09D89C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12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52832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2024/10/12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8579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2024/10/12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9374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2024/10/12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0923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2024/10/12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3384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2024/10/12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701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2024/10/12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255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2024/10/12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6360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2024/10/12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182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2024/10/12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4015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2024/10/12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76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2024/10/12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67749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2024/10/12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871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2024/10/12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0844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2024/10/12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9389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2024/10/12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38054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2024/10/12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1773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2024/10/12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0958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2024/10/12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97865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2024/10/12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05852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2024/10/12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581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2024/10/12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5063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2024/10/12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768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单击此处编辑母版文本样式</a:t>
            </a:r>
            <a:endParaRPr lang="en-US" altLang="zh-CN">
              <a:sym typeface="Calibri" pitchFamily="34" charset="0"/>
            </a:endParaRPr>
          </a:p>
          <a:p>
            <a:pPr lvl="1"/>
            <a:r>
              <a:rPr lang="zh-CN" altLang="en-US">
                <a:sym typeface="Calibri" pitchFamily="34" charset="0"/>
              </a:rPr>
              <a:t>第二级</a:t>
            </a:r>
            <a:endParaRPr lang="en-US" altLang="zh-CN">
              <a:sym typeface="Calibri" pitchFamily="34" charset="0"/>
            </a:endParaRPr>
          </a:p>
          <a:p>
            <a:pPr lvl="2"/>
            <a:r>
              <a:rPr lang="zh-CN" altLang="en-US">
                <a:sym typeface="Calibri" pitchFamily="34" charset="0"/>
              </a:rPr>
              <a:t>第三级</a:t>
            </a:r>
            <a:endParaRPr lang="en-US" altLang="zh-CN">
              <a:sym typeface="Calibri" pitchFamily="34" charset="0"/>
            </a:endParaRPr>
          </a:p>
          <a:p>
            <a:pPr lvl="3"/>
            <a:r>
              <a:rPr lang="zh-CN" altLang="en-US">
                <a:sym typeface="Calibri" pitchFamily="34" charset="0"/>
              </a:rPr>
              <a:t>第四级</a:t>
            </a:r>
            <a:endParaRPr lang="en-US" altLang="zh-CN">
              <a:sym typeface="Calibri" pitchFamily="34" charset="0"/>
            </a:endParaRPr>
          </a:p>
          <a:p>
            <a:pPr lvl="4"/>
            <a:r>
              <a:rPr lang="zh-CN" altLang="en-US">
                <a:sym typeface="Calibri" pitchFamily="34" charset="0"/>
              </a:rPr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42944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1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 sz="2200">
                <a:solidFill>
                  <a:srgbClr val="212121"/>
                </a:solidFill>
              </a:rPr>
              <a:t>单击此处编辑母版文本样式</a:t>
            </a:r>
            <a:endParaRPr lang="en-US" altLang="zh-CN" sz="2200">
              <a:solidFill>
                <a:srgbClr val="212121"/>
              </a:solidFill>
            </a:endParaRPr>
          </a:p>
          <a:p>
            <a:pPr lvl="1"/>
            <a:r>
              <a:rPr lang="zh-CN" altLang="en-US" sz="2000">
                <a:solidFill>
                  <a:srgbClr val="474747"/>
                </a:solidFill>
              </a:rPr>
              <a:t>第二级</a:t>
            </a:r>
            <a:endParaRPr lang="en-US" altLang="zh-CN" sz="2000">
              <a:solidFill>
                <a:srgbClr val="474747"/>
              </a:solidFill>
            </a:endParaRPr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第四级</a:t>
            </a:r>
            <a:endParaRPr lang="en-US" altLang="zh-CN"/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128037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>
            <a:spLocks/>
          </p:cNvSpPr>
          <p:nvPr/>
        </p:nvSpPr>
        <p:spPr>
          <a:xfrm>
            <a:off x="0" y="2283718"/>
            <a:ext cx="9144000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概率：离散概率分布</a:t>
            </a:r>
            <a:endParaRPr lang="en-US" altLang="zh-CN" sz="3000" b="1" kern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9037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82BE6-EDBC-5BAC-68C5-A3AEAFEEA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">
            <a:extLst>
              <a:ext uri="{FF2B5EF4-FFF2-40B4-BE49-F238E27FC236}">
                <a16:creationId xmlns:a16="http://schemas.microsoft.com/office/drawing/2014/main" id="{29A41ADB-F095-1254-FF6B-DCE563D6D37B}"/>
              </a:ext>
            </a:extLst>
          </p:cNvPr>
          <p:cNvSpPr>
            <a:spLocks/>
          </p:cNvSpPr>
          <p:nvPr/>
        </p:nvSpPr>
        <p:spPr>
          <a:xfrm>
            <a:off x="831258" y="2732058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伯努利分布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15" name="矩形">
            <a:extLst>
              <a:ext uri="{FF2B5EF4-FFF2-40B4-BE49-F238E27FC236}">
                <a16:creationId xmlns:a16="http://schemas.microsoft.com/office/drawing/2014/main" id="{7CEB4C17-AD92-115D-6392-9D0454A46916}"/>
              </a:ext>
            </a:extLst>
          </p:cNvPr>
          <p:cNvSpPr>
            <a:spLocks/>
          </p:cNvSpPr>
          <p:nvPr/>
        </p:nvSpPr>
        <p:spPr>
          <a:xfrm>
            <a:off x="827584" y="1492250"/>
            <a:ext cx="3939753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离散概率与机器分类问题</a:t>
            </a:r>
            <a:endParaRPr lang="zh-CN" altLang="en-US" sz="2000" u="none" strike="noStrike" kern="1200" cap="none" spc="0" baseline="0" dirty="0">
              <a:solidFill>
                <a:srgbClr val="474747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6" name="矩形">
            <a:extLst>
              <a:ext uri="{FF2B5EF4-FFF2-40B4-BE49-F238E27FC236}">
                <a16:creationId xmlns:a16="http://schemas.microsoft.com/office/drawing/2014/main" id="{9CE095E5-E31C-5348-19FD-52B2288BCD75}"/>
              </a:ext>
            </a:extLst>
          </p:cNvPr>
          <p:cNvSpPr>
            <a:spLocks/>
          </p:cNvSpPr>
          <p:nvPr/>
        </p:nvSpPr>
        <p:spPr>
          <a:xfrm>
            <a:off x="848273" y="3971865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多项伯努利分布</a:t>
            </a:r>
            <a:endParaRPr lang="zh-CN" altLang="en-US" sz="2000" u="none" strike="noStrike" kern="1200" cap="none" spc="0" baseline="0" dirty="0">
              <a:solidFill>
                <a:srgbClr val="474747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9" name="矩形">
            <a:extLst>
              <a:ext uri="{FF2B5EF4-FFF2-40B4-BE49-F238E27FC236}">
                <a16:creationId xmlns:a16="http://schemas.microsoft.com/office/drawing/2014/main" id="{FBD3CB8F-AE6F-0059-909C-643211F64170}"/>
              </a:ext>
            </a:extLst>
          </p:cNvPr>
          <p:cNvSpPr>
            <a:spLocks/>
          </p:cNvSpPr>
          <p:nvPr/>
        </p:nvSpPr>
        <p:spPr>
          <a:xfrm>
            <a:off x="3325510" y="577890"/>
            <a:ext cx="2492990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离散概率分布</a:t>
            </a:r>
            <a:endParaRPr lang="en-US" altLang="zh-CN" sz="3000" b="1" kern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4" name="矩形">
            <a:extLst>
              <a:ext uri="{FF2B5EF4-FFF2-40B4-BE49-F238E27FC236}">
                <a16:creationId xmlns:a16="http://schemas.microsoft.com/office/drawing/2014/main" id="{F6964BB5-4B99-D6D3-D657-8E705F6FB625}"/>
              </a:ext>
            </a:extLst>
          </p:cNvPr>
          <p:cNvSpPr>
            <a:spLocks/>
          </p:cNvSpPr>
          <p:nvPr/>
        </p:nvSpPr>
        <p:spPr>
          <a:xfrm>
            <a:off x="4067944" y="1492250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随机变量</a:t>
            </a:r>
            <a:endParaRPr lang="zh-CN" altLang="en-US" sz="200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5" name="矩形">
            <a:extLst>
              <a:ext uri="{FF2B5EF4-FFF2-40B4-BE49-F238E27FC236}">
                <a16:creationId xmlns:a16="http://schemas.microsoft.com/office/drawing/2014/main" id="{B9717292-0265-A9AB-0CB7-A0D78F7D2B9A}"/>
              </a:ext>
            </a:extLst>
          </p:cNvPr>
          <p:cNvSpPr>
            <a:spLocks/>
          </p:cNvSpPr>
          <p:nvPr/>
        </p:nvSpPr>
        <p:spPr>
          <a:xfrm>
            <a:off x="4067944" y="2732058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二项分布</a:t>
            </a:r>
            <a:endParaRPr lang="zh-CN" altLang="en-US" sz="200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2" name="矩形">
            <a:extLst>
              <a:ext uri="{FF2B5EF4-FFF2-40B4-BE49-F238E27FC236}">
                <a16:creationId xmlns:a16="http://schemas.microsoft.com/office/drawing/2014/main" id="{EF9A9EAF-C20A-0EF3-A756-7A78C0B83A58}"/>
              </a:ext>
            </a:extLst>
          </p:cNvPr>
          <p:cNvSpPr>
            <a:spLocks/>
          </p:cNvSpPr>
          <p:nvPr/>
        </p:nvSpPr>
        <p:spPr>
          <a:xfrm>
            <a:off x="4067944" y="3971865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多项分布</a:t>
            </a:r>
            <a:endParaRPr lang="zh-CN" altLang="en-US" sz="200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3128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4" grpId="0"/>
      <p:bldP spid="5" grpId="0"/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EDE89-B17E-65DF-4ECB-33922DEF6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">
            <a:extLst>
              <a:ext uri="{FF2B5EF4-FFF2-40B4-BE49-F238E27FC236}">
                <a16:creationId xmlns:a16="http://schemas.microsoft.com/office/drawing/2014/main" id="{86AA0809-B402-CEBC-EBA8-40770DAEDFC7}"/>
              </a:ext>
            </a:extLst>
          </p:cNvPr>
          <p:cNvSpPr>
            <a:spLocks/>
          </p:cNvSpPr>
          <p:nvPr/>
        </p:nvSpPr>
        <p:spPr>
          <a:xfrm>
            <a:off x="831258" y="2732058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模型评估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15" name="矩形">
            <a:extLst>
              <a:ext uri="{FF2B5EF4-FFF2-40B4-BE49-F238E27FC236}">
                <a16:creationId xmlns:a16="http://schemas.microsoft.com/office/drawing/2014/main" id="{89866162-2222-4A21-DFF2-0669C207A312}"/>
              </a:ext>
            </a:extLst>
          </p:cNvPr>
          <p:cNvSpPr>
            <a:spLocks/>
          </p:cNvSpPr>
          <p:nvPr/>
        </p:nvSpPr>
        <p:spPr>
          <a:xfrm>
            <a:off x="827584" y="1492250"/>
            <a:ext cx="3939753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描述问题</a:t>
            </a:r>
            <a:endParaRPr lang="zh-CN" altLang="en-US" sz="2000" u="none" strike="noStrike" kern="1200" cap="none" spc="0" baseline="0" dirty="0">
              <a:solidFill>
                <a:srgbClr val="474747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6" name="矩形">
            <a:extLst>
              <a:ext uri="{FF2B5EF4-FFF2-40B4-BE49-F238E27FC236}">
                <a16:creationId xmlns:a16="http://schemas.microsoft.com/office/drawing/2014/main" id="{E417DCA2-E27C-0812-761F-E4818CC6424A}"/>
              </a:ext>
            </a:extLst>
          </p:cNvPr>
          <p:cNvSpPr>
            <a:spLocks/>
          </p:cNvSpPr>
          <p:nvPr/>
        </p:nvSpPr>
        <p:spPr>
          <a:xfrm>
            <a:off x="848273" y="3971865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神经网络中的用处</a:t>
            </a:r>
            <a:endParaRPr lang="zh-CN" altLang="en-US" sz="2000" u="none" strike="noStrike" kern="1200" cap="none" spc="0" baseline="0" dirty="0">
              <a:solidFill>
                <a:srgbClr val="474747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9" name="矩形">
            <a:extLst>
              <a:ext uri="{FF2B5EF4-FFF2-40B4-BE49-F238E27FC236}">
                <a16:creationId xmlns:a16="http://schemas.microsoft.com/office/drawing/2014/main" id="{CFAA001A-CC53-884A-7A34-63EAF48A25CB}"/>
              </a:ext>
            </a:extLst>
          </p:cNvPr>
          <p:cNvSpPr>
            <a:spLocks/>
          </p:cNvSpPr>
          <p:nvPr/>
        </p:nvSpPr>
        <p:spPr>
          <a:xfrm>
            <a:off x="1978989" y="577890"/>
            <a:ext cx="5186035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离散概率与机器学习分类问题</a:t>
            </a:r>
            <a:endParaRPr lang="zh-CN" altLang="en-US" u="none" strike="noStrike" kern="1200" cap="none" spc="0" baseline="0" dirty="0">
              <a:solidFill>
                <a:schemeClr val="tx1"/>
              </a:solidFill>
              <a:latin typeface="Calibri" pitchFamily="34" charset="0"/>
              <a:ea typeface="宋体" pitchFamily="2" charset="-122"/>
              <a:cs typeface="微软雅黑" charset="0"/>
            </a:endParaRPr>
          </a:p>
        </p:txBody>
      </p:sp>
      <p:sp>
        <p:nvSpPr>
          <p:cNvPr id="4" name="矩形">
            <a:extLst>
              <a:ext uri="{FF2B5EF4-FFF2-40B4-BE49-F238E27FC236}">
                <a16:creationId xmlns:a16="http://schemas.microsoft.com/office/drawing/2014/main" id="{1C4C9A34-CC0C-6A5C-17DC-DCD2446A7C8E}"/>
              </a:ext>
            </a:extLst>
          </p:cNvPr>
          <p:cNvSpPr>
            <a:spLocks/>
          </p:cNvSpPr>
          <p:nvPr/>
        </p:nvSpPr>
        <p:spPr>
          <a:xfrm>
            <a:off x="4067944" y="1492250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阈值划分</a:t>
            </a:r>
            <a:endParaRPr lang="zh-CN" altLang="en-US" sz="200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5" name="矩形">
            <a:extLst>
              <a:ext uri="{FF2B5EF4-FFF2-40B4-BE49-F238E27FC236}">
                <a16:creationId xmlns:a16="http://schemas.microsoft.com/office/drawing/2014/main" id="{35A37F22-B91B-9E65-C4F2-58277F07FA3D}"/>
              </a:ext>
            </a:extLst>
          </p:cNvPr>
          <p:cNvSpPr>
            <a:spLocks/>
          </p:cNvSpPr>
          <p:nvPr/>
        </p:nvSpPr>
        <p:spPr>
          <a:xfrm>
            <a:off x="4067944" y="2732058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基于概率论的分类模型</a:t>
            </a:r>
            <a:endParaRPr lang="zh-CN" altLang="en-US" sz="200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6504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 build="p"/>
      <p:bldP spid="16" grpId="0"/>
      <p:bldP spid="4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5C1DB-515F-E9E5-D9C0-BCBC45D7A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">
            <a:extLst>
              <a:ext uri="{FF2B5EF4-FFF2-40B4-BE49-F238E27FC236}">
                <a16:creationId xmlns:a16="http://schemas.microsoft.com/office/drawing/2014/main" id="{8A284D42-26B7-8DD0-1B32-66B14AF549C4}"/>
              </a:ext>
            </a:extLst>
          </p:cNvPr>
          <p:cNvSpPr>
            <a:spLocks/>
          </p:cNvSpPr>
          <p:nvPr/>
        </p:nvSpPr>
        <p:spPr>
          <a:xfrm>
            <a:off x="831258" y="2732058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期望值（均值）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15" name="矩形">
            <a:extLst>
              <a:ext uri="{FF2B5EF4-FFF2-40B4-BE49-F238E27FC236}">
                <a16:creationId xmlns:a16="http://schemas.microsoft.com/office/drawing/2014/main" id="{EC87D46F-E025-069A-A527-B93D1B18762E}"/>
              </a:ext>
            </a:extLst>
          </p:cNvPr>
          <p:cNvSpPr>
            <a:spLocks/>
          </p:cNvSpPr>
          <p:nvPr/>
        </p:nvSpPr>
        <p:spPr>
          <a:xfrm>
            <a:off x="827585" y="1492250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什么是随机变量</a:t>
            </a:r>
            <a:endParaRPr lang="zh-CN" altLang="en-US" sz="2000" u="none" strike="noStrike" kern="1200" cap="none" spc="0" baseline="0" dirty="0">
              <a:solidFill>
                <a:srgbClr val="474747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6" name="矩形">
            <a:extLst>
              <a:ext uri="{FF2B5EF4-FFF2-40B4-BE49-F238E27FC236}">
                <a16:creationId xmlns:a16="http://schemas.microsoft.com/office/drawing/2014/main" id="{EAF9DCE2-B3AB-470C-36F9-837CFA7EFB41}"/>
              </a:ext>
            </a:extLst>
          </p:cNvPr>
          <p:cNvSpPr>
            <a:spLocks/>
          </p:cNvSpPr>
          <p:nvPr/>
        </p:nvSpPr>
        <p:spPr>
          <a:xfrm>
            <a:off x="848273" y="3971865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方差，标准差</a:t>
            </a:r>
            <a:endParaRPr lang="zh-CN" altLang="en-US" sz="2000" u="none" strike="noStrike" kern="1200" cap="none" spc="0" baseline="0" dirty="0">
              <a:solidFill>
                <a:srgbClr val="474747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9" name="矩形">
            <a:extLst>
              <a:ext uri="{FF2B5EF4-FFF2-40B4-BE49-F238E27FC236}">
                <a16:creationId xmlns:a16="http://schemas.microsoft.com/office/drawing/2014/main" id="{F4C65A20-9F20-7269-1F4B-EC988781234A}"/>
              </a:ext>
            </a:extLst>
          </p:cNvPr>
          <p:cNvSpPr>
            <a:spLocks/>
          </p:cNvSpPr>
          <p:nvPr/>
        </p:nvSpPr>
        <p:spPr>
          <a:xfrm>
            <a:off x="3710230" y="577890"/>
            <a:ext cx="1723549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随机变量</a:t>
            </a:r>
            <a:endParaRPr lang="zh-CN" altLang="en-US" u="none" strike="noStrike" kern="1200" cap="none" spc="0" baseline="0" dirty="0">
              <a:solidFill>
                <a:schemeClr val="tx1"/>
              </a:solidFill>
              <a:latin typeface="Calibri" pitchFamily="34" charset="0"/>
              <a:ea typeface="宋体" pitchFamily="2" charset="-122"/>
              <a:cs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6793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 build="p"/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F0F4E-651A-2E5E-0DDB-7248A686A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">
            <a:extLst>
              <a:ext uri="{FF2B5EF4-FFF2-40B4-BE49-F238E27FC236}">
                <a16:creationId xmlns:a16="http://schemas.microsoft.com/office/drawing/2014/main" id="{2E07A0E8-17F4-97F7-B93E-FE3A093738D3}"/>
              </a:ext>
            </a:extLst>
          </p:cNvPr>
          <p:cNvSpPr>
            <a:spLocks/>
          </p:cNvSpPr>
          <p:nvPr/>
        </p:nvSpPr>
        <p:spPr>
          <a:xfrm>
            <a:off x="831258" y="2732058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连续概率分布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15" name="矩形">
            <a:extLst>
              <a:ext uri="{FF2B5EF4-FFF2-40B4-BE49-F238E27FC236}">
                <a16:creationId xmlns:a16="http://schemas.microsoft.com/office/drawing/2014/main" id="{D3ADDB3E-1DFC-B959-4093-59781BF6C7AC}"/>
              </a:ext>
            </a:extLst>
          </p:cNvPr>
          <p:cNvSpPr>
            <a:spLocks/>
          </p:cNvSpPr>
          <p:nvPr/>
        </p:nvSpPr>
        <p:spPr>
          <a:xfrm>
            <a:off x="827585" y="1492250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离散概率分布</a:t>
            </a:r>
            <a:endParaRPr lang="zh-CN" altLang="en-US" sz="2000" u="none" strike="noStrike" kern="1200" cap="none" spc="0" baseline="0" dirty="0">
              <a:solidFill>
                <a:srgbClr val="474747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9" name="矩形">
            <a:extLst>
              <a:ext uri="{FF2B5EF4-FFF2-40B4-BE49-F238E27FC236}">
                <a16:creationId xmlns:a16="http://schemas.microsoft.com/office/drawing/2014/main" id="{12D97CEB-1F2E-36EB-9E29-77B8F30D99C7}"/>
              </a:ext>
            </a:extLst>
          </p:cNvPr>
          <p:cNvSpPr>
            <a:spLocks/>
          </p:cNvSpPr>
          <p:nvPr/>
        </p:nvSpPr>
        <p:spPr>
          <a:xfrm>
            <a:off x="3710230" y="577890"/>
            <a:ext cx="1723549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概率分布</a:t>
            </a:r>
            <a:endParaRPr lang="zh-CN" altLang="en-US" u="none" strike="noStrike" kern="1200" cap="none" spc="0" baseline="0" dirty="0">
              <a:solidFill>
                <a:schemeClr val="tx1"/>
              </a:solidFill>
              <a:latin typeface="Calibri" pitchFamily="34" charset="0"/>
              <a:ea typeface="宋体" pitchFamily="2" charset="-122"/>
              <a:cs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8348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CDB2B-087E-E37E-4C89-06B13E8CD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">
            <a:extLst>
              <a:ext uri="{FF2B5EF4-FFF2-40B4-BE49-F238E27FC236}">
                <a16:creationId xmlns:a16="http://schemas.microsoft.com/office/drawing/2014/main" id="{F0432FDE-D323-994F-8EB3-1F80FE3057C9}"/>
              </a:ext>
            </a:extLst>
          </p:cNvPr>
          <p:cNvSpPr>
            <a:spLocks/>
          </p:cNvSpPr>
          <p:nvPr/>
        </p:nvSpPr>
        <p:spPr>
          <a:xfrm>
            <a:off x="831258" y="2732058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采样信息的不完整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15" name="矩形">
            <a:extLst>
              <a:ext uri="{FF2B5EF4-FFF2-40B4-BE49-F238E27FC236}">
                <a16:creationId xmlns:a16="http://schemas.microsoft.com/office/drawing/2014/main" id="{CB43FCB8-AD69-A542-6D05-C6CA5750237A}"/>
              </a:ext>
            </a:extLst>
          </p:cNvPr>
          <p:cNvSpPr>
            <a:spLocks/>
          </p:cNvSpPr>
          <p:nvPr/>
        </p:nvSpPr>
        <p:spPr>
          <a:xfrm>
            <a:off x="827585" y="1492250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数据的噪音</a:t>
            </a:r>
            <a:endParaRPr lang="zh-CN" altLang="en-US" sz="2000" u="none" strike="noStrike" kern="1200" cap="none" spc="0" baseline="0" dirty="0">
              <a:solidFill>
                <a:srgbClr val="474747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6" name="矩形">
            <a:extLst>
              <a:ext uri="{FF2B5EF4-FFF2-40B4-BE49-F238E27FC236}">
                <a16:creationId xmlns:a16="http://schemas.microsoft.com/office/drawing/2014/main" id="{9A0FF38A-B782-745C-5DF4-2911BBD08D55}"/>
              </a:ext>
            </a:extLst>
          </p:cNvPr>
          <p:cNvSpPr>
            <a:spLocks/>
          </p:cNvSpPr>
          <p:nvPr/>
        </p:nvSpPr>
        <p:spPr>
          <a:xfrm>
            <a:off x="848273" y="3971865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不完美的模型</a:t>
            </a:r>
            <a:endParaRPr lang="zh-CN" altLang="en-US" sz="2000" u="none" strike="noStrike" kern="1200" cap="none" spc="0" baseline="0" dirty="0">
              <a:solidFill>
                <a:srgbClr val="474747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9" name="矩形">
            <a:extLst>
              <a:ext uri="{FF2B5EF4-FFF2-40B4-BE49-F238E27FC236}">
                <a16:creationId xmlns:a16="http://schemas.microsoft.com/office/drawing/2014/main" id="{B08EF577-BE66-E450-9D1C-208558EC220F}"/>
              </a:ext>
            </a:extLst>
          </p:cNvPr>
          <p:cNvSpPr>
            <a:spLocks/>
          </p:cNvSpPr>
          <p:nvPr/>
        </p:nvSpPr>
        <p:spPr>
          <a:xfrm>
            <a:off x="2556066" y="577890"/>
            <a:ext cx="4031873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机器学习中的不确定性</a:t>
            </a:r>
            <a:endParaRPr lang="zh-CN" altLang="en-US" u="none" strike="noStrike" kern="1200" cap="none" spc="0" baseline="0" dirty="0">
              <a:solidFill>
                <a:schemeClr val="tx1"/>
              </a:solidFill>
              <a:latin typeface="Calibri" pitchFamily="34" charset="0"/>
              <a:ea typeface="宋体" pitchFamily="2" charset="-122"/>
              <a:cs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2606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 build="p"/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"/>
          <p:cNvSpPr>
            <a:spLocks/>
          </p:cNvSpPr>
          <p:nvPr/>
        </p:nvSpPr>
        <p:spPr>
          <a:xfrm>
            <a:off x="831258" y="2732058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两种概率学派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15" name="矩形"/>
          <p:cNvSpPr>
            <a:spLocks/>
          </p:cNvSpPr>
          <p:nvPr/>
        </p:nvSpPr>
        <p:spPr>
          <a:xfrm>
            <a:off x="827585" y="1492250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不确定性与机器学习</a:t>
            </a:r>
            <a:endParaRPr lang="zh-CN" altLang="en-US" sz="2000" u="none" strike="noStrike" kern="1200" cap="none" spc="0" baseline="0" dirty="0">
              <a:solidFill>
                <a:srgbClr val="474747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6" name="矩形"/>
          <p:cNvSpPr>
            <a:spLocks/>
          </p:cNvSpPr>
          <p:nvPr/>
        </p:nvSpPr>
        <p:spPr>
          <a:xfrm>
            <a:off x="848273" y="3971865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多个随机变量的概率</a:t>
            </a:r>
            <a:endParaRPr lang="zh-CN" altLang="en-US" sz="2000" u="none" strike="noStrike" kern="1200" cap="none" spc="0" baseline="0" dirty="0">
              <a:solidFill>
                <a:srgbClr val="474747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7" name="矩形"/>
          <p:cNvSpPr>
            <a:spLocks/>
          </p:cNvSpPr>
          <p:nvPr/>
        </p:nvSpPr>
        <p:spPr>
          <a:xfrm>
            <a:off x="4067944" y="2732058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一个随机变量的概率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8" name="矩形"/>
          <p:cNvSpPr>
            <a:spLocks/>
          </p:cNvSpPr>
          <p:nvPr/>
        </p:nvSpPr>
        <p:spPr>
          <a:xfrm>
            <a:off x="4067944" y="1492250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什么是概率</a:t>
            </a:r>
            <a:endParaRPr lang="zh-CN" altLang="en-US" sz="2000" u="none" strike="noStrike" kern="1200" cap="none" spc="0" baseline="0" dirty="0">
              <a:solidFill>
                <a:srgbClr val="474747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9" name="矩形"/>
          <p:cNvSpPr>
            <a:spLocks/>
          </p:cNvSpPr>
          <p:nvPr/>
        </p:nvSpPr>
        <p:spPr>
          <a:xfrm>
            <a:off x="1594265" y="577890"/>
            <a:ext cx="5955476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概率：应对机器学习中的不确定性</a:t>
            </a:r>
            <a:endParaRPr lang="zh-CN" altLang="en-US" u="none" strike="noStrike" kern="1200" cap="none" spc="0" baseline="0" dirty="0">
              <a:solidFill>
                <a:schemeClr val="tx1"/>
              </a:solidFill>
              <a:latin typeface="Calibri" pitchFamily="34" charset="0"/>
              <a:ea typeface="宋体" pitchFamily="2" charset="-122"/>
              <a:cs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0424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 build="p"/>
      <p:bldP spid="16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2BB52-B90C-14B9-5770-2A41ACF9F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">
            <a:extLst>
              <a:ext uri="{FF2B5EF4-FFF2-40B4-BE49-F238E27FC236}">
                <a16:creationId xmlns:a16="http://schemas.microsoft.com/office/drawing/2014/main" id="{D93E9E4C-E85C-4150-4D88-31DF2B456EF7}"/>
              </a:ext>
            </a:extLst>
          </p:cNvPr>
          <p:cNvSpPr>
            <a:spLocks/>
          </p:cNvSpPr>
          <p:nvPr/>
        </p:nvSpPr>
        <p:spPr>
          <a:xfrm>
            <a:off x="831258" y="2732058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运气，机会，风险。。。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15" name="矩形">
            <a:extLst>
              <a:ext uri="{FF2B5EF4-FFF2-40B4-BE49-F238E27FC236}">
                <a16:creationId xmlns:a16="http://schemas.microsoft.com/office/drawing/2014/main" id="{B6080FBF-A540-DF90-11E9-A061FB60A677}"/>
              </a:ext>
            </a:extLst>
          </p:cNvPr>
          <p:cNvSpPr>
            <a:spLocks/>
          </p:cNvSpPr>
          <p:nvPr/>
        </p:nvSpPr>
        <p:spPr>
          <a:xfrm>
            <a:off x="827585" y="1492250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世界就是不确定的</a:t>
            </a:r>
            <a:endParaRPr lang="zh-CN" altLang="en-US" sz="2000" u="none" strike="noStrike" kern="1200" cap="none" spc="0" baseline="0" dirty="0">
              <a:solidFill>
                <a:srgbClr val="474747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6" name="矩形">
            <a:extLst>
              <a:ext uri="{FF2B5EF4-FFF2-40B4-BE49-F238E27FC236}">
                <a16:creationId xmlns:a16="http://schemas.microsoft.com/office/drawing/2014/main" id="{4C164DE7-1831-9788-6F5A-FE932586CFBA}"/>
              </a:ext>
            </a:extLst>
          </p:cNvPr>
          <p:cNvSpPr>
            <a:spLocks/>
          </p:cNvSpPr>
          <p:nvPr/>
        </p:nvSpPr>
        <p:spPr>
          <a:xfrm>
            <a:off x="848273" y="3971865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概率论</a:t>
            </a:r>
            <a:endParaRPr lang="zh-CN" altLang="en-US" sz="2000" u="none" strike="noStrike" kern="1200" cap="none" spc="0" baseline="0" dirty="0">
              <a:solidFill>
                <a:srgbClr val="474747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9" name="矩形">
            <a:extLst>
              <a:ext uri="{FF2B5EF4-FFF2-40B4-BE49-F238E27FC236}">
                <a16:creationId xmlns:a16="http://schemas.microsoft.com/office/drawing/2014/main" id="{6E01C7D8-B954-1512-5F6A-A9BAC2434900}"/>
              </a:ext>
            </a:extLst>
          </p:cNvPr>
          <p:cNvSpPr>
            <a:spLocks/>
          </p:cNvSpPr>
          <p:nvPr/>
        </p:nvSpPr>
        <p:spPr>
          <a:xfrm>
            <a:off x="3710228" y="577890"/>
            <a:ext cx="1723549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不确定性</a:t>
            </a:r>
            <a:endParaRPr lang="zh-CN" altLang="en-US" u="none" strike="noStrike" kern="1200" cap="none" spc="0" baseline="0" dirty="0">
              <a:solidFill>
                <a:schemeClr val="tx1"/>
              </a:solidFill>
              <a:latin typeface="Calibri" pitchFamily="34" charset="0"/>
              <a:ea typeface="宋体" pitchFamily="2" charset="-122"/>
              <a:cs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7111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 build="p"/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E350D-60E8-22D2-CDD1-081B4F2E1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">
            <a:extLst>
              <a:ext uri="{FF2B5EF4-FFF2-40B4-BE49-F238E27FC236}">
                <a16:creationId xmlns:a16="http://schemas.microsoft.com/office/drawing/2014/main" id="{F849E5B5-9080-1BE2-EA41-EA6816E6B9F0}"/>
              </a:ext>
            </a:extLst>
          </p:cNvPr>
          <p:cNvSpPr>
            <a:spLocks/>
          </p:cNvSpPr>
          <p:nvPr/>
        </p:nvSpPr>
        <p:spPr>
          <a:xfrm>
            <a:off x="827585" y="3145326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概率函数</a:t>
            </a:r>
          </a:p>
        </p:txBody>
      </p:sp>
      <p:sp>
        <p:nvSpPr>
          <p:cNvPr id="15" name="矩形">
            <a:extLst>
              <a:ext uri="{FF2B5EF4-FFF2-40B4-BE49-F238E27FC236}">
                <a16:creationId xmlns:a16="http://schemas.microsoft.com/office/drawing/2014/main" id="{EE8158B2-BA49-7F13-F073-791AADE88985}"/>
              </a:ext>
            </a:extLst>
          </p:cNvPr>
          <p:cNvSpPr>
            <a:spLocks/>
          </p:cNvSpPr>
          <p:nvPr/>
        </p:nvSpPr>
        <p:spPr>
          <a:xfrm>
            <a:off x="827585" y="1492250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样本空间</a:t>
            </a:r>
            <a:endParaRPr lang="zh-CN" altLang="en-US" sz="2000" u="none" strike="noStrike" kern="1200" cap="none" spc="0" baseline="0" dirty="0">
              <a:solidFill>
                <a:srgbClr val="474747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6" name="矩形">
            <a:extLst>
              <a:ext uri="{FF2B5EF4-FFF2-40B4-BE49-F238E27FC236}">
                <a16:creationId xmlns:a16="http://schemas.microsoft.com/office/drawing/2014/main" id="{5B5D083B-8F9F-A563-BFD0-EF13E0170D82}"/>
              </a:ext>
            </a:extLst>
          </p:cNvPr>
          <p:cNvSpPr>
            <a:spLocks/>
          </p:cNvSpPr>
          <p:nvPr/>
        </p:nvSpPr>
        <p:spPr>
          <a:xfrm>
            <a:off x="827585" y="3971865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概率分布</a:t>
            </a:r>
            <a:endParaRPr lang="zh-CN" altLang="en-US" sz="2000" u="none" strike="noStrike" kern="1200" cap="none" spc="0" baseline="0" dirty="0">
              <a:solidFill>
                <a:srgbClr val="474747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8" name="矩形">
            <a:extLst>
              <a:ext uri="{FF2B5EF4-FFF2-40B4-BE49-F238E27FC236}">
                <a16:creationId xmlns:a16="http://schemas.microsoft.com/office/drawing/2014/main" id="{2877BC32-798D-37F1-FC7F-CF7703E39238}"/>
              </a:ext>
            </a:extLst>
          </p:cNvPr>
          <p:cNvSpPr>
            <a:spLocks/>
          </p:cNvSpPr>
          <p:nvPr/>
        </p:nvSpPr>
        <p:spPr>
          <a:xfrm>
            <a:off x="827585" y="2318788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事件</a:t>
            </a:r>
            <a:endParaRPr lang="zh-CN" altLang="en-US" sz="2000" u="none" strike="noStrike" kern="1200" cap="none" spc="0" baseline="0" dirty="0">
              <a:solidFill>
                <a:srgbClr val="474747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9" name="矩形">
            <a:extLst>
              <a:ext uri="{FF2B5EF4-FFF2-40B4-BE49-F238E27FC236}">
                <a16:creationId xmlns:a16="http://schemas.microsoft.com/office/drawing/2014/main" id="{FC8B5DB2-296F-70F6-E986-0498DEB15A37}"/>
              </a:ext>
            </a:extLst>
          </p:cNvPr>
          <p:cNvSpPr>
            <a:spLocks/>
          </p:cNvSpPr>
          <p:nvPr/>
        </p:nvSpPr>
        <p:spPr>
          <a:xfrm>
            <a:off x="2940790" y="577890"/>
            <a:ext cx="3262432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概率论中几个名词</a:t>
            </a:r>
            <a:endParaRPr lang="zh-CN" altLang="en-US" u="none" strike="noStrike" kern="1200" cap="none" spc="0" baseline="0" dirty="0">
              <a:solidFill>
                <a:schemeClr val="tx1"/>
              </a:solidFill>
              <a:latin typeface="Calibri" pitchFamily="34" charset="0"/>
              <a:ea typeface="宋体" pitchFamily="2" charset="-122"/>
              <a:cs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0408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 build="p"/>
      <p:bldP spid="16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11626-B04F-F46D-60B0-4C8C5CAED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">
            <a:extLst>
              <a:ext uri="{FF2B5EF4-FFF2-40B4-BE49-F238E27FC236}">
                <a16:creationId xmlns:a16="http://schemas.microsoft.com/office/drawing/2014/main" id="{651D3963-3A34-1A9C-8526-05B715C24C33}"/>
              </a:ext>
            </a:extLst>
          </p:cNvPr>
          <p:cNvSpPr>
            <a:spLocks/>
          </p:cNvSpPr>
          <p:nvPr/>
        </p:nvSpPr>
        <p:spPr>
          <a:xfrm>
            <a:off x="831258" y="2732058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贝叶斯概率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15" name="矩形">
            <a:extLst>
              <a:ext uri="{FF2B5EF4-FFF2-40B4-BE49-F238E27FC236}">
                <a16:creationId xmlns:a16="http://schemas.microsoft.com/office/drawing/2014/main" id="{38E2740B-75EF-B64D-4B99-5FDA38E49A19}"/>
              </a:ext>
            </a:extLst>
          </p:cNvPr>
          <p:cNvSpPr>
            <a:spLocks/>
          </p:cNvSpPr>
          <p:nvPr/>
        </p:nvSpPr>
        <p:spPr>
          <a:xfrm>
            <a:off x="827585" y="1492250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频率概率</a:t>
            </a:r>
            <a:endParaRPr lang="zh-CN" altLang="en-US" sz="2000" u="none" strike="noStrike" kern="1200" cap="none" spc="0" baseline="0" dirty="0">
              <a:solidFill>
                <a:srgbClr val="474747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9" name="矩形">
            <a:extLst>
              <a:ext uri="{FF2B5EF4-FFF2-40B4-BE49-F238E27FC236}">
                <a16:creationId xmlns:a16="http://schemas.microsoft.com/office/drawing/2014/main" id="{CA3E0D98-E38F-0BAF-FA92-58460765A71D}"/>
              </a:ext>
            </a:extLst>
          </p:cNvPr>
          <p:cNvSpPr>
            <a:spLocks/>
          </p:cNvSpPr>
          <p:nvPr/>
        </p:nvSpPr>
        <p:spPr>
          <a:xfrm>
            <a:off x="2940788" y="577890"/>
            <a:ext cx="3262432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概率论的不同派别</a:t>
            </a:r>
            <a:endParaRPr lang="zh-CN" altLang="en-US" u="none" strike="noStrike" kern="1200" cap="none" spc="0" baseline="0" dirty="0">
              <a:solidFill>
                <a:schemeClr val="tx1"/>
              </a:solidFill>
              <a:latin typeface="Calibri" pitchFamily="34" charset="0"/>
              <a:ea typeface="宋体" pitchFamily="2" charset="-122"/>
              <a:cs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50735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3CE26-E5B4-9B2D-6A4C-869E99036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">
            <a:extLst>
              <a:ext uri="{FF2B5EF4-FFF2-40B4-BE49-F238E27FC236}">
                <a16:creationId xmlns:a16="http://schemas.microsoft.com/office/drawing/2014/main" id="{DC0FD016-136E-F30E-CFDD-C0D8F0AA5B4B}"/>
              </a:ext>
            </a:extLst>
          </p:cNvPr>
          <p:cNvSpPr>
            <a:spLocks/>
          </p:cNvSpPr>
          <p:nvPr/>
        </p:nvSpPr>
        <p:spPr>
          <a:xfrm>
            <a:off x="827585" y="3145326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边际概率</a:t>
            </a:r>
          </a:p>
        </p:txBody>
      </p:sp>
      <p:sp>
        <p:nvSpPr>
          <p:cNvPr id="15" name="矩形">
            <a:extLst>
              <a:ext uri="{FF2B5EF4-FFF2-40B4-BE49-F238E27FC236}">
                <a16:creationId xmlns:a16="http://schemas.microsoft.com/office/drawing/2014/main" id="{2DBCBAF9-DBA5-8CEF-7B7D-E7968E4D0720}"/>
              </a:ext>
            </a:extLst>
          </p:cNvPr>
          <p:cNvSpPr>
            <a:spLocks/>
          </p:cNvSpPr>
          <p:nvPr/>
        </p:nvSpPr>
        <p:spPr>
          <a:xfrm>
            <a:off x="827585" y="1492250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独立性和排他性的概率</a:t>
            </a:r>
            <a:endParaRPr lang="zh-CN" altLang="en-US" sz="2000" u="none" strike="noStrike" kern="1200" cap="none" spc="0" baseline="0" dirty="0">
              <a:solidFill>
                <a:srgbClr val="474747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6" name="矩形">
            <a:extLst>
              <a:ext uri="{FF2B5EF4-FFF2-40B4-BE49-F238E27FC236}">
                <a16:creationId xmlns:a16="http://schemas.microsoft.com/office/drawing/2014/main" id="{EF2F8C6A-8AED-14BB-79CB-E632673C07EF}"/>
              </a:ext>
            </a:extLst>
          </p:cNvPr>
          <p:cNvSpPr>
            <a:spLocks/>
          </p:cNvSpPr>
          <p:nvPr/>
        </p:nvSpPr>
        <p:spPr>
          <a:xfrm>
            <a:off x="827585" y="3971865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条件概率</a:t>
            </a:r>
            <a:endParaRPr lang="zh-CN" altLang="en-US" sz="2000" u="none" strike="noStrike" kern="1200" cap="none" spc="0" baseline="0" dirty="0">
              <a:solidFill>
                <a:srgbClr val="474747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8" name="矩形">
            <a:extLst>
              <a:ext uri="{FF2B5EF4-FFF2-40B4-BE49-F238E27FC236}">
                <a16:creationId xmlns:a16="http://schemas.microsoft.com/office/drawing/2014/main" id="{C62DCEED-C4ED-AC25-6C10-2171DC3ADB0D}"/>
              </a:ext>
            </a:extLst>
          </p:cNvPr>
          <p:cNvSpPr>
            <a:spLocks/>
          </p:cNvSpPr>
          <p:nvPr/>
        </p:nvSpPr>
        <p:spPr>
          <a:xfrm>
            <a:off x="827585" y="2318788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联合概率</a:t>
            </a:r>
            <a:endParaRPr lang="zh-CN" altLang="en-US" sz="2000" u="none" strike="noStrike" kern="1200" cap="none" spc="0" baseline="0" dirty="0">
              <a:solidFill>
                <a:srgbClr val="474747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9" name="矩形">
            <a:extLst>
              <a:ext uri="{FF2B5EF4-FFF2-40B4-BE49-F238E27FC236}">
                <a16:creationId xmlns:a16="http://schemas.microsoft.com/office/drawing/2014/main" id="{2575C158-CA90-D934-D817-3C4847FD83D1}"/>
              </a:ext>
            </a:extLst>
          </p:cNvPr>
          <p:cNvSpPr>
            <a:spLocks/>
          </p:cNvSpPr>
          <p:nvPr/>
        </p:nvSpPr>
        <p:spPr>
          <a:xfrm>
            <a:off x="2748427" y="577890"/>
            <a:ext cx="3647152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多个随机变量的概率</a:t>
            </a:r>
            <a:endParaRPr lang="zh-CN" altLang="en-US" u="none" strike="noStrike" kern="1200" cap="none" spc="0" baseline="0" dirty="0">
              <a:solidFill>
                <a:schemeClr val="tx1"/>
              </a:solidFill>
              <a:latin typeface="Calibri" pitchFamily="34" charset="0"/>
              <a:ea typeface="宋体" pitchFamily="2" charset="-122"/>
              <a:cs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1679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 build="p"/>
      <p:bldP spid="16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44338-C840-7BCF-8BCA-11A4E1504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">
            <a:extLst>
              <a:ext uri="{FF2B5EF4-FFF2-40B4-BE49-F238E27FC236}">
                <a16:creationId xmlns:a16="http://schemas.microsoft.com/office/drawing/2014/main" id="{DE6C7ACD-AC75-0CB8-AB1B-EDBBC51BFA9C}"/>
              </a:ext>
            </a:extLst>
          </p:cNvPr>
          <p:cNvSpPr>
            <a:spLocks/>
          </p:cNvSpPr>
          <p:nvPr/>
        </p:nvSpPr>
        <p:spPr>
          <a:xfrm>
            <a:off x="827585" y="3145326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男孩女孩问题</a:t>
            </a:r>
          </a:p>
        </p:txBody>
      </p:sp>
      <p:sp>
        <p:nvSpPr>
          <p:cNvPr id="15" name="矩形">
            <a:extLst>
              <a:ext uri="{FF2B5EF4-FFF2-40B4-BE49-F238E27FC236}">
                <a16:creationId xmlns:a16="http://schemas.microsoft.com/office/drawing/2014/main" id="{F44FF6D5-32DB-9070-6DAD-4770E8530BBC}"/>
              </a:ext>
            </a:extLst>
          </p:cNvPr>
          <p:cNvSpPr>
            <a:spLocks/>
          </p:cNvSpPr>
          <p:nvPr/>
        </p:nvSpPr>
        <p:spPr>
          <a:xfrm>
            <a:off x="827585" y="1492250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天气问题</a:t>
            </a:r>
            <a:endParaRPr lang="zh-CN" altLang="en-US" sz="2000" u="none" strike="noStrike" kern="1200" cap="none" spc="0" baseline="0" dirty="0">
              <a:solidFill>
                <a:srgbClr val="474747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6" name="矩形">
            <a:extLst>
              <a:ext uri="{FF2B5EF4-FFF2-40B4-BE49-F238E27FC236}">
                <a16:creationId xmlns:a16="http://schemas.microsoft.com/office/drawing/2014/main" id="{2A0E5022-C594-D251-8855-C200E93DF492}"/>
              </a:ext>
            </a:extLst>
          </p:cNvPr>
          <p:cNvSpPr>
            <a:spLocks/>
          </p:cNvSpPr>
          <p:nvPr/>
        </p:nvSpPr>
        <p:spPr>
          <a:xfrm>
            <a:off x="827585" y="3971865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蒙提霍尔问题</a:t>
            </a:r>
            <a:endParaRPr lang="zh-CN" altLang="en-US" sz="2000" u="none" strike="noStrike" kern="1200" cap="none" spc="0" baseline="0" dirty="0">
              <a:solidFill>
                <a:srgbClr val="474747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8" name="矩形">
            <a:extLst>
              <a:ext uri="{FF2B5EF4-FFF2-40B4-BE49-F238E27FC236}">
                <a16:creationId xmlns:a16="http://schemas.microsoft.com/office/drawing/2014/main" id="{87A0BEB1-1A70-29E1-7D7C-2D3BAA9DBE6F}"/>
              </a:ext>
            </a:extLst>
          </p:cNvPr>
          <p:cNvSpPr>
            <a:spLocks/>
          </p:cNvSpPr>
          <p:nvPr/>
        </p:nvSpPr>
        <p:spPr>
          <a:xfrm>
            <a:off x="827585" y="2318788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生日问题</a:t>
            </a:r>
            <a:endParaRPr lang="zh-CN" altLang="en-US" sz="2000" u="none" strike="noStrike" kern="1200" cap="none" spc="0" baseline="0" dirty="0">
              <a:solidFill>
                <a:srgbClr val="474747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9" name="矩形">
            <a:extLst>
              <a:ext uri="{FF2B5EF4-FFF2-40B4-BE49-F238E27FC236}">
                <a16:creationId xmlns:a16="http://schemas.microsoft.com/office/drawing/2014/main" id="{3BDE62AE-D64E-0AD8-A8BF-EF6C726ECD18}"/>
              </a:ext>
            </a:extLst>
          </p:cNvPr>
          <p:cNvSpPr>
            <a:spLocks/>
          </p:cNvSpPr>
          <p:nvPr/>
        </p:nvSpPr>
        <p:spPr>
          <a:xfrm>
            <a:off x="2171348" y="577890"/>
            <a:ext cx="4801315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多个随机变量的概率：例子</a:t>
            </a:r>
            <a:endParaRPr lang="zh-CN" altLang="en-US" u="none" strike="noStrike" kern="1200" cap="none" spc="0" baseline="0" dirty="0">
              <a:solidFill>
                <a:schemeClr val="tx1"/>
              </a:solidFill>
              <a:latin typeface="Calibri" pitchFamily="34" charset="0"/>
              <a:ea typeface="宋体" pitchFamily="2" charset="-122"/>
              <a:cs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254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 build="p"/>
      <p:bldP spid="16" grpId="0"/>
      <p:bldP spid="8" grpId="0"/>
    </p:bldLst>
  </p:timing>
</p:sld>
</file>

<file path=ppt/theme/theme1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Normal.eit</Template>
  <TotalTime>69793</TotalTime>
  <Words>171</Words>
  <Application>Microsoft Office PowerPoint</Application>
  <PresentationFormat>On-screen Show (16:9)</PresentationFormat>
  <Paragraphs>64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微软雅黑</vt:lpstr>
      <vt:lpstr>Arial</vt:lpstr>
      <vt:lpstr>Calibri</vt:lpstr>
      <vt:lpstr>Wingdings</vt:lpstr>
      <vt:lpstr>讲师ppt模板20141215</vt:lpstr>
      <vt:lpstr>讲师ppt模板20141215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open</dc:creator>
  <cp:lastModifiedBy>Guo, Ying</cp:lastModifiedBy>
  <cp:revision>117</cp:revision>
  <dcterms:created xsi:type="dcterms:W3CDTF">2016-04-25T01:54:29Z</dcterms:created>
  <dcterms:modified xsi:type="dcterms:W3CDTF">2024-10-14T14:15:57Z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2052-9.1.0.4468</vt:lpwstr>
  </property>
</Properties>
</file>