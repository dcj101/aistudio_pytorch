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9"/>
  </p:notesMasterIdLst>
  <p:sldIdLst>
    <p:sldId id="299" r:id="rId3"/>
    <p:sldId id="325" r:id="rId4"/>
    <p:sldId id="332" r:id="rId5"/>
    <p:sldId id="337" r:id="rId6"/>
    <p:sldId id="338" r:id="rId7"/>
    <p:sldId id="339" r:id="rId8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3790D-4FC2-E478-7765-BD7F98FA4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B1C06960-FED6-8167-A5E0-2080DB911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808E608-BC5F-147F-F746-2FD70B297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66FEF615-0C2A-CFD9-9374-5997D73474C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0239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CD646-97BC-A1B1-DD19-D5D82FF27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523F1402-CF3A-120A-C2C5-A0A6B12F3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C684198E-0DF9-133B-6C12-4899B8E168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EDA4C45-0D28-63DD-B412-C1131D58C182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9768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BF035-71D5-5DAA-4612-06AB71614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396D8317-6AE5-3FED-9F7C-E87BF1483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10E0B83A-74FF-769A-A654-92AF85041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C544590E-4A0C-9371-01DA-FCC30AFAEA85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09827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F15C5-9296-91E2-47CC-D70BA384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A74F79B8-1F7F-D47A-F156-D8C575999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00F1CFE8-47F9-2FC6-CA15-8B0717286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2416BC29-65B8-242D-88DE-0B436674B603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7084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9D6D7-F523-E81A-194E-A7A804966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5A9020FB-FBEF-459E-A600-9DE43EB39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D5909B3C-E0F5-BBDB-CE76-BDA7BD812A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BF4D603F-7B84-17C1-5BE1-C386988F42EA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6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487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2025/2/3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练习：分类问题模型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FE23-71E6-545D-F65E-CFA8FF4A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6CD2B2E-5613-56AF-E277-91E5BDD3903C}"/>
              </a:ext>
            </a:extLst>
          </p:cNvPr>
          <p:cNvSpPr>
            <a:spLocks/>
          </p:cNvSpPr>
          <p:nvPr/>
        </p:nvSpPr>
        <p:spPr>
          <a:xfrm>
            <a:off x="3206924" y="577890"/>
            <a:ext cx="273023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分类问题模型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1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866154-EA25-010D-04C6-C82D8ABB981C}"/>
              </a:ext>
            </a:extLst>
          </p:cNvPr>
          <p:cNvSpPr txBox="1"/>
          <p:nvPr/>
        </p:nvSpPr>
        <p:spPr>
          <a:xfrm>
            <a:off x="899592" y="1419622"/>
            <a:ext cx="7272858" cy="18846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有一段</a:t>
            </a:r>
            <a:r>
              <a:rPr lang="en-US" altLang="zh-CN" sz="20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softmax函数的实现如下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，探讨一下为什么：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fr-FR" altLang="zh-CN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exp_logits</a:t>
            </a:r>
            <a:r>
              <a:rPr lang="fr-FR" altLang="zh-C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 = </a:t>
            </a:r>
            <a:r>
              <a:rPr lang="fr-FR" altLang="zh-CN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np.exp</a:t>
            </a:r>
            <a:r>
              <a:rPr lang="fr-FR" altLang="zh-C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(</a:t>
            </a:r>
            <a:r>
              <a:rPr lang="fr-FR" altLang="zh-CN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logits</a:t>
            </a:r>
            <a:r>
              <a:rPr lang="fr-FR" altLang="zh-C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 - </a:t>
            </a:r>
            <a:r>
              <a:rPr lang="fr-FR" altLang="zh-CN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max_logits</a:t>
            </a:r>
            <a:r>
              <a:rPr lang="fr-FR" altLang="zh-C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)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，而不是：</a:t>
            </a:r>
            <a:r>
              <a:rPr lang="fr-FR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fr-FR" altLang="zh-CN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exp_logits</a:t>
            </a:r>
            <a:r>
              <a:rPr lang="fr-FR" altLang="zh-C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 = </a:t>
            </a:r>
            <a:r>
              <a:rPr lang="fr-FR" altLang="zh-CN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np.exp</a:t>
            </a:r>
            <a:r>
              <a:rPr lang="fr-FR" altLang="zh-C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(</a:t>
            </a:r>
            <a:r>
              <a:rPr lang="fr-FR" altLang="zh-CN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logits</a:t>
            </a:r>
            <a:r>
              <a:rPr lang="fr-FR" altLang="zh-CN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)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；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这样做对代码运行会有什么影响？</a:t>
            </a:r>
            <a:endParaRPr lang="en-US" altLang="zh-CN" sz="2000" b="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B303F-A09D-6A43-8634-34FBC1943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591974"/>
            <a:ext cx="6238095" cy="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7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522F2-71A4-6660-8A64-1CEEEFEEC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3AFF51EB-CCFD-90E6-8E81-E7EA79D2A879}"/>
              </a:ext>
            </a:extLst>
          </p:cNvPr>
          <p:cNvSpPr>
            <a:spLocks/>
          </p:cNvSpPr>
          <p:nvPr/>
        </p:nvSpPr>
        <p:spPr>
          <a:xfrm>
            <a:off x="3206916" y="577890"/>
            <a:ext cx="273023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分类问题模型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2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D09A5-D516-C0D4-5FB0-06160F6D1244}"/>
              </a:ext>
            </a:extLst>
          </p:cNvPr>
          <p:cNvSpPr txBox="1"/>
          <p:nvPr/>
        </p:nvSpPr>
        <p:spPr>
          <a:xfrm>
            <a:off x="899592" y="1419622"/>
            <a:ext cx="7272858" cy="958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实现</a:t>
            </a:r>
            <a:r>
              <a:rPr lang="en-US" altLang="zh-CN" sz="1600" b="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cross_entropy_loss</a:t>
            </a:r>
            <a:r>
              <a:rPr lang="en-US" altLang="zh-CN" sz="1600" b="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(logits, labels)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</a:rPr>
              <a:t>方法，用于计算从网络输出的原始输出相对于真实标签（独热编码）的损失。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16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0AE69-5429-BDCE-DD7A-142DEF2B9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8C0F0653-12D3-8B7E-2486-9515ACBB1191}"/>
              </a:ext>
            </a:extLst>
          </p:cNvPr>
          <p:cNvSpPr>
            <a:spLocks/>
          </p:cNvSpPr>
          <p:nvPr/>
        </p:nvSpPr>
        <p:spPr>
          <a:xfrm>
            <a:off x="3206915" y="577890"/>
            <a:ext cx="273023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分类问题模型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3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D19CF9-163F-ECA0-DCD4-B0127A0B5C8B}"/>
              </a:ext>
            </a:extLst>
          </p:cNvPr>
          <p:cNvSpPr txBox="1"/>
          <p:nvPr/>
        </p:nvSpPr>
        <p:spPr>
          <a:xfrm>
            <a:off x="899592" y="1419622"/>
            <a:ext cx="7272858" cy="14276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i="0" dirty="0">
                <a:solidFill>
                  <a:srgbClr val="404040"/>
                </a:solidFill>
                <a:effectLst/>
                <a:latin typeface="Inter"/>
              </a:rPr>
              <a:t>在二维空间中，生成三个类别的数据，每一类数据包括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Inter"/>
              </a:rPr>
              <a:t>300个样本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Inter"/>
              </a:rPr>
              <a:t>，这三类的数据彼此分隔开一定距离。输出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Inter"/>
              </a:rPr>
              <a:t>X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Inter"/>
              </a:rPr>
              <a:t>，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Inter"/>
              </a:rPr>
              <a:t>y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Inter"/>
              </a:rPr>
              <a:t>；其中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Inter"/>
              </a:rPr>
              <a:t>X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Inter"/>
              </a:rPr>
              <a:t>的形状是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Inter"/>
              </a:rPr>
              <a:t>(900, 2), y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Inter"/>
              </a:rPr>
              <a:t>的形状是</a:t>
            </a:r>
            <a:r>
              <a:rPr lang="en-US" altLang="zh-CN" sz="2000" b="0" i="0" dirty="0">
                <a:solidFill>
                  <a:srgbClr val="404040"/>
                </a:solidFill>
                <a:effectLst/>
                <a:latin typeface="Inter"/>
              </a:rPr>
              <a:t>(900,) </a:t>
            </a:r>
            <a:r>
              <a:rPr lang="zh-CN" altLang="en-US" sz="2000" b="0" i="0" dirty="0">
                <a:solidFill>
                  <a:srgbClr val="404040"/>
                </a:solidFill>
                <a:effectLst/>
                <a:latin typeface="Inter"/>
              </a:rPr>
              <a:t>的标签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7969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A5249-CF27-F82A-8F1E-5342BEDF2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62B9C0A2-ACAE-4562-BD74-83D4F72F564F}"/>
              </a:ext>
            </a:extLst>
          </p:cNvPr>
          <p:cNvSpPr>
            <a:spLocks/>
          </p:cNvSpPr>
          <p:nvPr/>
        </p:nvSpPr>
        <p:spPr>
          <a:xfrm>
            <a:off x="3206915" y="577890"/>
            <a:ext cx="273023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分类问题模型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4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6F2EBE-9449-1FDF-3144-DDD201D67AD5}"/>
              </a:ext>
            </a:extLst>
          </p:cNvPr>
          <p:cNvSpPr txBox="1"/>
          <p:nvPr/>
        </p:nvSpPr>
        <p:spPr>
          <a:xfrm>
            <a:off x="899592" y="1419622"/>
            <a:ext cx="7272858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i="0" dirty="0">
                <a:solidFill>
                  <a:srgbClr val="404040"/>
                </a:solidFill>
                <a:effectLst/>
                <a:latin typeface="Inter"/>
              </a:rPr>
              <a:t>根据前面的内容，实现一个线性模型</a:t>
            </a:r>
            <a:r>
              <a:rPr lang="zh-CN" altLang="en-US" sz="2000" dirty="0">
                <a:solidFill>
                  <a:srgbClr val="404040"/>
                </a:solidFill>
                <a:latin typeface="Inter"/>
              </a:rPr>
              <a:t>，用刚才生成的测试数据进行训练，并用来预测。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317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A719D-BED0-7ED9-B8AA-C42C4471F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95778843-AF61-DC99-0DBC-2499A15F1195}"/>
              </a:ext>
            </a:extLst>
          </p:cNvPr>
          <p:cNvSpPr>
            <a:spLocks/>
          </p:cNvSpPr>
          <p:nvPr/>
        </p:nvSpPr>
        <p:spPr>
          <a:xfrm>
            <a:off x="3206915" y="577890"/>
            <a:ext cx="2730235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分类问题模型</a:t>
            </a:r>
            <a:r>
              <a:rPr lang="en-US" altLang="zh-CN" sz="3000" b="1" u="none" strike="noStrike" kern="0" cap="none" spc="0" baseline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</a:rPr>
              <a:t>5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E500B9-9E84-0A48-5E4B-B2710D696362}"/>
              </a:ext>
            </a:extLst>
          </p:cNvPr>
          <p:cNvSpPr txBox="1"/>
          <p:nvPr/>
        </p:nvSpPr>
        <p:spPr>
          <a:xfrm>
            <a:off x="899592" y="1419622"/>
            <a:ext cx="7272858" cy="961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i="0" dirty="0">
                <a:solidFill>
                  <a:srgbClr val="404040"/>
                </a:solidFill>
                <a:effectLst/>
                <a:latin typeface="Inter"/>
              </a:rPr>
              <a:t>用如下代码生成螺旋分类数据，对生成的数据进行可视化，并尝试用线性模型对该数据进行分类</a:t>
            </a:r>
            <a:endParaRPr lang="en-US" altLang="zh-CN" sz="2000" dirty="0">
              <a:solidFill>
                <a:schemeClr val="tx1">
                  <a:lumMod val="75000"/>
                  <a:lumOff val="25000"/>
                </a:schemeClr>
              </a:solidFill>
              <a:latin typeface="Cambria Math" panose="020405030504060302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04EBE39-DB51-9984-D5B3-AEC9540AC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2668556"/>
            <a:ext cx="7128842" cy="142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14282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33976</TotalTime>
  <Words>210</Words>
  <Application>Microsoft Office PowerPoint</Application>
  <PresentationFormat>On-screen Show (16:9)</PresentationFormat>
  <Paragraphs>19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Inter</vt:lpstr>
      <vt:lpstr>微软雅黑</vt:lpstr>
      <vt:lpstr>Arial</vt:lpstr>
      <vt:lpstr>Calibri</vt:lpstr>
      <vt:lpstr>Cambria Math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68</cp:revision>
  <dcterms:created xsi:type="dcterms:W3CDTF">2016-04-25T01:54:29Z</dcterms:created>
  <dcterms:modified xsi:type="dcterms:W3CDTF">2025-02-03T16:34:35Z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